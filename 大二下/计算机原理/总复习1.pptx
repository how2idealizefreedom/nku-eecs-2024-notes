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90" r:id="rId2"/>
    <p:sldId id="257" r:id="rId3"/>
    <p:sldId id="291" r:id="rId4"/>
    <p:sldId id="292" r:id="rId5"/>
    <p:sldId id="318" r:id="rId6"/>
    <p:sldId id="293" r:id="rId7"/>
    <p:sldId id="319" r:id="rId8"/>
    <p:sldId id="321" r:id="rId9"/>
    <p:sldId id="322" r:id="rId10"/>
    <p:sldId id="325" r:id="rId11"/>
    <p:sldId id="327" r:id="rId12"/>
    <p:sldId id="328" r:id="rId13"/>
    <p:sldId id="330" r:id="rId14"/>
    <p:sldId id="329" r:id="rId15"/>
    <p:sldId id="331" r:id="rId16"/>
    <p:sldId id="332" r:id="rId17"/>
    <p:sldId id="333" r:id="rId18"/>
    <p:sldId id="334" r:id="rId19"/>
    <p:sldId id="336" r:id="rId20"/>
    <p:sldId id="335" r:id="rId21"/>
    <p:sldId id="337" r:id="rId22"/>
    <p:sldId id="338" r:id="rId23"/>
    <p:sldId id="339" r:id="rId24"/>
    <p:sldId id="388" r:id="rId25"/>
    <p:sldId id="340" r:id="rId26"/>
    <p:sldId id="341" r:id="rId27"/>
    <p:sldId id="342" r:id="rId28"/>
    <p:sldId id="324" r:id="rId29"/>
    <p:sldId id="345" r:id="rId30"/>
    <p:sldId id="343" r:id="rId31"/>
    <p:sldId id="346" r:id="rId32"/>
    <p:sldId id="347" r:id="rId33"/>
    <p:sldId id="348" r:id="rId34"/>
    <p:sldId id="349" r:id="rId35"/>
    <p:sldId id="389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712" autoAdjust="0"/>
  </p:normalViewPr>
  <p:slideViewPr>
    <p:cSldViewPr snapToGrid="0">
      <p:cViewPr varScale="1">
        <p:scale>
          <a:sx n="53" d="100"/>
          <a:sy n="53" d="100"/>
        </p:scale>
        <p:origin x="6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B219E-23B6-4D7C-A603-E003561E263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0F2C0-1E59-49BF-8ECB-CDD3ADC6A2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067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D3327CBE-6DFE-A48C-1F04-B7E823171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AABFFD3-D16F-244D-8993-0FACB7D2EA6C}" type="slidenum">
              <a:rPr lang="en-US" altLang="zh-CN" smtClean="0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DDF1A0C2-1C24-69D9-4867-15AFB70D58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F2447B0-533B-E824-5F9E-D21439429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SP</a:t>
            </a:r>
            <a:r>
              <a:rPr lang="zh-CN" altLang="en-US" dirty="0"/>
              <a:t>：堆栈指针，永远指向当前栈顶。</a:t>
            </a:r>
            <a:r>
              <a:rPr lang="en-US" altLang="zh-CN" dirty="0"/>
              <a:t>PUSH/POP</a:t>
            </a:r>
            <a:r>
              <a:rPr lang="zh-CN" altLang="en-US" dirty="0"/>
              <a:t>时自动修改。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0F2C0-1E59-49BF-8ECB-CDD3ADC6A28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53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0F2C0-1E59-49BF-8ECB-CDD3ADC6A287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349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DD57F-BEA5-4990-8BD9-33824A021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81A8DA-85B7-4D21-8CE1-632AC84CD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0A147C-B8C0-4BF6-BD6D-2305903F5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ECF3-9BD9-400F-A8D6-8CFACEFD1A80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22382D-5261-4913-B553-E97AD9B6E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9ACA6D-FC12-4164-9F89-679671B7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07E43-B07C-4FD2-8D44-30CFF49B4C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987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D6CF1D-8F29-4D80-BB6E-ECC13DE6E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6E7863-72DD-45F1-8036-CB8D7B11F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A747F4-9F8E-480F-8F8A-D26E7AEDF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ECF3-9BD9-400F-A8D6-8CFACEFD1A80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358D60-360B-4F07-8247-F6A3D467F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D79101-86A1-43A0-BCC0-85A26386E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07E43-B07C-4FD2-8D44-30CFF49B4C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253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B8CFDC-A985-4FA2-BC20-504D76ECF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280C59-C955-487A-A64F-6F3A921B4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CE8454-41FA-4131-9013-3A8655F09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ECF3-9BD9-400F-A8D6-8CFACEFD1A80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C56FC0-748C-4257-A201-830A5273E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43D309-D824-4760-B446-5EDCD49C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07E43-B07C-4FD2-8D44-30CFF49B4C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275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30F988-92C7-4453-9E4F-83F7D8D7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2689F2-6A4F-42BC-8CE5-5881434B5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254661-28EE-4377-8947-1EE373E4C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84DA33-123F-4472-82F7-FC7010CD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ECF3-9BD9-400F-A8D6-8CFACEFD1A80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3CE201-390F-4771-8E47-8DEAB5A9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C93713-3ACC-4639-90C6-C584165B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07E43-B07C-4FD2-8D44-30CFF49B4C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139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72B43-52F8-439C-85D3-53ACC1F39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6C4296-DD41-4024-B753-AB1FEC67A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C8A453-98C4-4EF7-8995-5FC683212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ED15E0-35CC-498B-AF08-DC33DF5044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B976457-B808-483B-8184-FDB1869310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5BC4EA1-7AE4-4E69-A79E-F2088A740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ECF3-9BD9-400F-A8D6-8CFACEFD1A80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4A30C31-400D-4E00-96C4-1F21480BB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4EADBFD-3B9E-4945-9CF3-B7FA63BC5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07E43-B07C-4FD2-8D44-30CFF49B4C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400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EAED7-0BD8-482E-9548-6996EDED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7E4F1A4-AF6D-410A-B48D-C93FE189E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ECF3-9BD9-400F-A8D6-8CFACEFD1A80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04A07B-AC41-481E-AE9B-798DEBB0C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FAA561-7CCE-46F6-B86F-A57A5F6F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07E43-B07C-4FD2-8D44-30CFF49B4C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859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E20E92-F6D0-4124-992F-B3DC6696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ECF3-9BD9-400F-A8D6-8CFACEFD1A80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F3FF039-0208-4D2B-8938-33F9A0F10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092A48-9139-46E0-9803-E0B6DA458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07E43-B07C-4FD2-8D44-30CFF49B4C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001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036911-3940-46E5-8626-9C0637AA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1B824B-05A5-47FE-8BBD-C6D88E323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82232B-CC21-4647-8A39-E300AD1CE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C2B762-CCA1-4CD1-B971-11663CD0E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ECF3-9BD9-400F-A8D6-8CFACEFD1A80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3A59EB-617A-460D-A54A-6D0048A2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1A19E9-B9A5-47BE-81E9-1BE88C73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07E43-B07C-4FD2-8D44-30CFF49B4C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673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2810A4-A05D-435C-8B04-23A27F36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979448-3663-444C-9FFB-C37D21568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3DAC90-E088-40C9-8E06-C257A2877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3C878C-A67A-4BB0-B609-ED2132A05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ECF3-9BD9-400F-A8D6-8CFACEFD1A80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927B0C-8CFD-416C-90F5-8E1CCBA0D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A73FAB-2FEF-4121-888E-4EEFAD41D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07E43-B07C-4FD2-8D44-30CFF49B4C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190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17A70A-FCE6-4344-A5C3-A4BE643FA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F976FE-5525-4021-8E79-EDB9400AE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A250ED-5663-4B35-B998-7E967FD2A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ECF3-9BD9-400F-A8D6-8CFACEFD1A80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896C0A-BBA4-40B4-A89B-E7491E057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8ED4F2-0905-4239-87B0-D841A49AC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07E43-B07C-4FD2-8D44-30CFF49B4C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145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13FB43-7543-4E72-8476-EE0DDCD80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E65C59-D10F-458E-B033-9FED15480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21BEAF-F403-4ADE-A149-4EEB76137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ECF3-9BD9-400F-A8D6-8CFACEFD1A80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9B48A4-3F27-41D6-BC26-6E10ABDA4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5F1EF2-9E6F-4EEF-AFAD-0E57253F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07E43-B07C-4FD2-8D44-30CFF49B4C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45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BC9369B-86BA-44A7-841A-4D6A7D77A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2A77D2-229F-494C-81ED-1C95122FE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BF4837-439C-455E-83CB-12A678D36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2ECF3-9BD9-400F-A8D6-8CFACEFD1A80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16A01E-EC4E-4C69-BEF2-9A7A806EC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8DC2BC-2BE0-4ABF-9172-9F9A73B99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07E43-B07C-4FD2-8D44-30CFF49B4C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61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3" name="Group 3076">
            <a:extLst>
              <a:ext uri="{FF2B5EF4-FFF2-40B4-BE49-F238E27FC236}">
                <a16:creationId xmlns:a16="http://schemas.microsoft.com/office/drawing/2014/main" id="{2FFBB0E7-49CA-9E33-D40D-1A0181DCA324}"/>
              </a:ext>
            </a:extLst>
          </p:cNvPr>
          <p:cNvGrpSpPr>
            <a:grpSpLocks/>
          </p:cNvGrpSpPr>
          <p:nvPr/>
        </p:nvGrpSpPr>
        <p:grpSpPr bwMode="auto">
          <a:xfrm>
            <a:off x="9677401" y="152400"/>
            <a:ext cx="792163" cy="1295400"/>
            <a:chOff x="5136" y="960"/>
            <a:chExt cx="528" cy="864"/>
          </a:xfrm>
        </p:grpSpPr>
        <p:sp>
          <p:nvSpPr>
            <p:cNvPr id="15365" name="Oval 3077">
              <a:extLst>
                <a:ext uri="{FF2B5EF4-FFF2-40B4-BE49-F238E27FC236}">
                  <a16:creationId xmlns:a16="http://schemas.microsoft.com/office/drawing/2014/main" id="{C78BE405-01DA-B964-6797-A2744A902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66" name="Oval 3078">
              <a:extLst>
                <a:ext uri="{FF2B5EF4-FFF2-40B4-BE49-F238E27FC236}">
                  <a16:creationId xmlns:a16="http://schemas.microsoft.com/office/drawing/2014/main" id="{0D7CAA9D-F81B-08E3-7D0F-3F88C53D0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67" name="Oval 3079">
              <a:extLst>
                <a:ext uri="{FF2B5EF4-FFF2-40B4-BE49-F238E27FC236}">
                  <a16:creationId xmlns:a16="http://schemas.microsoft.com/office/drawing/2014/main" id="{96B8A5A7-B8E4-5347-D7FB-9D7DA85BD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68" name="Oval 3080">
              <a:extLst>
                <a:ext uri="{FF2B5EF4-FFF2-40B4-BE49-F238E27FC236}">
                  <a16:creationId xmlns:a16="http://schemas.microsoft.com/office/drawing/2014/main" id="{99396902-E929-3AB3-D678-30A000887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69" name="Oval 3081">
              <a:extLst>
                <a:ext uri="{FF2B5EF4-FFF2-40B4-BE49-F238E27FC236}">
                  <a16:creationId xmlns:a16="http://schemas.microsoft.com/office/drawing/2014/main" id="{5924BD13-1170-B783-A933-C5FA40287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70" name="Oval 3082">
              <a:extLst>
                <a:ext uri="{FF2B5EF4-FFF2-40B4-BE49-F238E27FC236}">
                  <a16:creationId xmlns:a16="http://schemas.microsoft.com/office/drawing/2014/main" id="{38F2B867-CE7B-EF0F-1908-1F4F565DC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71" name="Oval 3083">
              <a:extLst>
                <a:ext uri="{FF2B5EF4-FFF2-40B4-BE49-F238E27FC236}">
                  <a16:creationId xmlns:a16="http://schemas.microsoft.com/office/drawing/2014/main" id="{5CDBAC9A-13DE-09E6-E5CD-D78001A33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72" name="Oval 3084">
              <a:extLst>
                <a:ext uri="{FF2B5EF4-FFF2-40B4-BE49-F238E27FC236}">
                  <a16:creationId xmlns:a16="http://schemas.microsoft.com/office/drawing/2014/main" id="{09895820-61C5-7B74-B81A-EF36ED028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73" name="Oval 3085">
              <a:extLst>
                <a:ext uri="{FF2B5EF4-FFF2-40B4-BE49-F238E27FC236}">
                  <a16:creationId xmlns:a16="http://schemas.microsoft.com/office/drawing/2014/main" id="{DFEF8C18-3E73-CC8B-7F22-4E3748C91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74" name="Oval 3086">
              <a:extLst>
                <a:ext uri="{FF2B5EF4-FFF2-40B4-BE49-F238E27FC236}">
                  <a16:creationId xmlns:a16="http://schemas.microsoft.com/office/drawing/2014/main" id="{4E903DCD-3A2C-363C-B177-F45364971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75" name="Oval 3087">
              <a:extLst>
                <a:ext uri="{FF2B5EF4-FFF2-40B4-BE49-F238E27FC236}">
                  <a16:creationId xmlns:a16="http://schemas.microsoft.com/office/drawing/2014/main" id="{A94A615A-A4EF-03B1-0A10-AFFEA4173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76" name="Oval 3088">
              <a:extLst>
                <a:ext uri="{FF2B5EF4-FFF2-40B4-BE49-F238E27FC236}">
                  <a16:creationId xmlns:a16="http://schemas.microsoft.com/office/drawing/2014/main" id="{8622019F-B504-CA74-B728-D1D8625BC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77" name="Oval 3089">
              <a:extLst>
                <a:ext uri="{FF2B5EF4-FFF2-40B4-BE49-F238E27FC236}">
                  <a16:creationId xmlns:a16="http://schemas.microsoft.com/office/drawing/2014/main" id="{E41A6AFF-DB4A-DAC9-68A8-3F8A1E397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78" name="Oval 3090">
              <a:extLst>
                <a:ext uri="{FF2B5EF4-FFF2-40B4-BE49-F238E27FC236}">
                  <a16:creationId xmlns:a16="http://schemas.microsoft.com/office/drawing/2014/main" id="{9965CA9F-C46C-051E-B179-9D8D5D06A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79" name="Oval 3091">
              <a:extLst>
                <a:ext uri="{FF2B5EF4-FFF2-40B4-BE49-F238E27FC236}">
                  <a16:creationId xmlns:a16="http://schemas.microsoft.com/office/drawing/2014/main" id="{F82C6CC0-878D-1082-0A34-5E401FA86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80" name="Oval 3092">
              <a:extLst>
                <a:ext uri="{FF2B5EF4-FFF2-40B4-BE49-F238E27FC236}">
                  <a16:creationId xmlns:a16="http://schemas.microsoft.com/office/drawing/2014/main" id="{9137B0EF-A1A0-ED9D-8116-37D84E463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81" name="Oval 3093">
              <a:extLst>
                <a:ext uri="{FF2B5EF4-FFF2-40B4-BE49-F238E27FC236}">
                  <a16:creationId xmlns:a16="http://schemas.microsoft.com/office/drawing/2014/main" id="{3B51DCA5-CD46-BAC0-E806-50EAB4B6D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82" name="Oval 3094">
              <a:extLst>
                <a:ext uri="{FF2B5EF4-FFF2-40B4-BE49-F238E27FC236}">
                  <a16:creationId xmlns:a16="http://schemas.microsoft.com/office/drawing/2014/main" id="{4BE55F17-BAD8-303B-4C09-D5BD0B38C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83" name="Oval 3095">
              <a:extLst>
                <a:ext uri="{FF2B5EF4-FFF2-40B4-BE49-F238E27FC236}">
                  <a16:creationId xmlns:a16="http://schemas.microsoft.com/office/drawing/2014/main" id="{31D21C73-C6A7-F5C9-2791-EF5E61AA6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84" name="Oval 3096">
              <a:extLst>
                <a:ext uri="{FF2B5EF4-FFF2-40B4-BE49-F238E27FC236}">
                  <a16:creationId xmlns:a16="http://schemas.microsoft.com/office/drawing/2014/main" id="{C3D91425-08C8-A293-2EBB-AB1226C54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85" name="Oval 3097">
              <a:extLst>
                <a:ext uri="{FF2B5EF4-FFF2-40B4-BE49-F238E27FC236}">
                  <a16:creationId xmlns:a16="http://schemas.microsoft.com/office/drawing/2014/main" id="{3BFB318D-9957-FDA5-A646-20E04D722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86" name="Oval 3098">
              <a:extLst>
                <a:ext uri="{FF2B5EF4-FFF2-40B4-BE49-F238E27FC236}">
                  <a16:creationId xmlns:a16="http://schemas.microsoft.com/office/drawing/2014/main" id="{A2A6912C-3A5E-1AF9-66D8-FF40D3752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87" name="Oval 3099">
              <a:extLst>
                <a:ext uri="{FF2B5EF4-FFF2-40B4-BE49-F238E27FC236}">
                  <a16:creationId xmlns:a16="http://schemas.microsoft.com/office/drawing/2014/main" id="{BE8C519A-44EF-5F59-1B30-DE24F0D7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88" name="Oval 3100">
              <a:extLst>
                <a:ext uri="{FF2B5EF4-FFF2-40B4-BE49-F238E27FC236}">
                  <a16:creationId xmlns:a16="http://schemas.microsoft.com/office/drawing/2014/main" id="{03CBEFAF-893E-E30B-1125-2081B13A8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89" name="Oval 3101">
              <a:extLst>
                <a:ext uri="{FF2B5EF4-FFF2-40B4-BE49-F238E27FC236}">
                  <a16:creationId xmlns:a16="http://schemas.microsoft.com/office/drawing/2014/main" id="{56081AF4-A4CC-1AC6-C15F-F168B1F1E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90" name="Oval 3102">
              <a:extLst>
                <a:ext uri="{FF2B5EF4-FFF2-40B4-BE49-F238E27FC236}">
                  <a16:creationId xmlns:a16="http://schemas.microsoft.com/office/drawing/2014/main" id="{1CD46C11-1AA3-FB54-17D4-105C2437A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91" name="Oval 3103">
              <a:extLst>
                <a:ext uri="{FF2B5EF4-FFF2-40B4-BE49-F238E27FC236}">
                  <a16:creationId xmlns:a16="http://schemas.microsoft.com/office/drawing/2014/main" id="{41573746-9EC0-4FB3-EFD0-58C913FFA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92" name="Oval 3104">
              <a:extLst>
                <a:ext uri="{FF2B5EF4-FFF2-40B4-BE49-F238E27FC236}">
                  <a16:creationId xmlns:a16="http://schemas.microsoft.com/office/drawing/2014/main" id="{BCC5B828-49CC-A548-5015-27DA07CE5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93" name="Oval 3105">
              <a:extLst>
                <a:ext uri="{FF2B5EF4-FFF2-40B4-BE49-F238E27FC236}">
                  <a16:creationId xmlns:a16="http://schemas.microsoft.com/office/drawing/2014/main" id="{B7D7F3AD-807B-9486-6208-46824C0F8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94" name="Oval 3106">
              <a:extLst>
                <a:ext uri="{FF2B5EF4-FFF2-40B4-BE49-F238E27FC236}">
                  <a16:creationId xmlns:a16="http://schemas.microsoft.com/office/drawing/2014/main" id="{79D4F512-429B-7FF3-8671-4D6C0CE77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95" name="Oval 3107">
              <a:extLst>
                <a:ext uri="{FF2B5EF4-FFF2-40B4-BE49-F238E27FC236}">
                  <a16:creationId xmlns:a16="http://schemas.microsoft.com/office/drawing/2014/main" id="{08AF10D9-1AB4-501E-A1FE-CB8FEDB77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5ACF86B-D5B5-48F7-9E26-429D0525E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383" y="1447800"/>
            <a:ext cx="6369934" cy="2167778"/>
          </a:xfrm>
          <a:prstGeom prst="rect">
            <a:avLst/>
          </a:prstGeom>
        </p:spPr>
      </p:pic>
      <p:sp>
        <p:nvSpPr>
          <p:cNvPr id="42" name="Rectangle 3074">
            <a:extLst>
              <a:ext uri="{FF2B5EF4-FFF2-40B4-BE49-F238E27FC236}">
                <a16:creationId xmlns:a16="http://schemas.microsoft.com/office/drawing/2014/main" id="{07570B9C-57A6-4C48-AD19-BAAD91E62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53423" y="3750332"/>
            <a:ext cx="4085154" cy="1148799"/>
          </a:xfrm>
        </p:spPr>
        <p:txBody>
          <a:bodyPr/>
          <a:lstStyle/>
          <a:p>
            <a:pPr eaLnBrk="1" hangingPunct="1"/>
            <a:r>
              <a:rPr lang="zh-CN" altLang="en-US" sz="5900" b="0" dirty="0">
                <a:latin typeface="华文琥珀" panose="02010800040101010101" pitchFamily="2" charset="-122"/>
                <a:ea typeface="华文琥珀" panose="02010800040101010101" pitchFamily="2" charset="-122"/>
              </a:rPr>
              <a:t>总复习</a:t>
            </a:r>
            <a:r>
              <a:rPr lang="zh-CN" altLang="en-US" sz="5900" dirty="0">
                <a:latin typeface="华文琥珀" panose="02010800040101010101" pitchFamily="2" charset="-122"/>
                <a:ea typeface="华文琥珀" panose="02010800040101010101" pitchFamily="2" charset="-122"/>
              </a:rPr>
              <a:t>一</a:t>
            </a:r>
            <a:endParaRPr lang="zh-CN" altLang="en-US" sz="5900" b="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  <p:transition spd="slow" advTm="18233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6339AB-DDAD-4ADB-89B9-9EF338076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2171"/>
            <a:ext cx="10515600" cy="549479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教材内容体系结构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zh-CN" altLang="en-US" sz="3000" dirty="0"/>
              <a:t>基本知识与基本概念</a:t>
            </a:r>
          </a:p>
          <a:p>
            <a:pPr lvl="2" eaLnBrk="1" hangingPunct="1">
              <a:lnSpc>
                <a:spcPct val="90000"/>
              </a:lnSpc>
              <a:buFontTx/>
              <a:buChar char="•"/>
            </a:pPr>
            <a:r>
              <a:rPr lang="zh-CN" altLang="en-US" sz="3000" dirty="0"/>
              <a:t>计算机中的数据表示、数制与编码系统</a:t>
            </a:r>
          </a:p>
          <a:p>
            <a:pPr lvl="2" eaLnBrk="1" hangingPunct="1">
              <a:lnSpc>
                <a:spcPct val="90000"/>
              </a:lnSpc>
              <a:buFontTx/>
              <a:buChar char="•"/>
            </a:pPr>
            <a:r>
              <a:rPr lang="zh-CN" altLang="en-US" sz="3000" dirty="0"/>
              <a:t>计算机的基本结构与工作原理</a:t>
            </a:r>
          </a:p>
          <a:p>
            <a:pPr lvl="2" eaLnBrk="1" hangingPunct="1">
              <a:lnSpc>
                <a:spcPct val="90000"/>
              </a:lnSpc>
              <a:buFontTx/>
              <a:buChar char="•"/>
            </a:pPr>
            <a:r>
              <a:rPr lang="zh-CN" altLang="en-US" sz="3000" dirty="0"/>
              <a:t>微处理器与微型计算机的概念及结构</a:t>
            </a:r>
          </a:p>
          <a:p>
            <a:pPr lvl="2" eaLnBrk="1" hangingPunct="1">
              <a:lnSpc>
                <a:spcPct val="90000"/>
              </a:lnSpc>
              <a:buFontTx/>
              <a:buChar char="•"/>
            </a:pPr>
            <a:r>
              <a:rPr lang="zh-CN" altLang="en-US" sz="3000" dirty="0"/>
              <a:t>微型计算机系统组成及其应用</a:t>
            </a:r>
          </a:p>
          <a:p>
            <a:pPr lvl="1" eaLnBrk="1" hangingPunct="1">
              <a:buFont typeface="Wingdings" pitchFamily="2" charset="2"/>
              <a:buChar char="Ø"/>
            </a:pP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8086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8088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系统结构</a:t>
            </a:r>
          </a:p>
          <a:p>
            <a:pPr lvl="2" eaLnBrk="1" hangingPunct="1">
              <a:buFontTx/>
              <a:buChar char="•"/>
            </a:pPr>
            <a:r>
              <a:rPr lang="en-US" altLang="zh-CN" sz="3000" dirty="0">
                <a:latin typeface="宋体" panose="02010600030101010101" pitchFamily="2" charset="-122"/>
              </a:rPr>
              <a:t>8086</a:t>
            </a:r>
            <a:r>
              <a:rPr lang="zh-CN" altLang="en-US" sz="3000" dirty="0">
                <a:latin typeface="宋体" panose="02010600030101010101" pitchFamily="2" charset="-122"/>
              </a:rPr>
              <a:t>微处理器内部结构</a:t>
            </a:r>
          </a:p>
          <a:p>
            <a:pPr lvl="2" eaLnBrk="1" hangingPunct="1">
              <a:buFontTx/>
              <a:buChar char="•"/>
            </a:pPr>
            <a:r>
              <a:rPr lang="en-US" altLang="zh-CN" sz="3000" dirty="0">
                <a:latin typeface="宋体" panose="02010600030101010101" pitchFamily="2" charset="-122"/>
              </a:rPr>
              <a:t>8086</a:t>
            </a:r>
            <a:r>
              <a:rPr lang="zh-CN" altLang="en-US" sz="3000" dirty="0">
                <a:latin typeface="宋体" panose="02010600030101010101" pitchFamily="2" charset="-122"/>
              </a:rPr>
              <a:t>的总线周期与时序</a:t>
            </a:r>
          </a:p>
          <a:p>
            <a:pPr lvl="2" eaLnBrk="1" hangingPunct="1">
              <a:buFontTx/>
              <a:buChar char="•"/>
            </a:pPr>
            <a:r>
              <a:rPr lang="en-US" altLang="zh-CN" sz="3000" dirty="0">
                <a:latin typeface="宋体" panose="02010600030101010101" pitchFamily="2" charset="-122"/>
              </a:rPr>
              <a:t>8086</a:t>
            </a:r>
            <a:r>
              <a:rPr lang="zh-CN" altLang="en-US" sz="3000" dirty="0">
                <a:latin typeface="宋体" panose="02010600030101010101" pitchFamily="2" charset="-122"/>
              </a:rPr>
              <a:t>、</a:t>
            </a:r>
            <a:r>
              <a:rPr lang="en-US" altLang="zh-CN" sz="3000" dirty="0">
                <a:latin typeface="宋体" panose="02010600030101010101" pitchFamily="2" charset="-122"/>
              </a:rPr>
              <a:t>8088</a:t>
            </a:r>
            <a:r>
              <a:rPr lang="zh-CN" altLang="en-US" sz="3000" dirty="0">
                <a:latin typeface="宋体" panose="02010600030101010101" pitchFamily="2" charset="-122"/>
              </a:rPr>
              <a:t>系统总线形成</a:t>
            </a:r>
          </a:p>
          <a:p>
            <a:pPr lvl="1" eaLnBrk="1" hangingPunct="1">
              <a:buFont typeface="Wingdings" pitchFamily="2" charset="2"/>
              <a:buChar char="Ø"/>
            </a:pP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指令系统与汇编语言</a:t>
            </a:r>
          </a:p>
          <a:p>
            <a:pPr lvl="2" eaLnBrk="1" hangingPunct="1">
              <a:buFontTx/>
              <a:buChar char="•"/>
            </a:pPr>
            <a:r>
              <a:rPr lang="zh-CN" altLang="en-US" sz="3000" dirty="0">
                <a:latin typeface="宋体" panose="02010600030101010101" pitchFamily="2" charset="-122"/>
              </a:rPr>
              <a:t>指令的概念与寻址方式</a:t>
            </a:r>
          </a:p>
          <a:p>
            <a:pPr lvl="2" eaLnBrk="1" hangingPunct="1">
              <a:buFontTx/>
              <a:buChar char="•"/>
            </a:pPr>
            <a:r>
              <a:rPr lang="en-US" altLang="zh-CN" sz="3000" dirty="0">
                <a:latin typeface="宋体" panose="02010600030101010101" pitchFamily="2" charset="-122"/>
              </a:rPr>
              <a:t>8086</a:t>
            </a:r>
            <a:r>
              <a:rPr lang="zh-CN" altLang="en-US" sz="3000" dirty="0">
                <a:latin typeface="宋体" panose="02010600030101010101" pitchFamily="2" charset="-122"/>
              </a:rPr>
              <a:t>指令系统介绍</a:t>
            </a:r>
          </a:p>
          <a:p>
            <a:pPr lvl="2" eaLnBrk="1" hangingPunct="1">
              <a:buFontTx/>
              <a:buChar char="•"/>
            </a:pPr>
            <a:r>
              <a:rPr lang="zh-CN" altLang="en-US" sz="3000" dirty="0">
                <a:latin typeface="宋体" panose="02010600030101010101" pitchFamily="2" charset="-122"/>
              </a:rPr>
              <a:t>汇编语言格式、基本表达、伪指令介绍</a:t>
            </a:r>
          </a:p>
          <a:p>
            <a:pPr lvl="2" eaLnBrk="1" hangingPunct="1">
              <a:buFontTx/>
              <a:buChar char="•"/>
            </a:pPr>
            <a:r>
              <a:rPr lang="zh-CN" altLang="en-US" sz="3000" dirty="0">
                <a:latin typeface="宋体" panose="02010600030101010101" pitchFamily="2" charset="-122"/>
              </a:rPr>
              <a:t>汇编语言源程序的建立、编辑、运行、调试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9197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6DEAE9-5F0B-4079-B4B5-8B91AF215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0514"/>
            <a:ext cx="10515600" cy="5146449"/>
          </a:xfrm>
        </p:spPr>
        <p:txBody>
          <a:bodyPr/>
          <a:lstStyle/>
          <a:p>
            <a:pPr lvl="1" eaLnBrk="1" hangingPunct="1">
              <a:lnSpc>
                <a:spcPct val="80000"/>
              </a:lnSpc>
              <a:buFont typeface="Wingdings" pitchFamily="2" charset="2"/>
              <a:buChar char="Ø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汇编语言程序设计及其应用</a:t>
            </a:r>
          </a:p>
          <a:p>
            <a:pPr lvl="2" eaLnBrk="1" hangingPunct="1">
              <a:lnSpc>
                <a:spcPct val="80000"/>
              </a:lnSpc>
              <a:buFontTx/>
              <a:buChar char="•"/>
            </a:pPr>
            <a:r>
              <a:rPr lang="zh-CN" altLang="en-US" sz="2800" dirty="0">
                <a:latin typeface="宋体" panose="02010600030101010101" pitchFamily="2" charset="-122"/>
              </a:rPr>
              <a:t>程序设计的方法和步骤</a:t>
            </a:r>
          </a:p>
          <a:p>
            <a:pPr lvl="2" eaLnBrk="1" hangingPunct="1">
              <a:lnSpc>
                <a:spcPct val="80000"/>
              </a:lnSpc>
              <a:buFontTx/>
              <a:buChar char="•"/>
            </a:pPr>
            <a:r>
              <a:rPr lang="zh-CN" altLang="en-US" sz="2800" dirty="0">
                <a:latin typeface="宋体" panose="02010600030101010101" pitchFamily="2" charset="-122"/>
              </a:rPr>
              <a:t>顺序程序、分支程序、循环程序、子程序的设计</a:t>
            </a:r>
          </a:p>
          <a:p>
            <a:pPr lvl="2" eaLnBrk="1" hangingPunct="1">
              <a:lnSpc>
                <a:spcPct val="80000"/>
              </a:lnSpc>
              <a:buFontTx/>
              <a:buChar char="•"/>
            </a:pPr>
            <a:r>
              <a:rPr lang="zh-CN" altLang="en-US" sz="2800" dirty="0">
                <a:latin typeface="宋体" panose="02010600030101010101" pitchFamily="2" charset="-122"/>
              </a:rPr>
              <a:t>有关</a:t>
            </a:r>
            <a:r>
              <a:rPr lang="en-US" altLang="zh-CN" sz="2800" dirty="0">
                <a:latin typeface="宋体" panose="02010600030101010101" pitchFamily="2" charset="-122"/>
              </a:rPr>
              <a:t>IO</a:t>
            </a:r>
            <a:r>
              <a:rPr lang="zh-CN" altLang="en-US" sz="2800" dirty="0">
                <a:latin typeface="宋体" panose="02010600030101010101" pitchFamily="2" charset="-122"/>
              </a:rPr>
              <a:t>的</a:t>
            </a:r>
            <a:r>
              <a:rPr lang="en-US" altLang="zh-CN" sz="2800" dirty="0">
                <a:latin typeface="宋体" panose="02010600030101010101" pitchFamily="2" charset="-122"/>
              </a:rPr>
              <a:t>DOS</a:t>
            </a:r>
            <a:r>
              <a:rPr lang="zh-CN" altLang="en-US" sz="2800" dirty="0">
                <a:latin typeface="宋体" panose="02010600030101010101" pitchFamily="2" charset="-122"/>
              </a:rPr>
              <a:t>功能调用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Char char="Ø"/>
            </a:pPr>
            <a:endParaRPr lang="zh-CN" altLang="en-US" sz="28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 typeface="Wingdings" pitchFamily="2" charset="2"/>
              <a:buChar char="Ø"/>
            </a:pPr>
            <a:r>
              <a:rPr lang="zh-CN" altLang="en-US" sz="2800" dirty="0"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存储器系统</a:t>
            </a:r>
            <a:r>
              <a:rPr lang="zh-CN" altLang="en-US" sz="2800" dirty="0">
                <a:latin typeface="宋体" panose="02010600030101010101" pitchFamily="2" charset="-122"/>
              </a:rPr>
              <a:t> </a:t>
            </a:r>
          </a:p>
          <a:p>
            <a:pPr lvl="2" eaLnBrk="1" hangingPunct="1">
              <a:lnSpc>
                <a:spcPct val="80000"/>
              </a:lnSpc>
              <a:buFontTx/>
              <a:buChar char="•"/>
            </a:pPr>
            <a:r>
              <a:rPr lang="zh-CN" altLang="en-US" sz="2800" dirty="0">
                <a:latin typeface="宋体" panose="02010600030101010101" pitchFamily="2" charset="-122"/>
              </a:rPr>
              <a:t>读写存储器</a:t>
            </a:r>
            <a:r>
              <a:rPr lang="en-US" altLang="zh-CN" sz="2800" dirty="0">
                <a:latin typeface="宋体" panose="02010600030101010101" pitchFamily="2" charset="-122"/>
              </a:rPr>
              <a:t>RAM</a:t>
            </a:r>
            <a:r>
              <a:rPr lang="zh-CN" altLang="en-US" sz="2800" dirty="0">
                <a:latin typeface="宋体" panose="02010600030101010101" pitchFamily="2" charset="-122"/>
              </a:rPr>
              <a:t>与只读存储器</a:t>
            </a:r>
            <a:r>
              <a:rPr lang="en-US" altLang="zh-CN" sz="2800" dirty="0">
                <a:latin typeface="宋体" panose="02010600030101010101" pitchFamily="2" charset="-122"/>
              </a:rPr>
              <a:t>ROM </a:t>
            </a:r>
          </a:p>
          <a:p>
            <a:pPr lvl="2" eaLnBrk="1" hangingPunct="1">
              <a:lnSpc>
                <a:spcPct val="80000"/>
              </a:lnSpc>
              <a:buFontTx/>
              <a:buChar char="•"/>
            </a:pPr>
            <a:r>
              <a:rPr lang="zh-CN" altLang="en-US" sz="2800" dirty="0">
                <a:latin typeface="宋体" panose="02010600030101010101" pitchFamily="2" charset="-122"/>
              </a:rPr>
              <a:t>存储器芯片扩展及其与</a:t>
            </a:r>
            <a:r>
              <a:rPr lang="en-US" altLang="zh-CN" sz="2800" dirty="0">
                <a:latin typeface="宋体" panose="02010600030101010101" pitchFamily="2" charset="-122"/>
              </a:rPr>
              <a:t>CPU</a:t>
            </a:r>
            <a:r>
              <a:rPr lang="zh-CN" altLang="en-US" sz="2800" dirty="0">
                <a:latin typeface="宋体" panose="02010600030101010101" pitchFamily="2" charset="-122"/>
              </a:rPr>
              <a:t>的连接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Char char="Ø"/>
            </a:pPr>
            <a:endParaRPr lang="zh-CN" altLang="en-US" sz="28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 typeface="Wingdings" pitchFamily="2" charset="2"/>
              <a:buChar char="Ø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中断系统</a:t>
            </a:r>
            <a:r>
              <a:rPr lang="zh-CN" altLang="en-US" sz="2800" dirty="0">
                <a:latin typeface="宋体" panose="02010600030101010101" pitchFamily="2" charset="-122"/>
              </a:rPr>
              <a:t> </a:t>
            </a:r>
          </a:p>
          <a:p>
            <a:pPr lvl="2" eaLnBrk="1" hangingPunct="1">
              <a:lnSpc>
                <a:spcPct val="80000"/>
              </a:lnSpc>
              <a:buFontTx/>
              <a:buChar char="•"/>
            </a:pPr>
            <a:r>
              <a:rPr lang="zh-CN" altLang="en-US" sz="2800" dirty="0">
                <a:latin typeface="宋体" panose="02010600030101010101" pitchFamily="2" charset="-122"/>
              </a:rPr>
              <a:t>输入输出数据传输控制方式 </a:t>
            </a:r>
          </a:p>
          <a:p>
            <a:pPr lvl="2" eaLnBrk="1" hangingPunct="1">
              <a:lnSpc>
                <a:spcPct val="80000"/>
              </a:lnSpc>
              <a:buFontTx/>
              <a:buChar char="•"/>
            </a:pPr>
            <a:r>
              <a:rPr lang="en-US" altLang="zh-CN" sz="2800" dirty="0">
                <a:latin typeface="宋体" panose="02010600030101010101" pitchFamily="2" charset="-122"/>
              </a:rPr>
              <a:t>8086</a:t>
            </a:r>
            <a:r>
              <a:rPr lang="zh-CN" altLang="en-US" sz="2800" dirty="0">
                <a:latin typeface="宋体" panose="02010600030101010101" pitchFamily="2" charset="-122"/>
              </a:rPr>
              <a:t>微处理器实模式下的中断操作与中断控制器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9449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78F66F-6BD5-41FF-9A62-E32347BEA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057" y="1012825"/>
            <a:ext cx="10515600" cy="4351338"/>
          </a:xfrm>
        </p:spPr>
        <p:txBody>
          <a:bodyPr/>
          <a:lstStyle/>
          <a:p>
            <a:pPr lvl="1" eaLnBrk="1" hangingPunct="1">
              <a:buFont typeface="Wingdings" pitchFamily="2" charset="2"/>
              <a:buChar char="Ø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输入与输出接口</a:t>
            </a:r>
          </a:p>
          <a:p>
            <a:pPr lvl="2" eaLnBrk="1" hangingPunct="1">
              <a:buFontTx/>
              <a:buChar char="•"/>
            </a:pPr>
            <a:r>
              <a:rPr lang="en-US" altLang="zh-CN" sz="2800" dirty="0">
                <a:latin typeface="宋体" panose="02010600030101010101" pitchFamily="2" charset="-122"/>
              </a:rPr>
              <a:t>IO</a:t>
            </a:r>
            <a:r>
              <a:rPr lang="zh-CN" altLang="en-US" sz="2800" dirty="0">
                <a:latin typeface="宋体" panose="02010600030101010101" pitchFamily="2" charset="-122"/>
              </a:rPr>
              <a:t>接口概述及传送方式</a:t>
            </a:r>
          </a:p>
          <a:p>
            <a:pPr lvl="2" eaLnBrk="1" hangingPunct="1">
              <a:buFontTx/>
              <a:buChar char="•"/>
            </a:pPr>
            <a:r>
              <a:rPr lang="en-US" altLang="zh-CN" sz="2800" dirty="0">
                <a:latin typeface="宋体" panose="02010600030101010101" pitchFamily="2" charset="-122"/>
              </a:rPr>
              <a:t>DMA</a:t>
            </a:r>
            <a:r>
              <a:rPr lang="zh-CN" altLang="en-US" sz="2800" dirty="0">
                <a:latin typeface="宋体" panose="02010600030101010101" pitchFamily="2" charset="-122"/>
              </a:rPr>
              <a:t>控制器</a:t>
            </a:r>
          </a:p>
          <a:p>
            <a:pPr lvl="1" eaLnBrk="1" hangingPunct="1">
              <a:buFont typeface="Wingdings" pitchFamily="2" charset="2"/>
              <a:buChar char="Ø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计数器和定时器电路：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Intel 8253/8254 PIT</a:t>
            </a:r>
          </a:p>
          <a:p>
            <a:pPr lvl="2" eaLnBrk="1" hangingPunct="1">
              <a:buFont typeface="Wingdings" pitchFamily="2" charset="2"/>
              <a:buChar char="Ø"/>
            </a:pPr>
            <a:r>
              <a:rPr lang="en-US" altLang="zh-CN" sz="2800" dirty="0">
                <a:latin typeface="宋体" panose="02010600030101010101" pitchFamily="2" charset="-122"/>
              </a:rPr>
              <a:t>Intel 8253</a:t>
            </a:r>
            <a:r>
              <a:rPr lang="zh-CN" altLang="en-US" sz="2800" dirty="0">
                <a:latin typeface="宋体" panose="02010600030101010101" pitchFamily="2" charset="-122"/>
              </a:rPr>
              <a:t>的结构与功能</a:t>
            </a:r>
          </a:p>
          <a:p>
            <a:pPr lvl="2" eaLnBrk="1" hangingPunct="1">
              <a:buFont typeface="Wingdings" pitchFamily="2" charset="2"/>
              <a:buChar char="Ø"/>
            </a:pPr>
            <a:r>
              <a:rPr lang="en-US" altLang="zh-CN" sz="2800" dirty="0">
                <a:latin typeface="宋体" panose="02010600030101010101" pitchFamily="2" charset="-122"/>
              </a:rPr>
              <a:t>Intel 8253</a:t>
            </a:r>
            <a:r>
              <a:rPr lang="zh-CN" altLang="en-US" sz="2800" dirty="0">
                <a:latin typeface="宋体" panose="02010600030101010101" pitchFamily="2" charset="-122"/>
              </a:rPr>
              <a:t>的工作方式</a:t>
            </a:r>
          </a:p>
          <a:p>
            <a:pPr lvl="1" eaLnBrk="1" hangingPunct="1">
              <a:buFont typeface="Wingdings" pitchFamily="2" charset="2"/>
              <a:buChar char="Ø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并行、串行接口与通信</a:t>
            </a:r>
            <a:r>
              <a:rPr lang="zh-CN" altLang="en-US" sz="2800" dirty="0">
                <a:latin typeface="宋体" panose="02010600030101010101" pitchFamily="2" charset="-122"/>
              </a:rPr>
              <a:t> </a:t>
            </a:r>
          </a:p>
          <a:p>
            <a:pPr lvl="2" eaLnBrk="1" hangingPunct="1">
              <a:buFontTx/>
              <a:buChar char="•"/>
            </a:pPr>
            <a:r>
              <a:rPr lang="zh-CN" altLang="en-US" sz="2800" dirty="0">
                <a:latin typeface="宋体" panose="02010600030101010101" pitchFamily="2" charset="-122"/>
              </a:rPr>
              <a:t>并行接口芯片</a:t>
            </a:r>
            <a:r>
              <a:rPr lang="en-US" altLang="zh-CN" sz="2800" dirty="0">
                <a:latin typeface="宋体" panose="02010600030101010101" pitchFamily="2" charset="-122"/>
              </a:rPr>
              <a:t>8255A</a:t>
            </a:r>
          </a:p>
          <a:p>
            <a:pPr lvl="2" eaLnBrk="1" hangingPunct="1">
              <a:buFontTx/>
              <a:buChar char="•"/>
            </a:pPr>
            <a:r>
              <a:rPr lang="zh-CN" altLang="en-US" sz="2600" dirty="0">
                <a:latin typeface="宋体" panose="02010600030101010101" pitchFamily="2" charset="-122"/>
              </a:rPr>
              <a:t>串行通信芯片</a:t>
            </a:r>
            <a:r>
              <a:rPr lang="en-US" altLang="zh-CN" sz="2600" dirty="0">
                <a:latin typeface="宋体" panose="02010600030101010101" pitchFamily="2" charset="-122"/>
              </a:rPr>
              <a:t>8251A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0722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79" name="Rectangle 27">
            <a:extLst>
              <a:ext uri="{FF2B5EF4-FFF2-40B4-BE49-F238E27FC236}">
                <a16:creationId xmlns:a16="http://schemas.microsoft.com/office/drawing/2014/main" id="{3118669A-C5F0-AE5F-48C7-B6BD6FDA9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1844676"/>
            <a:ext cx="6769100" cy="936625"/>
          </a:xfrm>
          <a:prstGeom prst="rect">
            <a:avLst/>
          </a:prstGeom>
          <a:solidFill>
            <a:srgbClr val="FFFF99">
              <a:alpha val="72940"/>
            </a:srgbClr>
          </a:solidFill>
          <a:ln w="254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68372" name="Rectangle 20">
            <a:extLst>
              <a:ext uri="{FF2B5EF4-FFF2-40B4-BE49-F238E27FC236}">
                <a16:creationId xmlns:a16="http://schemas.microsoft.com/office/drawing/2014/main" id="{9D397923-E23F-6E65-90E1-BC4B63DB4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9" y="4292601"/>
            <a:ext cx="4960937" cy="936625"/>
          </a:xfrm>
          <a:prstGeom prst="rect">
            <a:avLst/>
          </a:prstGeom>
          <a:solidFill>
            <a:srgbClr val="99CCFF">
              <a:alpha val="36862"/>
            </a:srgbClr>
          </a:solidFill>
          <a:ln w="254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25EFC93-7B65-4BF1-B9F2-131B680F6C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404814"/>
            <a:ext cx="7543800" cy="725487"/>
          </a:xfrm>
        </p:spPr>
        <p:txBody>
          <a:bodyPr/>
          <a:lstStyle/>
          <a:p>
            <a:pPr eaLnBrk="1" hangingPunct="1"/>
            <a:r>
              <a:rPr lang="zh-CN" altLang="en-US" sz="4000">
                <a:ea typeface="黑体" panose="02010609060101010101" pitchFamily="49" charset="-122"/>
              </a:rPr>
              <a:t>各章内容的层次结构图</a:t>
            </a:r>
          </a:p>
        </p:txBody>
      </p:sp>
      <p:sp>
        <p:nvSpPr>
          <p:cNvPr id="868356" name="Rectangle 4">
            <a:extLst>
              <a:ext uri="{FF2B5EF4-FFF2-40B4-BE49-F238E27FC236}">
                <a16:creationId xmlns:a16="http://schemas.microsoft.com/office/drawing/2014/main" id="{8B162BAC-72F2-D49D-9CB4-FF92F7DD9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9" y="5518150"/>
            <a:ext cx="4968875" cy="647700"/>
          </a:xfrm>
          <a:prstGeom prst="rect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基本知识与基本概念</a:t>
            </a:r>
          </a:p>
        </p:txBody>
      </p:sp>
      <p:sp>
        <p:nvSpPr>
          <p:cNvPr id="868357" name="Rectangle 5">
            <a:extLst>
              <a:ext uri="{FF2B5EF4-FFF2-40B4-BE49-F238E27FC236}">
                <a16:creationId xmlns:a16="http://schemas.microsoft.com/office/drawing/2014/main" id="{B25DA38D-0CA1-8886-7CB2-6470F3C32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4" y="4451350"/>
            <a:ext cx="2232025" cy="647700"/>
          </a:xfrm>
          <a:prstGeom prst="rect">
            <a:avLst/>
          </a:prstGeom>
          <a:solidFill>
            <a:schemeClr val="hlink"/>
          </a:solidFill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8086.8088</a:t>
            </a:r>
            <a:r>
              <a:rPr lang="zh-CN" altLang="en-US" sz="1800"/>
              <a:t>系统结构</a:t>
            </a:r>
          </a:p>
        </p:txBody>
      </p:sp>
      <p:sp>
        <p:nvSpPr>
          <p:cNvPr id="868358" name="Rectangle 6">
            <a:extLst>
              <a:ext uri="{FF2B5EF4-FFF2-40B4-BE49-F238E27FC236}">
                <a16:creationId xmlns:a16="http://schemas.microsoft.com/office/drawing/2014/main" id="{1505FC23-BC96-0B80-D07F-648F98947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2008188"/>
            <a:ext cx="1800225" cy="647700"/>
          </a:xfrm>
          <a:prstGeom prst="rect">
            <a:avLst/>
          </a:prstGeom>
          <a:solidFill>
            <a:srgbClr val="FFFF99"/>
          </a:solidFill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输入与输出接口</a:t>
            </a:r>
          </a:p>
        </p:txBody>
      </p:sp>
      <p:sp>
        <p:nvSpPr>
          <p:cNvPr id="868359" name="Rectangle 7">
            <a:extLst>
              <a:ext uri="{FF2B5EF4-FFF2-40B4-BE49-F238E27FC236}">
                <a16:creationId xmlns:a16="http://schemas.microsoft.com/office/drawing/2014/main" id="{A0972FE0-1037-0C12-2B81-86F5ECFB7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9" y="3357563"/>
            <a:ext cx="2232025" cy="647700"/>
          </a:xfrm>
          <a:prstGeom prst="rect">
            <a:avLst/>
          </a:prstGeom>
          <a:solidFill>
            <a:srgbClr val="CCFFCC"/>
          </a:solidFill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中断系统</a:t>
            </a:r>
          </a:p>
        </p:txBody>
      </p:sp>
      <p:sp>
        <p:nvSpPr>
          <p:cNvPr id="868360" name="Rectangle 8">
            <a:extLst>
              <a:ext uri="{FF2B5EF4-FFF2-40B4-BE49-F238E27FC236}">
                <a16:creationId xmlns:a16="http://schemas.microsoft.com/office/drawing/2014/main" id="{06F9EDFE-539D-40F5-0245-FD87F72F1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3676" y="1989138"/>
            <a:ext cx="2232025" cy="647700"/>
          </a:xfrm>
          <a:prstGeom prst="rect">
            <a:avLst/>
          </a:prstGeom>
          <a:solidFill>
            <a:srgbClr val="FFFF99"/>
          </a:solidFill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计数器和定时器电路</a:t>
            </a:r>
          </a:p>
        </p:txBody>
      </p:sp>
      <p:sp>
        <p:nvSpPr>
          <p:cNvPr id="868361" name="Rectangle 9">
            <a:extLst>
              <a:ext uri="{FF2B5EF4-FFF2-40B4-BE49-F238E27FC236}">
                <a16:creationId xmlns:a16="http://schemas.microsoft.com/office/drawing/2014/main" id="{66B1658A-4A36-B055-E0DF-FB00AE5A9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939" y="4451350"/>
            <a:ext cx="2232025" cy="647700"/>
          </a:xfrm>
          <a:prstGeom prst="rect">
            <a:avLst/>
          </a:prstGeom>
          <a:solidFill>
            <a:schemeClr val="hlink"/>
          </a:solidFill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指令系统与汇编语言</a:t>
            </a:r>
          </a:p>
        </p:txBody>
      </p:sp>
      <p:sp>
        <p:nvSpPr>
          <p:cNvPr id="868363" name="Rectangle 11">
            <a:extLst>
              <a:ext uri="{FF2B5EF4-FFF2-40B4-BE49-F238E27FC236}">
                <a16:creationId xmlns:a16="http://schemas.microsoft.com/office/drawing/2014/main" id="{2E1C9D08-0494-ED44-1307-7771BC900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7188" y="2003425"/>
            <a:ext cx="2305050" cy="647700"/>
          </a:xfrm>
          <a:prstGeom prst="rect">
            <a:avLst/>
          </a:prstGeom>
          <a:solidFill>
            <a:srgbClr val="FFFF99"/>
          </a:solidFill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并行</a:t>
            </a:r>
            <a:r>
              <a:rPr lang="en-US" altLang="zh-CN" sz="1800"/>
              <a:t>,</a:t>
            </a:r>
            <a:r>
              <a:rPr lang="zh-CN" altLang="en-US" sz="1800"/>
              <a:t>串行接口与通信</a:t>
            </a:r>
          </a:p>
        </p:txBody>
      </p:sp>
      <p:sp>
        <p:nvSpPr>
          <p:cNvPr id="868364" name="Rectangle 12">
            <a:extLst>
              <a:ext uri="{FF2B5EF4-FFF2-40B4-BE49-F238E27FC236}">
                <a16:creationId xmlns:a16="http://schemas.microsoft.com/office/drawing/2014/main" id="{735F91AF-2B66-FA19-E29A-6332BA104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6" y="3357563"/>
            <a:ext cx="2232025" cy="647700"/>
          </a:xfrm>
          <a:prstGeom prst="rect">
            <a:avLst/>
          </a:prstGeom>
          <a:solidFill>
            <a:srgbClr val="CCFFCC"/>
          </a:solidFill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存储器系统</a:t>
            </a:r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9B2A0BDC-8741-77C7-1E62-5554A2E02CED}"/>
              </a:ext>
            </a:extLst>
          </p:cNvPr>
          <p:cNvGrpSpPr>
            <a:grpSpLocks/>
          </p:cNvGrpSpPr>
          <p:nvPr/>
        </p:nvGrpSpPr>
        <p:grpSpPr bwMode="auto">
          <a:xfrm>
            <a:off x="9518651" y="2027238"/>
            <a:ext cx="720725" cy="3168650"/>
            <a:chOff x="4286" y="1933"/>
            <a:chExt cx="454" cy="1996"/>
          </a:xfrm>
        </p:grpSpPr>
        <p:sp>
          <p:nvSpPr>
            <p:cNvPr id="24597" name="Rectangle 18">
              <a:extLst>
                <a:ext uri="{FF2B5EF4-FFF2-40B4-BE49-F238E27FC236}">
                  <a16:creationId xmlns:a16="http://schemas.microsoft.com/office/drawing/2014/main" id="{E28EF673-A79D-88C3-4CCB-8ED7F7676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1933"/>
              <a:ext cx="454" cy="1996"/>
            </a:xfrm>
            <a:prstGeom prst="rect">
              <a:avLst/>
            </a:prstGeom>
            <a:solidFill>
              <a:srgbClr val="FFCC99"/>
            </a:solidFill>
            <a:ln w="38100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24598" name="Text Box 17">
              <a:extLst>
                <a:ext uri="{FF2B5EF4-FFF2-40B4-BE49-F238E27FC236}">
                  <a16:creationId xmlns:a16="http://schemas.microsoft.com/office/drawing/2014/main" id="{79D08581-2ACB-B0A2-CFEC-EDC1967143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8" y="2024"/>
              <a:ext cx="291" cy="1854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/>
                <a:t>汇编语言程序设计及其应用</a:t>
              </a:r>
            </a:p>
          </p:txBody>
        </p:sp>
      </p:grpSp>
      <p:sp>
        <p:nvSpPr>
          <p:cNvPr id="868373" name="AutoShape 21">
            <a:extLst>
              <a:ext uri="{FF2B5EF4-FFF2-40B4-BE49-F238E27FC236}">
                <a16:creationId xmlns:a16="http://schemas.microsoft.com/office/drawing/2014/main" id="{5B140A01-A259-63D2-21B6-F7FF06A81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539" y="3986213"/>
            <a:ext cx="288925" cy="450850"/>
          </a:xfrm>
          <a:prstGeom prst="upDownArrow">
            <a:avLst>
              <a:gd name="adj1" fmla="val 50000"/>
              <a:gd name="adj2" fmla="val 31209"/>
            </a:avLst>
          </a:prstGeom>
          <a:solidFill>
            <a:srgbClr val="CCFFCC"/>
          </a:solidFill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68374" name="AutoShape 22">
            <a:extLst>
              <a:ext uri="{FF2B5EF4-FFF2-40B4-BE49-F238E27FC236}">
                <a16:creationId xmlns:a16="http://schemas.microsoft.com/office/drawing/2014/main" id="{303A5D2B-D8E3-4F1C-5D05-598B16E91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9964" y="4638675"/>
            <a:ext cx="2160587" cy="215900"/>
          </a:xfrm>
          <a:prstGeom prst="rightArrow">
            <a:avLst>
              <a:gd name="adj1" fmla="val 50000"/>
              <a:gd name="adj2" fmla="val 250184"/>
            </a:avLst>
          </a:prstGeom>
          <a:solidFill>
            <a:srgbClr val="FFCC99"/>
          </a:solidFill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68375" name="AutoShape 23">
            <a:extLst>
              <a:ext uri="{FF2B5EF4-FFF2-40B4-BE49-F238E27FC236}">
                <a16:creationId xmlns:a16="http://schemas.microsoft.com/office/drawing/2014/main" id="{F7C4DEB4-73EF-71CA-286B-07CDF4DAC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563" y="5119689"/>
            <a:ext cx="215900" cy="363537"/>
          </a:xfrm>
          <a:prstGeom prst="upArrow">
            <a:avLst>
              <a:gd name="adj1" fmla="val 50000"/>
              <a:gd name="adj2" fmla="val 42096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68376" name="AutoShape 24">
            <a:extLst>
              <a:ext uri="{FF2B5EF4-FFF2-40B4-BE49-F238E27FC236}">
                <a16:creationId xmlns:a16="http://schemas.microsoft.com/office/drawing/2014/main" id="{4E6BC7B6-FF47-CF4F-0172-3F305F17E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8" y="4638675"/>
            <a:ext cx="215900" cy="2159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99CCFF"/>
          </a:solidFill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68378" name="AutoShape 26">
            <a:extLst>
              <a:ext uri="{FF2B5EF4-FFF2-40B4-BE49-F238E27FC236}">
                <a16:creationId xmlns:a16="http://schemas.microsoft.com/office/drawing/2014/main" id="{9DD17AC9-4AF4-082A-6153-964EFE934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4" y="4005263"/>
            <a:ext cx="288925" cy="450850"/>
          </a:xfrm>
          <a:prstGeom prst="upDownArrow">
            <a:avLst>
              <a:gd name="adj1" fmla="val 50000"/>
              <a:gd name="adj2" fmla="val 31209"/>
            </a:avLst>
          </a:prstGeom>
          <a:solidFill>
            <a:srgbClr val="CCFFCC"/>
          </a:solidFill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68380" name="AutoShape 28">
            <a:extLst>
              <a:ext uri="{FF2B5EF4-FFF2-40B4-BE49-F238E27FC236}">
                <a16:creationId xmlns:a16="http://schemas.microsoft.com/office/drawing/2014/main" id="{6F66F55A-ACAD-74E2-469F-F8510CC80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6" y="2838450"/>
            <a:ext cx="288925" cy="450850"/>
          </a:xfrm>
          <a:prstGeom prst="upDownArrow">
            <a:avLst>
              <a:gd name="adj1" fmla="val 50000"/>
              <a:gd name="adj2" fmla="val 31209"/>
            </a:avLst>
          </a:prstGeom>
          <a:solidFill>
            <a:srgbClr val="FFFFFF"/>
          </a:solidFill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68381" name="AutoShape 29">
            <a:extLst>
              <a:ext uri="{FF2B5EF4-FFF2-40B4-BE49-F238E27FC236}">
                <a16:creationId xmlns:a16="http://schemas.microsoft.com/office/drawing/2014/main" id="{80F5B908-E641-F4E9-41A4-D137E447E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6676" y="2349501"/>
            <a:ext cx="504825" cy="358775"/>
          </a:xfrm>
          <a:prstGeom prst="leftRightArrow">
            <a:avLst>
              <a:gd name="adj1" fmla="val 50000"/>
              <a:gd name="adj2" fmla="val 28142"/>
            </a:avLst>
          </a:prstGeom>
          <a:solidFill>
            <a:srgbClr val="FFCC99"/>
          </a:solidFill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  <p:custDataLst>
      <p:tags r:id="rId1"/>
    </p:custDataLst>
  </p:cSld>
  <p:clrMapOvr>
    <a:masterClrMapping/>
  </p:clrMapOvr>
  <p:transition spd="slow" advTm="10875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6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6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6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6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86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6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86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8379" grpId="0" animBg="1"/>
      <p:bldP spid="868372" grpId="0" animBg="1"/>
      <p:bldP spid="868356" grpId="0" animBg="1"/>
      <p:bldP spid="868357" grpId="0" animBg="1"/>
      <p:bldP spid="868358" grpId="0" animBg="1"/>
      <p:bldP spid="868359" grpId="0" animBg="1"/>
      <p:bldP spid="868360" grpId="0" animBg="1"/>
      <p:bldP spid="868361" grpId="0" animBg="1"/>
      <p:bldP spid="868363" grpId="0" animBg="1"/>
      <p:bldP spid="868364" grpId="0" animBg="1"/>
      <p:bldP spid="868373" grpId="0" animBg="1"/>
      <p:bldP spid="868374" grpId="0" animBg="1"/>
      <p:bldP spid="868375" grpId="0" animBg="1"/>
      <p:bldP spid="868376" grpId="0" animBg="1"/>
      <p:bldP spid="868378" grpId="0" animBg="1"/>
      <p:bldP spid="868380" grpId="0" animBg="1"/>
      <p:bldP spid="86838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F40B48-7F02-4CBA-9684-D869A9288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1.</a:t>
            </a:r>
            <a:r>
              <a:rPr kumimoji="1"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计算机</a:t>
            </a:r>
            <a:r>
              <a:rPr kumimoji="1" lang="zh-CN" altLang="en-US" sz="4400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中数据信息的表示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5E7022-3A8C-49D5-9A44-2C540BDA4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buFontTx/>
              <a:buNone/>
            </a:pP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  1.</a:t>
            </a:r>
            <a:r>
              <a:rPr lang="en-US" altLang="zh-CN" sz="2800" dirty="0">
                <a:ea typeface="楷体_GB2312" pitchFamily="49" charset="-122"/>
              </a:rPr>
              <a:t> 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熟悉数制的基本概念和计算机中常用进位计数制 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理解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]</a:t>
            </a:r>
          </a:p>
          <a:p>
            <a:pPr marL="533400" indent="-533400">
              <a:buFontTx/>
              <a:buNone/>
            </a:pPr>
            <a:r>
              <a:rPr lang="en-US" altLang="zh-CN" sz="2800" dirty="0">
                <a:ea typeface="楷体_GB2312" pitchFamily="49" charset="-122"/>
              </a:rPr>
              <a:t>  </a:t>
            </a:r>
            <a:r>
              <a:rPr lang="en-US" altLang="zh-CN" dirty="0">
                <a:ea typeface="楷体_GB2312"/>
              </a:rPr>
              <a:t>2. </a:t>
            </a:r>
            <a:r>
              <a:rPr lang="zh-CN" altLang="en-US" sz="2800" dirty="0">
                <a:latin typeface="楷体_GB2312" pitchFamily="49" charset="-122"/>
                <a:ea typeface="楷体_GB2312"/>
              </a:rPr>
              <a:t>掌握二、十、十六进制的表达和相互转换 </a:t>
            </a:r>
            <a:r>
              <a:rPr lang="en-US" altLang="zh-CN" sz="2800" dirty="0">
                <a:latin typeface="楷体_GB2312" pitchFamily="49" charset="-122"/>
                <a:ea typeface="楷体_GB2312"/>
              </a:rPr>
              <a:t>[</a:t>
            </a:r>
            <a:r>
              <a:rPr lang="zh-CN" altLang="en-US" sz="2800" dirty="0">
                <a:latin typeface="楷体_GB2312" pitchFamily="49" charset="-122"/>
                <a:ea typeface="楷体_GB2312"/>
              </a:rPr>
              <a:t>应用</a:t>
            </a:r>
            <a:r>
              <a:rPr lang="en-US" altLang="zh-CN" sz="2800" dirty="0">
                <a:latin typeface="楷体_GB2312" pitchFamily="49" charset="-122"/>
                <a:ea typeface="楷体_GB2312"/>
              </a:rPr>
              <a:t>]</a:t>
            </a:r>
          </a:p>
          <a:p>
            <a:pPr marL="533400" indent="-533400">
              <a:buFontTx/>
              <a:buNone/>
            </a:pPr>
            <a:r>
              <a:rPr lang="en-US" altLang="zh-CN" sz="2800" dirty="0">
                <a:ea typeface="楷体_GB2312" pitchFamily="49" charset="-122"/>
              </a:rPr>
              <a:t>  </a:t>
            </a:r>
            <a:r>
              <a:rPr lang="en-US" altLang="zh-CN" dirty="0">
                <a:ea typeface="楷体_GB2312" pitchFamily="49" charset="-122"/>
              </a:rPr>
              <a:t>3.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理解机器数和带符号数的原码、反码、补码表示 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应用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]</a:t>
            </a:r>
          </a:p>
          <a:p>
            <a:pPr marL="533400" indent="-533400">
              <a:buFontTx/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溢出的判断 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应用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1147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6C5A9-386D-46E9-B56C-17FB0033D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945696"/>
            <a:ext cx="10515600" cy="1325563"/>
          </a:xfrm>
        </p:spPr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设字长为</a:t>
            </a:r>
            <a:r>
              <a:rPr lang="en-US" altLang="zh-CN" dirty="0"/>
              <a:t>16</a:t>
            </a:r>
            <a:r>
              <a:rPr lang="zh-CN" altLang="en-US" dirty="0"/>
              <a:t>位，将下列十进制数转换成二进制数，十六进制数以及压缩</a:t>
            </a:r>
            <a:r>
              <a:rPr lang="en-US" altLang="zh-CN" dirty="0"/>
              <a:t>BCD</a:t>
            </a:r>
            <a:r>
              <a:rPr lang="zh-CN" altLang="en-US" dirty="0"/>
              <a:t>数。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A1E412-BBA2-4E71-8ECA-DA9B5554F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886" y="2609397"/>
            <a:ext cx="10515600" cy="961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 ① </a:t>
            </a:r>
            <a:r>
              <a:rPr lang="en-US" altLang="zh-CN" dirty="0"/>
              <a:t>65       </a:t>
            </a:r>
            <a:r>
              <a:rPr lang="zh-CN" altLang="en-US" dirty="0"/>
              <a:t>② </a:t>
            </a:r>
            <a:r>
              <a:rPr lang="en-US" altLang="zh-CN" dirty="0"/>
              <a:t>129        ③ 257     ④ 513 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7EB0392-2BF4-4177-97CB-879944826D31}"/>
              </a:ext>
            </a:extLst>
          </p:cNvPr>
          <p:cNvSpPr txBox="1">
            <a:spLocks/>
          </p:cNvSpPr>
          <p:nvPr/>
        </p:nvSpPr>
        <p:spPr>
          <a:xfrm>
            <a:off x="762000" y="3570514"/>
            <a:ext cx="10515600" cy="2708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解：</a:t>
            </a:r>
            <a:endParaRPr lang="en-US" altLang="zh-CN"/>
          </a:p>
          <a:p>
            <a:r>
              <a:rPr lang="zh-CN" altLang="en-US"/>
              <a:t>①</a:t>
            </a:r>
            <a:r>
              <a:rPr lang="en-US" altLang="zh-CN"/>
              <a:t>0000000001000001B</a:t>
            </a:r>
            <a:r>
              <a:rPr lang="zh-CN" altLang="en-US"/>
              <a:t>，</a:t>
            </a:r>
            <a:r>
              <a:rPr lang="en-US" altLang="zh-CN"/>
              <a:t>0041H</a:t>
            </a:r>
            <a:r>
              <a:rPr lang="zh-CN" altLang="en-US"/>
              <a:t>，（ </a:t>
            </a:r>
            <a:r>
              <a:rPr lang="en-US" altLang="zh-CN"/>
              <a:t>0000 0000 0110 0101</a:t>
            </a:r>
            <a:r>
              <a:rPr lang="zh-CN" altLang="en-US"/>
              <a:t>）</a:t>
            </a:r>
            <a:r>
              <a:rPr lang="en-US" altLang="zh-CN"/>
              <a:t>BCD </a:t>
            </a:r>
          </a:p>
          <a:p>
            <a:r>
              <a:rPr lang="en-US" altLang="zh-CN"/>
              <a:t>②0000000010000001B</a:t>
            </a:r>
            <a:r>
              <a:rPr lang="zh-CN" altLang="en-US"/>
              <a:t>，</a:t>
            </a:r>
            <a:r>
              <a:rPr lang="en-US" altLang="zh-CN"/>
              <a:t>0081H</a:t>
            </a:r>
            <a:r>
              <a:rPr lang="zh-CN" altLang="en-US"/>
              <a:t>，（ </a:t>
            </a:r>
            <a:r>
              <a:rPr lang="en-US" altLang="zh-CN"/>
              <a:t>0000 0001 0010 1001</a:t>
            </a:r>
            <a:r>
              <a:rPr lang="zh-CN" altLang="en-US"/>
              <a:t>）</a:t>
            </a:r>
            <a:r>
              <a:rPr lang="en-US" altLang="zh-CN"/>
              <a:t>BCD </a:t>
            </a:r>
          </a:p>
          <a:p>
            <a:r>
              <a:rPr lang="en-US" altLang="zh-CN"/>
              <a:t>③0000000100000001B</a:t>
            </a:r>
            <a:r>
              <a:rPr lang="zh-CN" altLang="en-US"/>
              <a:t>，</a:t>
            </a:r>
            <a:r>
              <a:rPr lang="en-US" altLang="zh-CN"/>
              <a:t>0101H</a:t>
            </a:r>
            <a:r>
              <a:rPr lang="zh-CN" altLang="en-US"/>
              <a:t>，（ </a:t>
            </a:r>
            <a:r>
              <a:rPr lang="en-US" altLang="zh-CN"/>
              <a:t>0000 0010 0101 0111</a:t>
            </a:r>
            <a:r>
              <a:rPr lang="zh-CN" altLang="en-US"/>
              <a:t>）</a:t>
            </a:r>
            <a:r>
              <a:rPr lang="en-US" altLang="zh-CN"/>
              <a:t>BCD </a:t>
            </a:r>
          </a:p>
          <a:p>
            <a:r>
              <a:rPr lang="en-US" altLang="zh-CN"/>
              <a:t>④0000001000000001B</a:t>
            </a:r>
            <a:r>
              <a:rPr lang="zh-CN" altLang="en-US"/>
              <a:t>，</a:t>
            </a:r>
            <a:r>
              <a:rPr lang="en-US" altLang="zh-CN"/>
              <a:t>0201H</a:t>
            </a:r>
            <a:r>
              <a:rPr lang="zh-CN" altLang="en-US"/>
              <a:t>，（ </a:t>
            </a:r>
            <a:r>
              <a:rPr lang="en-US" altLang="zh-CN"/>
              <a:t>0000 0101 0001 0011</a:t>
            </a:r>
            <a:r>
              <a:rPr lang="zh-CN" altLang="en-US"/>
              <a:t>）</a:t>
            </a:r>
            <a:r>
              <a:rPr lang="en-US" altLang="zh-CN"/>
              <a:t>BCD </a:t>
            </a:r>
            <a:endParaRPr lang="zh-CN" altLang="en-US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847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7E4294-497F-4A7A-B38F-EF5A80331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" y="-45188"/>
            <a:ext cx="11049000" cy="2058761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 </a:t>
            </a:r>
            <a:r>
              <a:rPr lang="en-US" altLang="zh-CN" sz="4000" dirty="0"/>
              <a:t>1.2  </a:t>
            </a:r>
            <a:r>
              <a:rPr lang="zh-CN" altLang="en-US" sz="4000" dirty="0"/>
              <a:t>设字长为</a:t>
            </a:r>
            <a:r>
              <a:rPr lang="en-US" altLang="zh-CN" sz="4000" dirty="0"/>
              <a:t>8</a:t>
            </a:r>
            <a:r>
              <a:rPr lang="zh-CN" altLang="en-US" sz="4000" dirty="0"/>
              <a:t>位，写出</a:t>
            </a:r>
            <a:r>
              <a:rPr lang="en-US" altLang="zh-CN" sz="4000" dirty="0"/>
              <a:t>x</a:t>
            </a:r>
            <a:r>
              <a:rPr lang="zh-CN" altLang="en-US" sz="4000" dirty="0"/>
              <a:t>、</a:t>
            </a:r>
            <a:r>
              <a:rPr lang="en-US" altLang="zh-CN" sz="4000" dirty="0"/>
              <a:t>y</a:t>
            </a:r>
            <a:r>
              <a:rPr lang="zh-CN" altLang="en-US" sz="4000" dirty="0"/>
              <a:t>的原码、反码和补码，并且用补码计算</a:t>
            </a:r>
            <a:r>
              <a:rPr lang="en-US" altLang="zh-CN" sz="4000" dirty="0" err="1"/>
              <a:t>x+y</a:t>
            </a:r>
            <a:r>
              <a:rPr lang="zh-CN" altLang="en-US" sz="4000" dirty="0"/>
              <a:t>，问是否有溢出？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0DB7DF-255D-46FA-B090-4A6FD7AF5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5" y="1769495"/>
            <a:ext cx="10515600" cy="3491820"/>
          </a:xfrm>
        </p:spPr>
        <p:txBody>
          <a:bodyPr/>
          <a:lstStyle/>
          <a:p>
            <a:r>
              <a:rPr lang="es-ES" altLang="zh-CN" dirty="0"/>
              <a:t>① x=-78   y=35              ② x=-64    y=-66 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23C290-953B-4844-8B0E-ACAA6B3AF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2218433"/>
            <a:ext cx="5772150" cy="12105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66B3843-ED30-4983-A8F9-38F0F26F6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3439136"/>
            <a:ext cx="7958137" cy="317896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98D5E1E-86C6-4D9B-8CB6-616C1149D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625" y="2352228"/>
            <a:ext cx="647700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6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060A57-61C6-416E-81B4-570DCE0F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0857"/>
            <a:ext cx="10515600" cy="5306106"/>
          </a:xfrm>
        </p:spPr>
        <p:txBody>
          <a:bodyPr/>
          <a:lstStyle/>
          <a:p>
            <a:r>
              <a:rPr lang="zh-CN" altLang="en-US" dirty="0"/>
              <a:t>解：</a:t>
            </a:r>
            <a:endParaRPr lang="en-US" altLang="zh-CN" dirty="0"/>
          </a:p>
          <a:p>
            <a:r>
              <a:rPr lang="zh-CN" altLang="en-US" dirty="0"/>
              <a:t>①</a:t>
            </a:r>
            <a:r>
              <a:rPr lang="en-US" altLang="zh-CN" dirty="0"/>
              <a:t>[X]</a:t>
            </a:r>
            <a:r>
              <a:rPr lang="zh-CN" altLang="en-US" baseline="-25000" dirty="0"/>
              <a:t>原</a:t>
            </a:r>
            <a:r>
              <a:rPr lang="en-US" altLang="zh-CN" dirty="0"/>
              <a:t>=11001110</a:t>
            </a:r>
            <a:r>
              <a:rPr lang="zh-CN" altLang="en-US" dirty="0"/>
              <a:t>，</a:t>
            </a:r>
            <a:r>
              <a:rPr lang="en-US" altLang="zh-CN" dirty="0"/>
              <a:t>[X]</a:t>
            </a:r>
            <a:r>
              <a:rPr lang="zh-CN" altLang="en-US" baseline="-25000" dirty="0"/>
              <a:t>反</a:t>
            </a:r>
            <a:r>
              <a:rPr lang="en-US" altLang="zh-CN" dirty="0"/>
              <a:t>=10110001</a:t>
            </a:r>
            <a:r>
              <a:rPr lang="zh-CN" altLang="en-US" dirty="0"/>
              <a:t>，</a:t>
            </a:r>
            <a:r>
              <a:rPr lang="en-US" altLang="zh-CN" dirty="0"/>
              <a:t>[X]</a:t>
            </a:r>
            <a:r>
              <a:rPr lang="zh-CN" altLang="en-US" baseline="-25000" dirty="0"/>
              <a:t>补</a:t>
            </a:r>
            <a:r>
              <a:rPr lang="en-US" altLang="zh-CN" dirty="0"/>
              <a:t>=10110010 </a:t>
            </a:r>
          </a:p>
          <a:p>
            <a:pPr marL="0" indent="0">
              <a:buNone/>
            </a:pPr>
            <a:r>
              <a:rPr lang="en-US" altLang="zh-CN" dirty="0"/>
              <a:t>      [Y]</a:t>
            </a:r>
            <a:r>
              <a:rPr lang="zh-CN" altLang="en-US" baseline="-25000" dirty="0"/>
              <a:t>原</a:t>
            </a:r>
            <a:r>
              <a:rPr lang="en-US" altLang="zh-CN" dirty="0"/>
              <a:t>=00100011</a:t>
            </a:r>
            <a:r>
              <a:rPr lang="zh-CN" altLang="en-US" dirty="0"/>
              <a:t>，</a:t>
            </a:r>
            <a:r>
              <a:rPr lang="en-US" altLang="zh-CN" dirty="0"/>
              <a:t>[Y]</a:t>
            </a:r>
            <a:r>
              <a:rPr lang="zh-CN" altLang="en-US" baseline="-25000" dirty="0"/>
              <a:t>反</a:t>
            </a:r>
            <a:r>
              <a:rPr lang="en-US" altLang="zh-CN" dirty="0"/>
              <a:t>=00100011</a:t>
            </a:r>
            <a:r>
              <a:rPr lang="zh-CN" altLang="en-US" dirty="0"/>
              <a:t>，</a:t>
            </a:r>
            <a:r>
              <a:rPr lang="en-US" altLang="zh-CN" dirty="0"/>
              <a:t>[Y]</a:t>
            </a:r>
            <a:r>
              <a:rPr lang="zh-CN" altLang="en-US" baseline="-25000" dirty="0"/>
              <a:t>补</a:t>
            </a:r>
            <a:r>
              <a:rPr lang="en-US" altLang="zh-CN" dirty="0"/>
              <a:t>=00100011 </a:t>
            </a:r>
          </a:p>
          <a:p>
            <a:pPr marL="0" indent="0">
              <a:buNone/>
            </a:pPr>
            <a:r>
              <a:rPr lang="zh-CN" altLang="en-US" dirty="0"/>
              <a:t>因为：</a:t>
            </a:r>
            <a:r>
              <a:rPr lang="en-US" altLang="zh-CN" dirty="0"/>
              <a:t>[X]</a:t>
            </a:r>
            <a:r>
              <a:rPr lang="zh-CN" altLang="en-US" baseline="-25000" dirty="0"/>
              <a:t>补</a:t>
            </a:r>
            <a:r>
              <a:rPr lang="en-US" altLang="zh-CN" dirty="0"/>
              <a:t>=10110010 </a:t>
            </a:r>
            <a:r>
              <a:rPr lang="zh-CN" altLang="en-US" dirty="0"/>
              <a:t>，</a:t>
            </a:r>
            <a:r>
              <a:rPr lang="en-US" altLang="zh-CN" dirty="0"/>
              <a:t>[Y]</a:t>
            </a:r>
            <a:r>
              <a:rPr lang="zh-CN" altLang="en-US" baseline="-25000" dirty="0"/>
              <a:t>补</a:t>
            </a:r>
            <a:r>
              <a:rPr lang="en-US" altLang="zh-CN" dirty="0"/>
              <a:t>=00100011 </a:t>
            </a:r>
            <a:r>
              <a:rPr lang="zh-CN" altLang="en-US" dirty="0"/>
              <a:t>，</a:t>
            </a:r>
            <a:r>
              <a:rPr lang="en-US" altLang="zh-CN" dirty="0"/>
              <a:t>[X]</a:t>
            </a:r>
            <a:r>
              <a:rPr lang="zh-CN" altLang="en-US" baseline="-25000" dirty="0"/>
              <a:t>补</a:t>
            </a:r>
            <a:r>
              <a:rPr lang="en-US" altLang="zh-CN" dirty="0"/>
              <a:t>+ [Y]</a:t>
            </a:r>
            <a:r>
              <a:rPr lang="zh-CN" altLang="en-US" baseline="-25000" dirty="0"/>
              <a:t>补</a:t>
            </a:r>
            <a:r>
              <a:rPr lang="en-US" altLang="zh-CN" dirty="0"/>
              <a:t>=11010101=[X+Y]</a:t>
            </a:r>
            <a:r>
              <a:rPr lang="zh-CN" altLang="en-US" baseline="-25000" dirty="0"/>
              <a:t>补</a:t>
            </a:r>
            <a:r>
              <a:rPr lang="zh-CN" altLang="en-US" dirty="0"/>
              <a:t>    没有溢出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②</a:t>
            </a:r>
            <a:r>
              <a:rPr lang="en-US" altLang="zh-CN" dirty="0"/>
              <a:t> [X]</a:t>
            </a:r>
            <a:r>
              <a:rPr lang="zh-CN" altLang="en-US" baseline="-25000" dirty="0"/>
              <a:t>原</a:t>
            </a:r>
            <a:r>
              <a:rPr lang="en-US" altLang="zh-CN" dirty="0"/>
              <a:t>=11000000</a:t>
            </a:r>
            <a:r>
              <a:rPr lang="zh-CN" altLang="en-US" dirty="0"/>
              <a:t>，</a:t>
            </a:r>
            <a:r>
              <a:rPr lang="en-US" altLang="zh-CN" dirty="0"/>
              <a:t> [X]</a:t>
            </a:r>
            <a:r>
              <a:rPr lang="zh-CN" altLang="en-US" baseline="-25000" dirty="0"/>
              <a:t>反</a:t>
            </a:r>
            <a:r>
              <a:rPr lang="en-US" altLang="zh-CN" dirty="0"/>
              <a:t>=10111111</a:t>
            </a:r>
            <a:r>
              <a:rPr lang="zh-CN" altLang="en-US" dirty="0"/>
              <a:t>，</a:t>
            </a:r>
            <a:r>
              <a:rPr lang="en-US" altLang="zh-CN" dirty="0"/>
              <a:t> [X]</a:t>
            </a:r>
            <a:r>
              <a:rPr lang="zh-CN" altLang="en-US" baseline="-25000" dirty="0"/>
              <a:t>补</a:t>
            </a:r>
            <a:r>
              <a:rPr lang="en-US" altLang="zh-CN" dirty="0"/>
              <a:t>=11000000 </a:t>
            </a:r>
          </a:p>
          <a:p>
            <a:pPr marL="0" indent="0">
              <a:buNone/>
            </a:pPr>
            <a:r>
              <a:rPr lang="en-US" altLang="zh-CN" dirty="0"/>
              <a:t>     [Y]</a:t>
            </a:r>
            <a:r>
              <a:rPr lang="zh-CN" altLang="en-US" baseline="-25000" dirty="0"/>
              <a:t>原</a:t>
            </a:r>
            <a:r>
              <a:rPr lang="en-US" altLang="zh-CN" dirty="0"/>
              <a:t>=11000010</a:t>
            </a:r>
            <a:r>
              <a:rPr lang="zh-CN" altLang="en-US" dirty="0"/>
              <a:t>， </a:t>
            </a:r>
            <a:r>
              <a:rPr lang="en-US" altLang="zh-CN" dirty="0"/>
              <a:t> [Y]</a:t>
            </a:r>
            <a:r>
              <a:rPr lang="zh-CN" altLang="en-US" baseline="-25000" dirty="0"/>
              <a:t>反</a:t>
            </a:r>
            <a:r>
              <a:rPr lang="en-US" altLang="zh-CN" dirty="0"/>
              <a:t>=10111101</a:t>
            </a:r>
            <a:r>
              <a:rPr lang="zh-CN" altLang="en-US" dirty="0"/>
              <a:t>，</a:t>
            </a:r>
            <a:r>
              <a:rPr lang="en-US" altLang="zh-CN" dirty="0"/>
              <a:t> [Y]</a:t>
            </a:r>
            <a:r>
              <a:rPr lang="zh-CN" altLang="en-US" baseline="-25000" dirty="0"/>
              <a:t>补</a:t>
            </a:r>
            <a:r>
              <a:rPr lang="en-US" altLang="zh-CN" dirty="0"/>
              <a:t>=10111110 </a:t>
            </a:r>
          </a:p>
          <a:p>
            <a:pPr marL="0" indent="0">
              <a:buNone/>
            </a:pPr>
            <a:r>
              <a:rPr lang="zh-CN" altLang="en-US" dirty="0"/>
              <a:t>因为：</a:t>
            </a:r>
            <a:r>
              <a:rPr lang="en-US" altLang="zh-CN" dirty="0"/>
              <a:t> [X]</a:t>
            </a:r>
            <a:r>
              <a:rPr lang="zh-CN" altLang="en-US" baseline="-25000" dirty="0"/>
              <a:t>补</a:t>
            </a:r>
            <a:r>
              <a:rPr lang="en-US" altLang="zh-CN" dirty="0"/>
              <a:t>=11000000   [Y]</a:t>
            </a:r>
            <a:r>
              <a:rPr lang="zh-CN" altLang="en-US" baseline="-25000" dirty="0"/>
              <a:t>补</a:t>
            </a:r>
            <a:r>
              <a:rPr lang="en-US" altLang="zh-CN" dirty="0"/>
              <a:t>=10111110   [X]</a:t>
            </a:r>
            <a:r>
              <a:rPr lang="zh-CN" altLang="en-US" baseline="-25000" dirty="0"/>
              <a:t>补</a:t>
            </a:r>
            <a:r>
              <a:rPr lang="en-US" altLang="zh-CN" dirty="0"/>
              <a:t>+ [Y]</a:t>
            </a:r>
            <a:r>
              <a:rPr lang="zh-CN" altLang="en-US" baseline="-25000" dirty="0"/>
              <a:t>补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01111110</a:t>
            </a:r>
            <a:r>
              <a:rPr lang="zh-CN" altLang="en-US" dirty="0"/>
              <a:t>，有溢出</a:t>
            </a:r>
          </a:p>
        </p:txBody>
      </p:sp>
    </p:spTree>
    <p:extLst>
      <p:ext uri="{BB962C8B-B14F-4D97-AF65-F5344CB8AC3E}">
        <p14:creationId xmlns:p14="http://schemas.microsoft.com/office/powerpoint/2010/main" val="3399612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BA41B90-8B47-40EA-8546-45C6A107E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99" y="857250"/>
            <a:ext cx="11730176" cy="14287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AD32AED-F31D-487B-BA16-AEE00E877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912" y="2481262"/>
            <a:ext cx="10066767" cy="276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9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ABB9D42-F73E-42DF-95AD-6A8D5669ED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732" y="666749"/>
            <a:ext cx="11180535" cy="1381125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BA98893-3A09-4300-93C2-98ADB2254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075" y="523874"/>
            <a:ext cx="452437" cy="83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5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F4DBEB4-F57A-4C8D-8DAC-77B0834BE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0710" y="895350"/>
            <a:ext cx="6244115" cy="1486694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6C92381-CD2A-4F5C-8917-1FAE8D147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0" y="2195512"/>
            <a:ext cx="6096000" cy="438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702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F40B48-7F02-4CBA-9684-D869A9288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2.</a:t>
            </a:r>
            <a:r>
              <a:rPr kumimoji="1"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4400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8086</a:t>
            </a:r>
            <a:r>
              <a:rPr kumimoji="1" lang="zh-CN" altLang="en-US" sz="4400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微处理器及其体系结构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5E7022-3A8C-49D5-9A44-2C540BDA4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3400" indent="-533400" algn="just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1. 8086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微处理器的功能结构。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EU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BIU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的关系。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识记、理解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2. 8086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微处理器的寄存器结构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理解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3.  8086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微处理器的物理地址与逻辑地址的概念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理解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4.  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物理地址与逻辑地址的转换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应用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914030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EBC3DF3-A241-4E35-B1B9-22AFB10EED57}"/>
              </a:ext>
            </a:extLst>
          </p:cNvPr>
          <p:cNvSpPr txBox="1"/>
          <p:nvPr/>
        </p:nvSpPr>
        <p:spPr>
          <a:xfrm>
            <a:off x="519792" y="487072"/>
            <a:ext cx="113501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>
                <a:latin typeface="+mj-lt"/>
                <a:ea typeface="+mj-ea"/>
                <a:cs typeface="+mj-cs"/>
              </a:rPr>
              <a:t>2.1   8086CPU </a:t>
            </a:r>
            <a:r>
              <a:rPr lang="zh-CN" altLang="en-US" sz="4000" dirty="0">
                <a:latin typeface="+mj-lt"/>
                <a:ea typeface="+mj-ea"/>
                <a:cs typeface="+mj-cs"/>
              </a:rPr>
              <a:t>由哪两部分组成？它们的主要功能各是什么？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F9D7673-AB64-439B-BD23-1EDF2FC03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02308"/>
            <a:ext cx="5238971" cy="42669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E04218D-8F2A-4131-B359-F24DF544A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2077211"/>
            <a:ext cx="5067300" cy="391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545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22B339-B753-4DB1-9114-28B1AA74F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2.2  8086CPU </a:t>
            </a:r>
            <a:r>
              <a:rPr lang="zh-CN" altLang="en-US" dirty="0"/>
              <a:t>中有哪些寄存器？各有什么用途？标志寄存器</a:t>
            </a:r>
            <a:r>
              <a:rPr lang="en-US" altLang="zh-CN" dirty="0"/>
              <a:t>FLAGS </a:t>
            </a:r>
            <a:r>
              <a:rPr lang="zh-CN" altLang="en-US" dirty="0"/>
              <a:t>有哪些标志位？在什么情况下置位？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79FB3C8-1A71-4E73-92FE-D5B965400D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00824" y="1410493"/>
            <a:ext cx="5457825" cy="5243513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B1CE31C-A671-4C66-89EE-F356FB85D17C}"/>
              </a:ext>
            </a:extLst>
          </p:cNvPr>
          <p:cNvSpPr txBox="1"/>
          <p:nvPr/>
        </p:nvSpPr>
        <p:spPr>
          <a:xfrm>
            <a:off x="366711" y="1788508"/>
            <a:ext cx="63722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数据寄存器特有的习惯用法：</a:t>
            </a:r>
            <a:endParaRPr lang="en-US" altLang="zh-CN" dirty="0"/>
          </a:p>
          <a:p>
            <a:r>
              <a:rPr lang="zh-CN" altLang="en-US" dirty="0"/>
              <a:t>⚫ </a:t>
            </a:r>
            <a:r>
              <a:rPr lang="en-US" altLang="zh-CN" dirty="0"/>
              <a:t>AX</a:t>
            </a:r>
            <a:r>
              <a:rPr lang="zh-CN" altLang="en-US" dirty="0"/>
              <a:t>：累加器。多用于存放中间运算结果。所有 </a:t>
            </a:r>
            <a:r>
              <a:rPr lang="en-US" altLang="zh-CN" dirty="0"/>
              <a:t>I/O</a:t>
            </a:r>
            <a:r>
              <a:rPr lang="zh-CN" altLang="en-US" dirty="0"/>
              <a:t>指令必须都通过</a:t>
            </a:r>
            <a:r>
              <a:rPr lang="en-US" altLang="zh-CN" dirty="0"/>
              <a:t>AX</a:t>
            </a:r>
            <a:r>
              <a:rPr lang="zh-CN" altLang="en-US" dirty="0"/>
              <a:t>与接口传送信息； </a:t>
            </a:r>
          </a:p>
          <a:p>
            <a:r>
              <a:rPr lang="zh-CN" altLang="en-US" dirty="0"/>
              <a:t>⚫ </a:t>
            </a:r>
            <a:r>
              <a:rPr lang="en-US" altLang="zh-CN" dirty="0"/>
              <a:t>BX</a:t>
            </a:r>
            <a:r>
              <a:rPr lang="zh-CN" altLang="en-US" dirty="0"/>
              <a:t>：基址寄存器。在间接寻址中用于存放基地址； </a:t>
            </a:r>
          </a:p>
          <a:p>
            <a:r>
              <a:rPr lang="zh-CN" altLang="en-US" dirty="0"/>
              <a:t>⚫ </a:t>
            </a:r>
            <a:r>
              <a:rPr lang="en-US" altLang="zh-CN" dirty="0"/>
              <a:t>CX</a:t>
            </a:r>
            <a:r>
              <a:rPr lang="zh-CN" altLang="en-US" dirty="0"/>
              <a:t>：计数寄存器。用于在循环或串操作指令中存放循环次数或重复次数； </a:t>
            </a:r>
          </a:p>
          <a:p>
            <a:r>
              <a:rPr lang="zh-CN" altLang="en-US" dirty="0"/>
              <a:t>⚫ </a:t>
            </a:r>
            <a:r>
              <a:rPr lang="en-US" altLang="zh-CN" dirty="0"/>
              <a:t>DX</a:t>
            </a:r>
            <a:r>
              <a:rPr lang="zh-CN" altLang="en-US" dirty="0"/>
              <a:t>：数据寄存器。在</a:t>
            </a:r>
            <a:r>
              <a:rPr lang="en-US" altLang="zh-CN" dirty="0"/>
              <a:t>32</a:t>
            </a:r>
            <a:r>
              <a:rPr lang="zh-CN" altLang="en-US" dirty="0"/>
              <a:t>位乘除法运算时，存放高</a:t>
            </a:r>
            <a:r>
              <a:rPr lang="en-US" altLang="zh-CN" dirty="0"/>
              <a:t>16</a:t>
            </a:r>
            <a:r>
              <a:rPr lang="zh-CN" altLang="en-US" dirty="0"/>
              <a:t>位数；在间接寻址的</a:t>
            </a:r>
            <a:r>
              <a:rPr lang="en-US" altLang="zh-CN" dirty="0"/>
              <a:t>I/O</a:t>
            </a:r>
            <a:r>
              <a:rPr lang="zh-CN" altLang="en-US" dirty="0"/>
              <a:t>指令中存放</a:t>
            </a:r>
            <a:r>
              <a:rPr lang="en-US" altLang="zh-CN" dirty="0"/>
              <a:t>I/O</a:t>
            </a:r>
            <a:r>
              <a:rPr lang="zh-CN" altLang="en-US" dirty="0"/>
              <a:t>端口地址。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375646-BCFA-4430-9248-3661DE2183B3}"/>
              </a:ext>
            </a:extLst>
          </p:cNvPr>
          <p:cNvSpPr txBox="1"/>
          <p:nvPr/>
        </p:nvSpPr>
        <p:spPr>
          <a:xfrm>
            <a:off x="90486" y="4194652"/>
            <a:ext cx="66484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地址指针寄存器： </a:t>
            </a:r>
          </a:p>
          <a:p>
            <a:r>
              <a:rPr lang="zh-CN" altLang="en-US" dirty="0"/>
              <a:t>⚫ </a:t>
            </a:r>
            <a:r>
              <a:rPr lang="en-US" altLang="zh-CN" dirty="0"/>
              <a:t>SP</a:t>
            </a:r>
            <a:r>
              <a:rPr lang="zh-CN" altLang="en-US" dirty="0"/>
              <a:t>：堆栈指针寄存器，其内容为栈顶的偏移地址</a:t>
            </a:r>
            <a:r>
              <a:rPr lang="en-US" altLang="zh-CN" dirty="0"/>
              <a:t>【</a:t>
            </a:r>
            <a:r>
              <a:rPr lang="zh-CN" altLang="en-US" dirty="0"/>
              <a:t>不能动</a:t>
            </a:r>
            <a:r>
              <a:rPr lang="en-US" altLang="zh-CN" dirty="0"/>
              <a:t>】</a:t>
            </a:r>
            <a:r>
              <a:rPr lang="zh-CN" altLang="en-US" dirty="0"/>
              <a:t>； </a:t>
            </a:r>
          </a:p>
          <a:p>
            <a:r>
              <a:rPr lang="zh-CN" altLang="en-US" dirty="0"/>
              <a:t>⚫ </a:t>
            </a:r>
            <a:r>
              <a:rPr lang="en-US" altLang="zh-CN" dirty="0"/>
              <a:t>BP</a:t>
            </a:r>
            <a:r>
              <a:rPr lang="zh-CN" altLang="en-US" dirty="0"/>
              <a:t>：基址指针寄存器，常用于在访问内存时存放内存单元的偏移地址。 </a:t>
            </a:r>
          </a:p>
          <a:p>
            <a:r>
              <a:rPr lang="en-US" altLang="zh-CN" dirty="0"/>
              <a:t>BX </a:t>
            </a:r>
            <a:r>
              <a:rPr lang="zh-CN" altLang="en-US" dirty="0"/>
              <a:t>与</a:t>
            </a:r>
            <a:r>
              <a:rPr lang="en-US" altLang="zh-CN" dirty="0"/>
              <a:t>BP</a:t>
            </a:r>
            <a:r>
              <a:rPr lang="zh-CN" altLang="en-US" dirty="0"/>
              <a:t>在应用上的区别 </a:t>
            </a:r>
          </a:p>
          <a:p>
            <a:r>
              <a:rPr lang="zh-CN" altLang="en-US" dirty="0"/>
              <a:t>⚫ 作为通用寄存器，二者均可用于存放数据； </a:t>
            </a:r>
          </a:p>
          <a:p>
            <a:r>
              <a:rPr lang="zh-CN" altLang="en-US" dirty="0"/>
              <a:t>⚫ 作为基址寄存器，</a:t>
            </a:r>
            <a:r>
              <a:rPr lang="en-US" altLang="zh-CN" dirty="0"/>
              <a:t>BX</a:t>
            </a:r>
            <a:r>
              <a:rPr lang="zh-CN" altLang="en-US" dirty="0"/>
              <a:t>通常用于寻址数据段；</a:t>
            </a:r>
            <a:r>
              <a:rPr lang="en-US" altLang="zh-CN" dirty="0"/>
              <a:t>BP</a:t>
            </a:r>
            <a:r>
              <a:rPr lang="zh-CN" altLang="en-US" dirty="0"/>
              <a:t>则通常用于寻址堆栈段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SS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 </a:t>
            </a:r>
            <a:r>
              <a:rPr lang="zh-CN" altLang="en-US" dirty="0"/>
              <a:t>。 </a:t>
            </a:r>
          </a:p>
          <a:p>
            <a:r>
              <a:rPr lang="zh-CN" altLang="en-US" dirty="0"/>
              <a:t>⚫ </a:t>
            </a:r>
            <a:r>
              <a:rPr lang="en-US" altLang="zh-CN" dirty="0"/>
              <a:t>BX</a:t>
            </a:r>
            <a:r>
              <a:rPr lang="zh-CN" altLang="en-US" dirty="0"/>
              <a:t>一般与</a:t>
            </a:r>
            <a:r>
              <a:rPr lang="en-US" altLang="zh-CN" dirty="0"/>
              <a:t>DS</a:t>
            </a:r>
            <a:r>
              <a:rPr lang="zh-CN" altLang="en-US" dirty="0"/>
              <a:t>或</a:t>
            </a:r>
            <a:r>
              <a:rPr lang="en-US" altLang="zh-CN" dirty="0"/>
              <a:t>ES</a:t>
            </a:r>
            <a:r>
              <a:rPr lang="zh-CN" altLang="en-US" dirty="0"/>
              <a:t>搭配使用。</a:t>
            </a:r>
          </a:p>
        </p:txBody>
      </p:sp>
    </p:spTree>
    <p:extLst>
      <p:ext uri="{BB962C8B-B14F-4D97-AF65-F5344CB8AC3E}">
        <p14:creationId xmlns:p14="http://schemas.microsoft.com/office/powerpoint/2010/main" val="415078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8BB0742-D179-42B4-8205-4EE21A4479D4}"/>
              </a:ext>
            </a:extLst>
          </p:cNvPr>
          <p:cNvSpPr txBox="1"/>
          <p:nvPr/>
        </p:nvSpPr>
        <p:spPr>
          <a:xfrm>
            <a:off x="628650" y="565220"/>
            <a:ext cx="1077277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变址寄存器： </a:t>
            </a:r>
          </a:p>
          <a:p>
            <a:r>
              <a:rPr lang="zh-CN" altLang="en-US" sz="2000" dirty="0"/>
              <a:t>⚫ 变址寄存器常用于指令的间接寻址或变址寻址。</a:t>
            </a:r>
            <a:endParaRPr lang="en-US" altLang="zh-CN" sz="2000" dirty="0"/>
          </a:p>
          <a:p>
            <a:r>
              <a:rPr lang="zh-CN" altLang="en-US" sz="2000" dirty="0"/>
              <a:t>特别是在串操作指令中，用</a:t>
            </a:r>
            <a:r>
              <a:rPr lang="en-US" altLang="zh-CN" sz="2000" dirty="0"/>
              <a:t>SI</a:t>
            </a:r>
            <a:r>
              <a:rPr lang="zh-CN" altLang="en-US" sz="2000" dirty="0"/>
              <a:t>存放源操作数的偏移地址，而用</a:t>
            </a:r>
            <a:r>
              <a:rPr lang="en-US" altLang="zh-CN" sz="2000" dirty="0"/>
              <a:t>DI</a:t>
            </a:r>
            <a:r>
              <a:rPr lang="zh-CN" altLang="en-US" sz="2000" dirty="0"/>
              <a:t>存放目标操作数的偏移地址。 </a:t>
            </a:r>
            <a:endParaRPr lang="en-US" altLang="zh-CN" sz="2000" dirty="0"/>
          </a:p>
          <a:p>
            <a:endParaRPr lang="zh-CN" altLang="en-US" sz="2000" dirty="0"/>
          </a:p>
          <a:p>
            <a:r>
              <a:rPr lang="zh-CN" altLang="en-US" sz="2000" dirty="0"/>
              <a:t>段寄存器： </a:t>
            </a:r>
          </a:p>
          <a:p>
            <a:r>
              <a:rPr lang="zh-CN" altLang="en-US" sz="2000" dirty="0"/>
              <a:t>⚫ </a:t>
            </a:r>
            <a:r>
              <a:rPr lang="en-US" altLang="zh-CN" sz="2000" dirty="0"/>
              <a:t>CS</a:t>
            </a:r>
            <a:r>
              <a:rPr lang="zh-CN" altLang="en-US" sz="2000" dirty="0"/>
              <a:t>：代码段寄存器  </a:t>
            </a:r>
          </a:p>
          <a:p>
            <a:r>
              <a:rPr lang="zh-CN" altLang="en-US" sz="2000" dirty="0"/>
              <a:t>代码段用于存放指令代码 </a:t>
            </a:r>
          </a:p>
          <a:p>
            <a:r>
              <a:rPr lang="zh-CN" altLang="en-US" sz="2000" dirty="0"/>
              <a:t>⚫ </a:t>
            </a:r>
            <a:r>
              <a:rPr lang="en-US" altLang="zh-CN" sz="2000" dirty="0"/>
              <a:t>DS</a:t>
            </a:r>
            <a:r>
              <a:rPr lang="zh-CN" altLang="en-US" sz="2000" dirty="0"/>
              <a:t>：数据段寄存器      </a:t>
            </a:r>
          </a:p>
          <a:p>
            <a:r>
              <a:rPr lang="zh-CN" altLang="en-US" sz="2000" dirty="0"/>
              <a:t>⚫ </a:t>
            </a:r>
            <a:r>
              <a:rPr lang="en-US" altLang="zh-CN" sz="2000" dirty="0"/>
              <a:t>ES</a:t>
            </a:r>
            <a:r>
              <a:rPr lang="zh-CN" altLang="en-US" sz="2000" dirty="0"/>
              <a:t>：附加段寄存器 </a:t>
            </a:r>
          </a:p>
          <a:p>
            <a:r>
              <a:rPr lang="zh-CN" altLang="en-US" sz="2000" dirty="0"/>
              <a:t>数据段和附加段用来存放操作数 </a:t>
            </a:r>
          </a:p>
          <a:p>
            <a:r>
              <a:rPr lang="en-US" altLang="zh-CN" sz="2000" dirty="0"/>
              <a:t>⚫ SS</a:t>
            </a:r>
            <a:r>
              <a:rPr lang="zh-CN" altLang="en-US" sz="2000" dirty="0"/>
              <a:t>：堆栈段寄存器     </a:t>
            </a:r>
          </a:p>
          <a:p>
            <a:r>
              <a:rPr lang="zh-CN" altLang="en-US" sz="2000" dirty="0"/>
              <a:t>堆栈段用于存放返回地址，保存寄存器内容，传递参数 </a:t>
            </a:r>
          </a:p>
          <a:p>
            <a:r>
              <a:rPr lang="zh-CN" altLang="en-US" sz="2000" dirty="0"/>
              <a:t>⚫ </a:t>
            </a:r>
            <a:r>
              <a:rPr lang="en-US" altLang="zh-CN" sz="2000" dirty="0"/>
              <a:t>IP</a:t>
            </a:r>
            <a:r>
              <a:rPr lang="zh-CN" altLang="en-US" sz="2000" dirty="0"/>
              <a:t>：指令指针寄存器，其内容为下一条要执行的指令的偏移地址 </a:t>
            </a:r>
          </a:p>
          <a:p>
            <a:r>
              <a:rPr lang="zh-CN" altLang="en-US" sz="2000" dirty="0"/>
              <a:t>⚫ </a:t>
            </a:r>
            <a:r>
              <a:rPr lang="en-US" altLang="zh-CN" sz="2000" dirty="0"/>
              <a:t>FLAGS</a:t>
            </a:r>
            <a:r>
              <a:rPr lang="zh-CN" altLang="en-US" sz="2000" dirty="0"/>
              <a:t>：标志寄存器 </a:t>
            </a:r>
          </a:p>
          <a:p>
            <a:r>
              <a:rPr lang="zh-CN" altLang="en-US" sz="2000" dirty="0"/>
              <a:t>      状态标志：存放运算结果的特征 </a:t>
            </a:r>
          </a:p>
          <a:p>
            <a:r>
              <a:rPr lang="zh-CN" altLang="en-US" sz="2000" dirty="0"/>
              <a:t>      控制标志：控制某些特殊操作 </a:t>
            </a:r>
          </a:p>
          <a:p>
            <a:r>
              <a:rPr lang="en-US" altLang="zh-CN" sz="2000" dirty="0"/>
              <a:t>      6 </a:t>
            </a:r>
            <a:r>
              <a:rPr lang="zh-CN" altLang="en-US" sz="2000" dirty="0"/>
              <a:t>个状态标志位</a:t>
            </a:r>
            <a:r>
              <a:rPr lang="en-US" altLang="zh-CN" sz="2000" dirty="0"/>
              <a:t>(CF</a:t>
            </a:r>
            <a:r>
              <a:rPr lang="zh-CN" altLang="en-US" sz="2000" dirty="0"/>
              <a:t>，</a:t>
            </a:r>
            <a:r>
              <a:rPr lang="en-US" altLang="zh-CN" sz="2000" dirty="0"/>
              <a:t>SF</a:t>
            </a:r>
            <a:r>
              <a:rPr lang="zh-CN" altLang="en-US" sz="2000" dirty="0"/>
              <a:t>，</a:t>
            </a:r>
            <a:r>
              <a:rPr lang="en-US" altLang="zh-CN" sz="2000" dirty="0"/>
              <a:t>AF</a:t>
            </a:r>
            <a:r>
              <a:rPr lang="zh-CN" altLang="en-US" sz="2000" dirty="0"/>
              <a:t>，</a:t>
            </a:r>
            <a:r>
              <a:rPr lang="en-US" altLang="zh-CN" sz="2000" dirty="0"/>
              <a:t>PF</a:t>
            </a:r>
            <a:r>
              <a:rPr lang="zh-CN" altLang="en-US" sz="2000" dirty="0"/>
              <a:t>，</a:t>
            </a:r>
            <a:r>
              <a:rPr lang="en-US" altLang="zh-CN" sz="2000" dirty="0"/>
              <a:t>OF</a:t>
            </a:r>
            <a:r>
              <a:rPr lang="zh-CN" altLang="en-US" sz="2000" dirty="0"/>
              <a:t>，</a:t>
            </a:r>
            <a:r>
              <a:rPr lang="en-US" altLang="zh-CN" sz="2000" dirty="0"/>
              <a:t>ZF) </a:t>
            </a:r>
          </a:p>
          <a:p>
            <a:r>
              <a:rPr lang="en-US" altLang="zh-CN" sz="2000" dirty="0"/>
              <a:t>     3 </a:t>
            </a:r>
            <a:r>
              <a:rPr lang="zh-CN" altLang="en-US" sz="2000" dirty="0"/>
              <a:t>个控制标志位</a:t>
            </a:r>
            <a:r>
              <a:rPr lang="en-US" altLang="zh-CN" sz="2000" dirty="0"/>
              <a:t>(IF</a:t>
            </a:r>
            <a:r>
              <a:rPr lang="zh-CN" altLang="en-US" sz="2000" dirty="0"/>
              <a:t>，</a:t>
            </a:r>
            <a:r>
              <a:rPr lang="en-US" altLang="zh-CN" sz="2000" dirty="0"/>
              <a:t>TF</a:t>
            </a:r>
            <a:r>
              <a:rPr lang="zh-CN" altLang="en-US" sz="2000" dirty="0"/>
              <a:t>，</a:t>
            </a:r>
            <a:r>
              <a:rPr lang="en-US" altLang="zh-CN" sz="2000" dirty="0"/>
              <a:t>DF)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15522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10B13D5-E0E6-4675-8261-1234BE8FE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955" y="675191"/>
            <a:ext cx="8412616" cy="550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80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63ADBDD-E5BD-4C1D-B5E5-399733586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14" y="378153"/>
            <a:ext cx="8697686" cy="61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602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D13DD82-ADEB-4565-B319-3090AA58C2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464444"/>
            <a:ext cx="7954699" cy="5901205"/>
          </a:xfrm>
        </p:spPr>
      </p:pic>
    </p:spTree>
    <p:extLst>
      <p:ext uri="{BB962C8B-B14F-4D97-AF65-F5344CB8AC3E}">
        <p14:creationId xmlns:p14="http://schemas.microsoft.com/office/powerpoint/2010/main" val="1020921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3166699-314C-4D6D-859B-221D85E2E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43" y="487362"/>
            <a:ext cx="8320314" cy="610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96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5FE715-10A5-415C-80B2-5CF9E2D6E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75" y="949325"/>
            <a:ext cx="10515600" cy="4351338"/>
          </a:xfrm>
        </p:spPr>
        <p:txBody>
          <a:bodyPr/>
          <a:lstStyle/>
          <a:p>
            <a:r>
              <a:rPr lang="en-US" altLang="zh-CN" dirty="0"/>
              <a:t>2.3  </a:t>
            </a:r>
            <a:r>
              <a:rPr lang="zh-CN" altLang="en-US" dirty="0"/>
              <a:t>设 </a:t>
            </a:r>
            <a:r>
              <a:rPr lang="en-US" altLang="zh-CN" dirty="0"/>
              <a:t>X=35H</a:t>
            </a:r>
            <a:r>
              <a:rPr lang="zh-CN" altLang="en-US" dirty="0"/>
              <a:t>，</a:t>
            </a:r>
            <a:r>
              <a:rPr lang="en-US" altLang="zh-CN" dirty="0"/>
              <a:t>Y=76H</a:t>
            </a:r>
            <a:r>
              <a:rPr lang="zh-CN" altLang="en-US" dirty="0"/>
              <a:t>，进行</a:t>
            </a:r>
            <a:r>
              <a:rPr lang="en-US" altLang="zh-CN" dirty="0"/>
              <a:t>X+Y</a:t>
            </a:r>
            <a:r>
              <a:rPr lang="zh-CN" altLang="en-US" dirty="0"/>
              <a:t>和</a:t>
            </a:r>
            <a:r>
              <a:rPr lang="en-US" altLang="zh-CN" dirty="0"/>
              <a:t>X-Y</a:t>
            </a:r>
            <a:r>
              <a:rPr lang="zh-CN" altLang="en-US" dirty="0"/>
              <a:t>运算后，标志寄存器</a:t>
            </a:r>
            <a:r>
              <a:rPr lang="en-US" altLang="zh-CN" dirty="0"/>
              <a:t>FLAGS</a:t>
            </a:r>
            <a:r>
              <a:rPr lang="zh-CN" altLang="en-US" dirty="0"/>
              <a:t>的状态标志位各是什么？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 解：</a:t>
            </a:r>
            <a:r>
              <a:rPr lang="en-US" altLang="zh-CN" dirty="0"/>
              <a:t>X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zh-CN" altLang="en-US" dirty="0"/>
              <a:t>＝</a:t>
            </a:r>
            <a:r>
              <a:rPr lang="en-US" altLang="zh-CN" dirty="0"/>
              <a:t>ABH </a:t>
            </a:r>
            <a:r>
              <a:rPr lang="zh-CN" altLang="en-US" dirty="0"/>
              <a:t>，各标志位分别为：</a:t>
            </a:r>
            <a:r>
              <a:rPr lang="en-US" altLang="zh-CN" dirty="0"/>
              <a:t>OF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SF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ZF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AF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PF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CF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</a:p>
          <a:p>
            <a:r>
              <a:rPr lang="en-US" altLang="zh-CN" dirty="0"/>
              <a:t> X</a:t>
            </a:r>
            <a:r>
              <a:rPr lang="zh-CN" altLang="en-US" dirty="0"/>
              <a:t>－</a:t>
            </a:r>
            <a:r>
              <a:rPr lang="en-US" altLang="zh-CN" dirty="0"/>
              <a:t>Y</a:t>
            </a:r>
            <a:r>
              <a:rPr lang="zh-CN" altLang="en-US" dirty="0"/>
              <a:t>＝</a:t>
            </a:r>
            <a:r>
              <a:rPr lang="en-US" altLang="zh-CN" dirty="0"/>
              <a:t>BFH</a:t>
            </a:r>
            <a:r>
              <a:rPr lang="zh-CN" altLang="en-US" dirty="0"/>
              <a:t>，各标志位分别为：</a:t>
            </a:r>
            <a:r>
              <a:rPr lang="en-US" altLang="zh-CN" dirty="0"/>
              <a:t>OF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SF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ZF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AF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PF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CF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9755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563D9B9-54AA-4AC7-BA1E-843C1C309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86" y="928914"/>
            <a:ext cx="11603595" cy="25000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F535858-791B-452D-8A77-D249B6513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904" y="3072492"/>
            <a:ext cx="9722030" cy="203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4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3C18E36-1BD9-4E2C-A511-81A83E4CC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306" y="1233714"/>
            <a:ext cx="11720718" cy="1393372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6FCBC7E-507A-45C6-8D1E-EA0C06564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1" y="1930400"/>
            <a:ext cx="2133599" cy="113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6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026">
            <a:extLst>
              <a:ext uri="{FF2B5EF4-FFF2-40B4-BE49-F238E27FC236}">
                <a16:creationId xmlns:a16="http://schemas.microsoft.com/office/drawing/2014/main" id="{A563525F-DA59-4C42-996F-3A6A87A384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2602" y="360346"/>
            <a:ext cx="7543800" cy="488950"/>
          </a:xfrm>
        </p:spPr>
        <p:txBody>
          <a:bodyPr/>
          <a:lstStyle/>
          <a:p>
            <a:pPr algn="l" eaLnBrk="1" hangingPunct="1"/>
            <a:r>
              <a:rPr lang="en-US" altLang="zh-CN" sz="2800" dirty="0">
                <a:latin typeface="+mn-lt"/>
                <a:ea typeface="+mn-ea"/>
                <a:cs typeface="+mn-cs"/>
              </a:rPr>
              <a:t>2.4</a:t>
            </a:r>
            <a:r>
              <a:rPr lang="zh-CN" altLang="en-US" sz="2800" dirty="0">
                <a:latin typeface="+mn-lt"/>
                <a:ea typeface="+mn-ea"/>
                <a:cs typeface="+mn-cs"/>
              </a:rPr>
              <a:t>  寄存器间接寻址示意图：</a:t>
            </a:r>
          </a:p>
        </p:txBody>
      </p:sp>
      <p:sp>
        <p:nvSpPr>
          <p:cNvPr id="30722" name="Rectangle 1027">
            <a:extLst>
              <a:ext uri="{FF2B5EF4-FFF2-40B4-BE49-F238E27FC236}">
                <a16:creationId xmlns:a16="http://schemas.microsoft.com/office/drawing/2014/main" id="{80460054-8E02-4673-95F2-40A2BCD3F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914" y="1066800"/>
            <a:ext cx="11454997" cy="2194037"/>
          </a:xfrm>
        </p:spPr>
        <p:txBody>
          <a:bodyPr>
            <a:normAutofit fontScale="92500"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例如：</a:t>
            </a:r>
            <a:r>
              <a:rPr lang="en-US" altLang="zh-CN" dirty="0"/>
              <a:t>MOV  AX，[BX]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若（</a:t>
            </a:r>
            <a:r>
              <a:rPr lang="en-US" altLang="zh-CN" dirty="0"/>
              <a:t>DS）＝2000H，（BX）＝1000H，</a:t>
            </a:r>
            <a:r>
              <a:rPr lang="zh-CN" altLang="en-US" dirty="0"/>
              <a:t>物理地址＝20000</a:t>
            </a:r>
            <a:r>
              <a:rPr lang="en-US" altLang="zh-CN" dirty="0"/>
              <a:t>H＋1000H＝21000H。</a:t>
            </a:r>
            <a:r>
              <a:rPr lang="zh-CN" altLang="en-US" dirty="0"/>
              <a:t>指令执行前，（</a:t>
            </a:r>
            <a:r>
              <a:rPr lang="en-US" altLang="zh-CN" dirty="0"/>
              <a:t>AX）＝2030H，（21000H）＝A0H，（21001H）＝50H，</a:t>
            </a:r>
            <a:r>
              <a:rPr lang="zh-CN" altLang="en-US" dirty="0"/>
              <a:t>指令执行后</a:t>
            </a:r>
            <a:r>
              <a:rPr lang="en-US" altLang="zh-CN" dirty="0"/>
              <a:t>(AX)</a:t>
            </a:r>
            <a:r>
              <a:rPr lang="zh-CN" altLang="en-US" dirty="0"/>
              <a:t>和（</a:t>
            </a:r>
            <a:r>
              <a:rPr lang="en-US" altLang="zh-CN" dirty="0"/>
              <a:t>21000H</a:t>
            </a:r>
            <a:r>
              <a:rPr lang="zh-CN" altLang="en-US" dirty="0"/>
              <a:t>）</a:t>
            </a:r>
            <a:r>
              <a:rPr lang="en-US" altLang="zh-CN" dirty="0"/>
              <a:t>(21001H)</a:t>
            </a:r>
            <a:r>
              <a:rPr lang="zh-CN" altLang="en-US" dirty="0"/>
              <a:t>的值分别是多少？</a:t>
            </a:r>
            <a:endParaRPr lang="en-US" altLang="zh-CN" dirty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</a:t>
            </a:r>
          </a:p>
        </p:txBody>
      </p:sp>
      <p:grpSp>
        <p:nvGrpSpPr>
          <p:cNvPr id="30723" name="Group 1030">
            <a:extLst>
              <a:ext uri="{FF2B5EF4-FFF2-40B4-BE49-F238E27FC236}">
                <a16:creationId xmlns:a16="http://schemas.microsoft.com/office/drawing/2014/main" id="{B621CA0E-9123-4972-8755-C76B8EA59C0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96279" y="3763777"/>
            <a:ext cx="5939367" cy="4042229"/>
            <a:chOff x="960" y="2112"/>
            <a:chExt cx="2928" cy="1728"/>
          </a:xfrm>
        </p:grpSpPr>
        <p:sp>
          <p:nvSpPr>
            <p:cNvPr id="30724" name="AutoShape 1029">
              <a:extLst>
                <a:ext uri="{FF2B5EF4-FFF2-40B4-BE49-F238E27FC236}">
                  <a16:creationId xmlns:a16="http://schemas.microsoft.com/office/drawing/2014/main" id="{BE6E3D72-FE91-40A8-B164-BC87ACA016A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960" y="2112"/>
              <a:ext cx="2928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25" name="Rectangle 1031">
              <a:extLst>
                <a:ext uri="{FF2B5EF4-FFF2-40B4-BE49-F238E27FC236}">
                  <a16:creationId xmlns:a16="http://schemas.microsoft.com/office/drawing/2014/main" id="{90066C31-344A-4F89-B852-76A3C3126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3" y="2146"/>
              <a:ext cx="16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AX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26" name="Rectangle 1032">
              <a:extLst>
                <a:ext uri="{FF2B5EF4-FFF2-40B4-BE49-F238E27FC236}">
                  <a16:creationId xmlns:a16="http://schemas.microsoft.com/office/drawing/2014/main" id="{940B8865-3766-4C2B-835E-EED4B62B9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4" y="2146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27" name="Rectangle 1033">
              <a:extLst>
                <a:ext uri="{FF2B5EF4-FFF2-40B4-BE49-F238E27FC236}">
                  <a16:creationId xmlns:a16="http://schemas.microsoft.com/office/drawing/2014/main" id="{59AEBF8C-72F8-471E-8E93-671C20822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" y="2146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28" name="Rectangle 1034">
              <a:extLst>
                <a:ext uri="{FF2B5EF4-FFF2-40B4-BE49-F238E27FC236}">
                  <a16:creationId xmlns:a16="http://schemas.microsoft.com/office/drawing/2014/main" id="{C81475CD-01EB-4C6E-A0F6-BB08D58A6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2112"/>
              <a:ext cx="5" cy="1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29" name="Line 1035">
              <a:extLst>
                <a:ext uri="{FF2B5EF4-FFF2-40B4-BE49-F238E27FC236}">
                  <a16:creationId xmlns:a16="http://schemas.microsoft.com/office/drawing/2014/main" id="{133E28E4-D189-4272-A0CD-265E7A4AA6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2112"/>
              <a:ext cx="1" cy="1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0" name="Rectangle 1036">
              <a:extLst>
                <a:ext uri="{FF2B5EF4-FFF2-40B4-BE49-F238E27FC236}">
                  <a16:creationId xmlns:a16="http://schemas.microsoft.com/office/drawing/2014/main" id="{C62E36FD-6D5A-4746-81F8-B2FCBFBAA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112"/>
              <a:ext cx="5" cy="1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31" name="Line 1037">
              <a:extLst>
                <a:ext uri="{FF2B5EF4-FFF2-40B4-BE49-F238E27FC236}">
                  <a16:creationId xmlns:a16="http://schemas.microsoft.com/office/drawing/2014/main" id="{1DE61113-708F-4AB7-BDC0-EA4F3F85FD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112"/>
              <a:ext cx="1" cy="1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2" name="Rectangle 1038">
              <a:extLst>
                <a:ext uri="{FF2B5EF4-FFF2-40B4-BE49-F238E27FC236}">
                  <a16:creationId xmlns:a16="http://schemas.microsoft.com/office/drawing/2014/main" id="{C9B2CBCD-6518-4495-9155-3C390CE08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2338"/>
              <a:ext cx="16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AH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3" name="Rectangle 1039">
              <a:extLst>
                <a:ext uri="{FF2B5EF4-FFF2-40B4-BE49-F238E27FC236}">
                  <a16:creationId xmlns:a16="http://schemas.microsoft.com/office/drawing/2014/main" id="{AE22386B-B5D9-4027-9502-F08B17A85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7" y="2338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4" name="Rectangle 1040">
              <a:extLst>
                <a:ext uri="{FF2B5EF4-FFF2-40B4-BE49-F238E27FC236}">
                  <a16:creationId xmlns:a16="http://schemas.microsoft.com/office/drawing/2014/main" id="{61E066B3-4BB6-4879-961B-C646BC534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338"/>
              <a:ext cx="15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AL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5" name="Rectangle 1041">
              <a:extLst>
                <a:ext uri="{FF2B5EF4-FFF2-40B4-BE49-F238E27FC236}">
                  <a16:creationId xmlns:a16="http://schemas.microsoft.com/office/drawing/2014/main" id="{F481DF41-4F06-4B71-A87C-D9056C39B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2338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6" name="Rectangle 1042">
              <a:extLst>
                <a:ext uri="{FF2B5EF4-FFF2-40B4-BE49-F238E27FC236}">
                  <a16:creationId xmlns:a16="http://schemas.microsoft.com/office/drawing/2014/main" id="{B8EA0C09-A7A8-4CC0-922B-E7260BDB7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9" y="2338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7" name="Rectangle 1043">
              <a:extLst>
                <a:ext uri="{FF2B5EF4-FFF2-40B4-BE49-F238E27FC236}">
                  <a16:creationId xmlns:a16="http://schemas.microsoft.com/office/drawing/2014/main" id="{7DA8447D-B2D0-4C77-AEDA-DC1569720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" y="2299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38" name="Line 1044">
              <a:extLst>
                <a:ext uri="{FF2B5EF4-FFF2-40B4-BE49-F238E27FC236}">
                  <a16:creationId xmlns:a16="http://schemas.microsoft.com/office/drawing/2014/main" id="{DCEDE5EE-7AE0-4370-966A-FDEAC22286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5" y="2299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9" name="Line 1045">
              <a:extLst>
                <a:ext uri="{FF2B5EF4-FFF2-40B4-BE49-F238E27FC236}">
                  <a16:creationId xmlns:a16="http://schemas.microsoft.com/office/drawing/2014/main" id="{FC0E7E4A-7D12-473A-8303-96F8F2120E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5" y="2299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0" name="Rectangle 1046">
              <a:extLst>
                <a:ext uri="{FF2B5EF4-FFF2-40B4-BE49-F238E27FC236}">
                  <a16:creationId xmlns:a16="http://schemas.microsoft.com/office/drawing/2014/main" id="{50B95EAD-2674-463E-99C6-8CEE2029E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" y="2299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41" name="Line 1047">
              <a:extLst>
                <a:ext uri="{FF2B5EF4-FFF2-40B4-BE49-F238E27FC236}">
                  <a16:creationId xmlns:a16="http://schemas.microsoft.com/office/drawing/2014/main" id="{FF710336-14E7-40CC-8F3F-2DB4F8D1CF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5" y="2299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2" name="Line 1048">
              <a:extLst>
                <a:ext uri="{FF2B5EF4-FFF2-40B4-BE49-F238E27FC236}">
                  <a16:creationId xmlns:a16="http://schemas.microsoft.com/office/drawing/2014/main" id="{025DA1D3-6F05-4335-8289-64FDDEE56E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5" y="2299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3" name="Rectangle 1049">
              <a:extLst>
                <a:ext uri="{FF2B5EF4-FFF2-40B4-BE49-F238E27FC236}">
                  <a16:creationId xmlns:a16="http://schemas.microsoft.com/office/drawing/2014/main" id="{4CA24C1A-0799-40E9-95FE-D59AE001D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2299"/>
              <a:ext cx="443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44" name="Line 1050">
              <a:extLst>
                <a:ext uri="{FF2B5EF4-FFF2-40B4-BE49-F238E27FC236}">
                  <a16:creationId xmlns:a16="http://schemas.microsoft.com/office/drawing/2014/main" id="{0512C0CB-83BF-4AC1-919B-EF7D956E7C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" y="2299"/>
              <a:ext cx="4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5" name="Rectangle 1051">
              <a:extLst>
                <a:ext uri="{FF2B5EF4-FFF2-40B4-BE49-F238E27FC236}">
                  <a16:creationId xmlns:a16="http://schemas.microsoft.com/office/drawing/2014/main" id="{F0418132-8550-40B9-9B68-FC236A71B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3" y="2299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46" name="Line 1052">
              <a:extLst>
                <a:ext uri="{FF2B5EF4-FFF2-40B4-BE49-F238E27FC236}">
                  <a16:creationId xmlns:a16="http://schemas.microsoft.com/office/drawing/2014/main" id="{C389E179-E619-4D25-8BB5-986EEA1377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3" y="2299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Line 1053">
              <a:extLst>
                <a:ext uri="{FF2B5EF4-FFF2-40B4-BE49-F238E27FC236}">
                  <a16:creationId xmlns:a16="http://schemas.microsoft.com/office/drawing/2014/main" id="{8E8F4B29-2033-4C3E-A5BB-1AF9AA2E91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3" y="2299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8" name="Rectangle 1054">
              <a:extLst>
                <a:ext uri="{FF2B5EF4-FFF2-40B4-BE49-F238E27FC236}">
                  <a16:creationId xmlns:a16="http://schemas.microsoft.com/office/drawing/2014/main" id="{964CA20A-8654-41AA-A0CC-CF0CC02CF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" y="2299"/>
              <a:ext cx="232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49" name="Line 1055">
              <a:extLst>
                <a:ext uri="{FF2B5EF4-FFF2-40B4-BE49-F238E27FC236}">
                  <a16:creationId xmlns:a16="http://schemas.microsoft.com/office/drawing/2014/main" id="{9727CF79-5691-4C65-991B-8098044C4E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8" y="2299"/>
              <a:ext cx="23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0" name="Rectangle 1056">
              <a:extLst>
                <a:ext uri="{FF2B5EF4-FFF2-40B4-BE49-F238E27FC236}">
                  <a16:creationId xmlns:a16="http://schemas.microsoft.com/office/drawing/2014/main" id="{D6BE53AF-C07F-4159-BE77-B48D88888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" y="2299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51" name="Line 1057">
              <a:extLst>
                <a:ext uri="{FF2B5EF4-FFF2-40B4-BE49-F238E27FC236}">
                  <a16:creationId xmlns:a16="http://schemas.microsoft.com/office/drawing/2014/main" id="{14917133-89C2-4639-A38B-6631D4AF92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2299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2" name="Line 1058">
              <a:extLst>
                <a:ext uri="{FF2B5EF4-FFF2-40B4-BE49-F238E27FC236}">
                  <a16:creationId xmlns:a16="http://schemas.microsoft.com/office/drawing/2014/main" id="{3DC43472-5805-4816-9B88-4FD6ECC5C1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2299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3" name="Rectangle 1059">
              <a:extLst>
                <a:ext uri="{FF2B5EF4-FFF2-40B4-BE49-F238E27FC236}">
                  <a16:creationId xmlns:a16="http://schemas.microsoft.com/office/drawing/2014/main" id="{5BFB72D9-069F-4E24-81AB-8C16FEDF4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5" y="2299"/>
              <a:ext cx="236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54" name="Line 1060">
              <a:extLst>
                <a:ext uri="{FF2B5EF4-FFF2-40B4-BE49-F238E27FC236}">
                  <a16:creationId xmlns:a16="http://schemas.microsoft.com/office/drawing/2014/main" id="{1708AE33-58DF-42DB-A0D6-52EFDAE0D7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5" y="2299"/>
              <a:ext cx="2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5" name="Rectangle 1061">
              <a:extLst>
                <a:ext uri="{FF2B5EF4-FFF2-40B4-BE49-F238E27FC236}">
                  <a16:creationId xmlns:a16="http://schemas.microsoft.com/office/drawing/2014/main" id="{A824181F-ABEF-4582-A3B1-74124520B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1" y="2299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56" name="Line 1062">
              <a:extLst>
                <a:ext uri="{FF2B5EF4-FFF2-40B4-BE49-F238E27FC236}">
                  <a16:creationId xmlns:a16="http://schemas.microsoft.com/office/drawing/2014/main" id="{1E5F905C-694A-4E56-9448-FFC93974CF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1" y="2299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7" name="Line 1063">
              <a:extLst>
                <a:ext uri="{FF2B5EF4-FFF2-40B4-BE49-F238E27FC236}">
                  <a16:creationId xmlns:a16="http://schemas.microsoft.com/office/drawing/2014/main" id="{7DE06B41-CC76-495B-B339-23EBFDDC4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1" y="2299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8" name="Rectangle 1064">
              <a:extLst>
                <a:ext uri="{FF2B5EF4-FFF2-40B4-BE49-F238E27FC236}">
                  <a16:creationId xmlns:a16="http://schemas.microsoft.com/office/drawing/2014/main" id="{7D5B1629-BA31-4EE7-AB15-63641EB3F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1" y="2299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59" name="Line 1065">
              <a:extLst>
                <a:ext uri="{FF2B5EF4-FFF2-40B4-BE49-F238E27FC236}">
                  <a16:creationId xmlns:a16="http://schemas.microsoft.com/office/drawing/2014/main" id="{B3034072-2D91-4A29-B1E4-549C2DF61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1" y="2299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0" name="Line 1066">
              <a:extLst>
                <a:ext uri="{FF2B5EF4-FFF2-40B4-BE49-F238E27FC236}">
                  <a16:creationId xmlns:a16="http://schemas.microsoft.com/office/drawing/2014/main" id="{BF9B727D-47EA-4AE5-AF3A-52086AFDB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1" y="2299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1" name="Rectangle 1067">
              <a:extLst>
                <a:ext uri="{FF2B5EF4-FFF2-40B4-BE49-F238E27FC236}">
                  <a16:creationId xmlns:a16="http://schemas.microsoft.com/office/drawing/2014/main" id="{E58ED9AF-7B45-40A5-AE6B-756A20B33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2299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62" name="Line 1068">
              <a:extLst>
                <a:ext uri="{FF2B5EF4-FFF2-40B4-BE49-F238E27FC236}">
                  <a16:creationId xmlns:a16="http://schemas.microsoft.com/office/drawing/2014/main" id="{E1C5B6D3-7616-4892-9D4B-F47C5347EC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2299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3" name="Line 1069">
              <a:extLst>
                <a:ext uri="{FF2B5EF4-FFF2-40B4-BE49-F238E27FC236}">
                  <a16:creationId xmlns:a16="http://schemas.microsoft.com/office/drawing/2014/main" id="{03D6FBBC-5422-42A2-BA37-AA1F6542E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2299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4" name="Rectangle 1070">
              <a:extLst>
                <a:ext uri="{FF2B5EF4-FFF2-40B4-BE49-F238E27FC236}">
                  <a16:creationId xmlns:a16="http://schemas.microsoft.com/office/drawing/2014/main" id="{600E5DEE-0EAD-4DE9-A262-CCF873C21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299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65" name="Line 1071">
              <a:extLst>
                <a:ext uri="{FF2B5EF4-FFF2-40B4-BE49-F238E27FC236}">
                  <a16:creationId xmlns:a16="http://schemas.microsoft.com/office/drawing/2014/main" id="{0FADEB92-DFBF-42FA-B42A-422A7F8AA4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299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6" name="Line 1072">
              <a:extLst>
                <a:ext uri="{FF2B5EF4-FFF2-40B4-BE49-F238E27FC236}">
                  <a16:creationId xmlns:a16="http://schemas.microsoft.com/office/drawing/2014/main" id="{CA984952-78AA-4227-8EFC-ED1A21D6A2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299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7" name="Rectangle 1073">
              <a:extLst>
                <a:ext uri="{FF2B5EF4-FFF2-40B4-BE49-F238E27FC236}">
                  <a16:creationId xmlns:a16="http://schemas.microsoft.com/office/drawing/2014/main" id="{353C6BCD-8792-4982-8FC3-BA95ED0F1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" y="2304"/>
              <a:ext cx="5" cy="1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68" name="Line 1074">
              <a:extLst>
                <a:ext uri="{FF2B5EF4-FFF2-40B4-BE49-F238E27FC236}">
                  <a16:creationId xmlns:a16="http://schemas.microsoft.com/office/drawing/2014/main" id="{B7823F30-3BF4-4E27-BB52-E5F815CEEB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5" y="2304"/>
              <a:ext cx="1" cy="1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9" name="Rectangle 1075">
              <a:extLst>
                <a:ext uri="{FF2B5EF4-FFF2-40B4-BE49-F238E27FC236}">
                  <a16:creationId xmlns:a16="http://schemas.microsoft.com/office/drawing/2014/main" id="{C29F9086-D8FC-4E9C-8C44-48D9E29CC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3" y="2304"/>
              <a:ext cx="5" cy="1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70" name="Line 1076">
              <a:extLst>
                <a:ext uri="{FF2B5EF4-FFF2-40B4-BE49-F238E27FC236}">
                  <a16:creationId xmlns:a16="http://schemas.microsoft.com/office/drawing/2014/main" id="{137194FE-1BE8-44E1-A6B4-CAD8B5BA37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3" y="2304"/>
              <a:ext cx="1" cy="1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1" name="Rectangle 1077">
              <a:extLst>
                <a:ext uri="{FF2B5EF4-FFF2-40B4-BE49-F238E27FC236}">
                  <a16:creationId xmlns:a16="http://schemas.microsoft.com/office/drawing/2014/main" id="{D1DFC4AA-32BB-4954-AE4F-FBAF46BA0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1" y="2304"/>
              <a:ext cx="5" cy="1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72" name="Line 1078">
              <a:extLst>
                <a:ext uri="{FF2B5EF4-FFF2-40B4-BE49-F238E27FC236}">
                  <a16:creationId xmlns:a16="http://schemas.microsoft.com/office/drawing/2014/main" id="{A57CDA11-6FB2-419E-AEFA-72DD47AB3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1" y="2304"/>
              <a:ext cx="1" cy="1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3" name="Rectangle 1079">
              <a:extLst>
                <a:ext uri="{FF2B5EF4-FFF2-40B4-BE49-F238E27FC236}">
                  <a16:creationId xmlns:a16="http://schemas.microsoft.com/office/drawing/2014/main" id="{2427ECBE-3CD9-4DAC-8DF8-799D34C94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2304"/>
              <a:ext cx="5" cy="1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74" name="Line 1080">
              <a:extLst>
                <a:ext uri="{FF2B5EF4-FFF2-40B4-BE49-F238E27FC236}">
                  <a16:creationId xmlns:a16="http://schemas.microsoft.com/office/drawing/2014/main" id="{5C547FDF-3086-4D4D-A8D4-164D6867C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2304"/>
              <a:ext cx="1" cy="1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5" name="Rectangle 1081">
              <a:extLst>
                <a:ext uri="{FF2B5EF4-FFF2-40B4-BE49-F238E27FC236}">
                  <a16:creationId xmlns:a16="http://schemas.microsoft.com/office/drawing/2014/main" id="{4943C3FA-8671-49B6-A279-D55F0B961F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304"/>
              <a:ext cx="5" cy="1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76" name="Line 1082">
              <a:extLst>
                <a:ext uri="{FF2B5EF4-FFF2-40B4-BE49-F238E27FC236}">
                  <a16:creationId xmlns:a16="http://schemas.microsoft.com/office/drawing/2014/main" id="{CD721F84-325C-4290-B6DA-2EFD0E6150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304"/>
              <a:ext cx="1" cy="1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7" name="Rectangle 1083">
              <a:extLst>
                <a:ext uri="{FF2B5EF4-FFF2-40B4-BE49-F238E27FC236}">
                  <a16:creationId xmlns:a16="http://schemas.microsoft.com/office/drawing/2014/main" id="{D08FCC6C-5607-409D-9BD3-D56818EA3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9" y="2530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78" name="Rectangle 1084">
              <a:extLst>
                <a:ext uri="{FF2B5EF4-FFF2-40B4-BE49-F238E27FC236}">
                  <a16:creationId xmlns:a16="http://schemas.microsoft.com/office/drawing/2014/main" id="{F923A7BA-C0D1-4BD7-9EA5-0704DCD32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0" y="2342"/>
              <a:ext cx="339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数据段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79" name="Rectangle 1085">
              <a:extLst>
                <a:ext uri="{FF2B5EF4-FFF2-40B4-BE49-F238E27FC236}">
                  <a16:creationId xmlns:a16="http://schemas.microsoft.com/office/drawing/2014/main" id="{B0C57693-3456-4D12-AB66-A397F3205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8" y="2342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0" name="Rectangle 1086">
              <a:extLst>
                <a:ext uri="{FF2B5EF4-FFF2-40B4-BE49-F238E27FC236}">
                  <a16:creationId xmlns:a16="http://schemas.microsoft.com/office/drawing/2014/main" id="{A7E0B805-206D-4715-9725-3A70162C8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9" y="2342"/>
              <a:ext cx="45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物理地址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1" name="Rectangle 1087">
              <a:extLst>
                <a:ext uri="{FF2B5EF4-FFF2-40B4-BE49-F238E27FC236}">
                  <a16:creationId xmlns:a16="http://schemas.microsoft.com/office/drawing/2014/main" id="{A39E89CC-EDBD-43B4-A158-86F65C17C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2" y="2342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2" name="Rectangle 1088">
              <a:extLst>
                <a:ext uri="{FF2B5EF4-FFF2-40B4-BE49-F238E27FC236}">
                  <a16:creationId xmlns:a16="http://schemas.microsoft.com/office/drawing/2014/main" id="{349C8F65-FD8D-4E9E-8A6F-FD487FE3E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" y="2491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83" name="Line 1089">
              <a:extLst>
                <a:ext uri="{FF2B5EF4-FFF2-40B4-BE49-F238E27FC236}">
                  <a16:creationId xmlns:a16="http://schemas.microsoft.com/office/drawing/2014/main" id="{D727391E-920F-4C32-9AD6-FBE153F91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5" y="249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4" name="Line 1090">
              <a:extLst>
                <a:ext uri="{FF2B5EF4-FFF2-40B4-BE49-F238E27FC236}">
                  <a16:creationId xmlns:a16="http://schemas.microsoft.com/office/drawing/2014/main" id="{B117368E-452F-488D-8A7A-D0F295E1AC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5" y="2491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5" name="Rectangle 1091">
              <a:extLst>
                <a:ext uri="{FF2B5EF4-FFF2-40B4-BE49-F238E27FC236}">
                  <a16:creationId xmlns:a16="http://schemas.microsoft.com/office/drawing/2014/main" id="{8F755D9D-B521-4562-98F9-43D452A73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" y="2491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86" name="Line 1092">
              <a:extLst>
                <a:ext uri="{FF2B5EF4-FFF2-40B4-BE49-F238E27FC236}">
                  <a16:creationId xmlns:a16="http://schemas.microsoft.com/office/drawing/2014/main" id="{ED2C9185-D313-442D-8D4F-46550B3F7B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5" y="249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7" name="Line 1093">
              <a:extLst>
                <a:ext uri="{FF2B5EF4-FFF2-40B4-BE49-F238E27FC236}">
                  <a16:creationId xmlns:a16="http://schemas.microsoft.com/office/drawing/2014/main" id="{0B4EAC8B-B137-4339-87BD-7516B1407D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5" y="2491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8" name="Rectangle 1094">
              <a:extLst>
                <a:ext uri="{FF2B5EF4-FFF2-40B4-BE49-F238E27FC236}">
                  <a16:creationId xmlns:a16="http://schemas.microsoft.com/office/drawing/2014/main" id="{6DC2FAE0-2424-479D-8F6F-DF6BACC12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2491"/>
              <a:ext cx="443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89" name="Line 1095">
              <a:extLst>
                <a:ext uri="{FF2B5EF4-FFF2-40B4-BE49-F238E27FC236}">
                  <a16:creationId xmlns:a16="http://schemas.microsoft.com/office/drawing/2014/main" id="{3E444AED-ADE8-4614-9E41-151EE21A2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" y="2491"/>
              <a:ext cx="4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0" name="Rectangle 1096">
              <a:extLst>
                <a:ext uri="{FF2B5EF4-FFF2-40B4-BE49-F238E27FC236}">
                  <a16:creationId xmlns:a16="http://schemas.microsoft.com/office/drawing/2014/main" id="{593EC34B-9A46-4DE6-B3D8-348855AF8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3" y="2491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91" name="Line 1097">
              <a:extLst>
                <a:ext uri="{FF2B5EF4-FFF2-40B4-BE49-F238E27FC236}">
                  <a16:creationId xmlns:a16="http://schemas.microsoft.com/office/drawing/2014/main" id="{150296E7-7628-478A-8588-078D63253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3" y="249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2" name="Line 1098">
              <a:extLst>
                <a:ext uri="{FF2B5EF4-FFF2-40B4-BE49-F238E27FC236}">
                  <a16:creationId xmlns:a16="http://schemas.microsoft.com/office/drawing/2014/main" id="{15AF645D-991A-4EB9-925D-4E37E77199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3" y="2491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3" name="Rectangle 1099">
              <a:extLst>
                <a:ext uri="{FF2B5EF4-FFF2-40B4-BE49-F238E27FC236}">
                  <a16:creationId xmlns:a16="http://schemas.microsoft.com/office/drawing/2014/main" id="{28175660-9343-49C9-AB7E-C91A66665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" y="2491"/>
              <a:ext cx="473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94" name="Line 1100">
              <a:extLst>
                <a:ext uri="{FF2B5EF4-FFF2-40B4-BE49-F238E27FC236}">
                  <a16:creationId xmlns:a16="http://schemas.microsoft.com/office/drawing/2014/main" id="{0B253D1C-6E85-43F5-815F-96C98EEBD4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8" y="2491"/>
              <a:ext cx="47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0795" name="Rectangle 1101">
              <a:extLst>
                <a:ext uri="{FF2B5EF4-FFF2-40B4-BE49-F238E27FC236}">
                  <a16:creationId xmlns:a16="http://schemas.microsoft.com/office/drawing/2014/main" id="{E001A028-2F70-4E2A-AFE7-3F65BC06D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1" y="2491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96" name="Line 1102">
              <a:extLst>
                <a:ext uri="{FF2B5EF4-FFF2-40B4-BE49-F238E27FC236}">
                  <a16:creationId xmlns:a16="http://schemas.microsoft.com/office/drawing/2014/main" id="{C0818526-00A0-4B75-B5B7-182CECD292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1" y="249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7" name="Line 1103">
              <a:extLst>
                <a:ext uri="{FF2B5EF4-FFF2-40B4-BE49-F238E27FC236}">
                  <a16:creationId xmlns:a16="http://schemas.microsoft.com/office/drawing/2014/main" id="{8E50BFAE-FFEC-489B-9C26-BD890886B6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1" y="2491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8" name="Rectangle 1104">
              <a:extLst>
                <a:ext uri="{FF2B5EF4-FFF2-40B4-BE49-F238E27FC236}">
                  <a16:creationId xmlns:a16="http://schemas.microsoft.com/office/drawing/2014/main" id="{0A79103D-E19B-4E7C-A0A2-0F07B119D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1" y="2491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799" name="Line 1105">
              <a:extLst>
                <a:ext uri="{FF2B5EF4-FFF2-40B4-BE49-F238E27FC236}">
                  <a16:creationId xmlns:a16="http://schemas.microsoft.com/office/drawing/2014/main" id="{C9674CF3-0BA8-41C6-A884-9AF64A72E5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1" y="249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0" name="Line 1106">
              <a:extLst>
                <a:ext uri="{FF2B5EF4-FFF2-40B4-BE49-F238E27FC236}">
                  <a16:creationId xmlns:a16="http://schemas.microsoft.com/office/drawing/2014/main" id="{2800FF49-60E5-439E-B4C0-CD53B4FF4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1" y="2491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1" name="Rectangle 1107">
              <a:extLst>
                <a:ext uri="{FF2B5EF4-FFF2-40B4-BE49-F238E27FC236}">
                  <a16:creationId xmlns:a16="http://schemas.microsoft.com/office/drawing/2014/main" id="{EAE246B3-0235-49D0-BC70-D21F45D86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2491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02" name="Line 1108">
              <a:extLst>
                <a:ext uri="{FF2B5EF4-FFF2-40B4-BE49-F238E27FC236}">
                  <a16:creationId xmlns:a16="http://schemas.microsoft.com/office/drawing/2014/main" id="{DFD74C6C-2E49-43DC-A881-A0840C79BC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249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3" name="Line 1109">
              <a:extLst>
                <a:ext uri="{FF2B5EF4-FFF2-40B4-BE49-F238E27FC236}">
                  <a16:creationId xmlns:a16="http://schemas.microsoft.com/office/drawing/2014/main" id="{E119E6EB-20D4-4691-AE66-018C2C246C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2491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4" name="Rectangle 1110">
              <a:extLst>
                <a:ext uri="{FF2B5EF4-FFF2-40B4-BE49-F238E27FC236}">
                  <a16:creationId xmlns:a16="http://schemas.microsoft.com/office/drawing/2014/main" id="{5571C7C6-3588-4CD3-8A73-07FA6537E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491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05" name="Line 1111">
              <a:extLst>
                <a:ext uri="{FF2B5EF4-FFF2-40B4-BE49-F238E27FC236}">
                  <a16:creationId xmlns:a16="http://schemas.microsoft.com/office/drawing/2014/main" id="{09B2C5B3-C435-407C-8336-5FC1DB848F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49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6" name="Line 1112">
              <a:extLst>
                <a:ext uri="{FF2B5EF4-FFF2-40B4-BE49-F238E27FC236}">
                  <a16:creationId xmlns:a16="http://schemas.microsoft.com/office/drawing/2014/main" id="{FE449576-AA02-46FB-8E67-97317A9ADF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491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7" name="Rectangle 1113">
              <a:extLst>
                <a:ext uri="{FF2B5EF4-FFF2-40B4-BE49-F238E27FC236}">
                  <a16:creationId xmlns:a16="http://schemas.microsoft.com/office/drawing/2014/main" id="{C29C8BF2-012A-4B08-A89E-C4EEA4B29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2496"/>
              <a:ext cx="5" cy="1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08" name="Line 1114">
              <a:extLst>
                <a:ext uri="{FF2B5EF4-FFF2-40B4-BE49-F238E27FC236}">
                  <a16:creationId xmlns:a16="http://schemas.microsoft.com/office/drawing/2014/main" id="{CA3FFB43-63B1-4128-96B6-6DFBDB8EBC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2496"/>
              <a:ext cx="1" cy="1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9" name="Rectangle 1115">
              <a:extLst>
                <a:ext uri="{FF2B5EF4-FFF2-40B4-BE49-F238E27FC236}">
                  <a16:creationId xmlns:a16="http://schemas.microsoft.com/office/drawing/2014/main" id="{F7FDEA50-9929-4B60-A11C-886008F7D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496"/>
              <a:ext cx="5" cy="1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10" name="Line 1116">
              <a:extLst>
                <a:ext uri="{FF2B5EF4-FFF2-40B4-BE49-F238E27FC236}">
                  <a16:creationId xmlns:a16="http://schemas.microsoft.com/office/drawing/2014/main" id="{DEE168E6-7084-4994-80E2-186147382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496"/>
              <a:ext cx="1" cy="1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1" name="Rectangle 1117">
              <a:extLst>
                <a:ext uri="{FF2B5EF4-FFF2-40B4-BE49-F238E27FC236}">
                  <a16:creationId xmlns:a16="http://schemas.microsoft.com/office/drawing/2014/main" id="{5150FC73-3D52-4862-B79B-EBCC1D99C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722"/>
              <a:ext cx="22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A0H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12" name="Rectangle 1118">
              <a:extLst>
                <a:ext uri="{FF2B5EF4-FFF2-40B4-BE49-F238E27FC236}">
                  <a16:creationId xmlns:a16="http://schemas.microsoft.com/office/drawing/2014/main" id="{4158E460-AD97-4898-B279-6666DDE75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7" y="2722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13" name="Rectangle 1119">
              <a:extLst>
                <a:ext uri="{FF2B5EF4-FFF2-40B4-BE49-F238E27FC236}">
                  <a16:creationId xmlns:a16="http://schemas.microsoft.com/office/drawing/2014/main" id="{A679481B-00CB-43ED-9D5F-85E5EAD0E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9" y="2722"/>
              <a:ext cx="36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21000H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14" name="Rectangle 1120">
              <a:extLst>
                <a:ext uri="{FF2B5EF4-FFF2-40B4-BE49-F238E27FC236}">
                  <a16:creationId xmlns:a16="http://schemas.microsoft.com/office/drawing/2014/main" id="{A72E5257-3ECE-49C4-B3E3-F759DD7D9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1" y="2722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15" name="Rectangle 1121">
              <a:extLst>
                <a:ext uri="{FF2B5EF4-FFF2-40B4-BE49-F238E27FC236}">
                  <a16:creationId xmlns:a16="http://schemas.microsoft.com/office/drawing/2014/main" id="{845ABA7F-FD5E-43CA-B227-84071D2C7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2683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16" name="Line 1122">
              <a:extLst>
                <a:ext uri="{FF2B5EF4-FFF2-40B4-BE49-F238E27FC236}">
                  <a16:creationId xmlns:a16="http://schemas.microsoft.com/office/drawing/2014/main" id="{9ADFFD48-8202-445B-856F-A5B34E3B23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2683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7" name="Line 1123">
              <a:extLst>
                <a:ext uri="{FF2B5EF4-FFF2-40B4-BE49-F238E27FC236}">
                  <a16:creationId xmlns:a16="http://schemas.microsoft.com/office/drawing/2014/main" id="{16A3FD7A-66A5-4EF5-BD9D-93BECF09A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2683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8" name="Rectangle 1124">
              <a:extLst>
                <a:ext uri="{FF2B5EF4-FFF2-40B4-BE49-F238E27FC236}">
                  <a16:creationId xmlns:a16="http://schemas.microsoft.com/office/drawing/2014/main" id="{895FC66E-D470-4DC0-A4CE-EECD5872F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0" y="2683"/>
              <a:ext cx="578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19" name="Line 1125">
              <a:extLst>
                <a:ext uri="{FF2B5EF4-FFF2-40B4-BE49-F238E27FC236}">
                  <a16:creationId xmlns:a16="http://schemas.microsoft.com/office/drawing/2014/main" id="{CC99750B-BB96-4222-86A4-035D39DD58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0" y="2683"/>
              <a:ext cx="57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0" name="Rectangle 1126">
              <a:extLst>
                <a:ext uri="{FF2B5EF4-FFF2-40B4-BE49-F238E27FC236}">
                  <a16:creationId xmlns:a16="http://schemas.microsoft.com/office/drawing/2014/main" id="{D2352A72-490E-445F-A2A0-DCEEF66B9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683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21" name="Line 1127">
              <a:extLst>
                <a:ext uri="{FF2B5EF4-FFF2-40B4-BE49-F238E27FC236}">
                  <a16:creationId xmlns:a16="http://schemas.microsoft.com/office/drawing/2014/main" id="{8B3D89D3-3819-4CFB-BDD0-759FF35C0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683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2" name="Line 1128">
              <a:extLst>
                <a:ext uri="{FF2B5EF4-FFF2-40B4-BE49-F238E27FC236}">
                  <a16:creationId xmlns:a16="http://schemas.microsoft.com/office/drawing/2014/main" id="{CE71D72C-6DE2-4BEC-A2EA-2519DDD37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683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3" name="Rectangle 1129">
              <a:extLst>
                <a:ext uri="{FF2B5EF4-FFF2-40B4-BE49-F238E27FC236}">
                  <a16:creationId xmlns:a16="http://schemas.microsoft.com/office/drawing/2014/main" id="{76D1D831-96F9-4589-8C9A-E6ACBAB3F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2688"/>
              <a:ext cx="5" cy="1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24" name="Line 1130">
              <a:extLst>
                <a:ext uri="{FF2B5EF4-FFF2-40B4-BE49-F238E27FC236}">
                  <a16:creationId xmlns:a16="http://schemas.microsoft.com/office/drawing/2014/main" id="{7669D2E6-AE68-49CE-A23E-DCB1BB1D1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2688"/>
              <a:ext cx="1" cy="19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5" name="Rectangle 1131">
              <a:extLst>
                <a:ext uri="{FF2B5EF4-FFF2-40B4-BE49-F238E27FC236}">
                  <a16:creationId xmlns:a16="http://schemas.microsoft.com/office/drawing/2014/main" id="{013C58C4-9F20-49A0-BB1D-19D647135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688"/>
              <a:ext cx="5" cy="1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26" name="Line 1132">
              <a:extLst>
                <a:ext uri="{FF2B5EF4-FFF2-40B4-BE49-F238E27FC236}">
                  <a16:creationId xmlns:a16="http://schemas.microsoft.com/office/drawing/2014/main" id="{A677E070-6119-4017-B927-58851B54AF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688"/>
              <a:ext cx="1" cy="19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7" name="Rectangle 1133">
              <a:extLst>
                <a:ext uri="{FF2B5EF4-FFF2-40B4-BE49-F238E27FC236}">
                  <a16:creationId xmlns:a16="http://schemas.microsoft.com/office/drawing/2014/main" id="{263D9E7A-4CCD-4ACE-B49B-E9FFD01B7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" y="2918"/>
              <a:ext cx="19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50H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28" name="Rectangle 1134">
              <a:extLst>
                <a:ext uri="{FF2B5EF4-FFF2-40B4-BE49-F238E27FC236}">
                  <a16:creationId xmlns:a16="http://schemas.microsoft.com/office/drawing/2014/main" id="{AAA195F4-99FB-4446-813A-509955320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7" y="2918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29" name="Rectangle 1135">
              <a:extLst>
                <a:ext uri="{FF2B5EF4-FFF2-40B4-BE49-F238E27FC236}">
                  <a16:creationId xmlns:a16="http://schemas.microsoft.com/office/drawing/2014/main" id="{4916E036-FB48-40C3-AA36-E629A73C9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9" y="2918"/>
              <a:ext cx="36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21001H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30" name="Rectangle 1136">
              <a:extLst>
                <a:ext uri="{FF2B5EF4-FFF2-40B4-BE49-F238E27FC236}">
                  <a16:creationId xmlns:a16="http://schemas.microsoft.com/office/drawing/2014/main" id="{7BD95501-E895-4153-88B5-EA922FE46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1" y="2918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31" name="Rectangle 1137">
              <a:extLst>
                <a:ext uri="{FF2B5EF4-FFF2-40B4-BE49-F238E27FC236}">
                  <a16:creationId xmlns:a16="http://schemas.microsoft.com/office/drawing/2014/main" id="{CA2D53EE-1280-44AA-9D4E-3DA9995B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2880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32" name="Line 1138">
              <a:extLst>
                <a:ext uri="{FF2B5EF4-FFF2-40B4-BE49-F238E27FC236}">
                  <a16:creationId xmlns:a16="http://schemas.microsoft.com/office/drawing/2014/main" id="{C4CB1E6B-B2E1-4D5C-BD1F-C2CE01C0B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2880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3" name="Line 1139">
              <a:extLst>
                <a:ext uri="{FF2B5EF4-FFF2-40B4-BE49-F238E27FC236}">
                  <a16:creationId xmlns:a16="http://schemas.microsoft.com/office/drawing/2014/main" id="{6E19FB53-21C3-4D8F-8A75-036F4CF65A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2880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4" name="Rectangle 1140">
              <a:extLst>
                <a:ext uri="{FF2B5EF4-FFF2-40B4-BE49-F238E27FC236}">
                  <a16:creationId xmlns:a16="http://schemas.microsoft.com/office/drawing/2014/main" id="{927AD407-433E-493B-851C-AD9E631D7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0" y="2880"/>
              <a:ext cx="578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35" name="Line 1141">
              <a:extLst>
                <a:ext uri="{FF2B5EF4-FFF2-40B4-BE49-F238E27FC236}">
                  <a16:creationId xmlns:a16="http://schemas.microsoft.com/office/drawing/2014/main" id="{BE20630A-2FE7-40D7-82D6-650C4F6670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0" y="2880"/>
              <a:ext cx="57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6" name="Rectangle 1142">
              <a:extLst>
                <a:ext uri="{FF2B5EF4-FFF2-40B4-BE49-F238E27FC236}">
                  <a16:creationId xmlns:a16="http://schemas.microsoft.com/office/drawing/2014/main" id="{8153E650-F7FE-4B3F-A62D-9A48F57B3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880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37" name="Line 1143">
              <a:extLst>
                <a:ext uri="{FF2B5EF4-FFF2-40B4-BE49-F238E27FC236}">
                  <a16:creationId xmlns:a16="http://schemas.microsoft.com/office/drawing/2014/main" id="{D3C41926-C701-467E-828E-53663E14C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880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8" name="Line 1144">
              <a:extLst>
                <a:ext uri="{FF2B5EF4-FFF2-40B4-BE49-F238E27FC236}">
                  <a16:creationId xmlns:a16="http://schemas.microsoft.com/office/drawing/2014/main" id="{6D7BB082-D459-46CC-9508-965B5511DF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880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9" name="Rectangle 1145">
              <a:extLst>
                <a:ext uri="{FF2B5EF4-FFF2-40B4-BE49-F238E27FC236}">
                  <a16:creationId xmlns:a16="http://schemas.microsoft.com/office/drawing/2014/main" id="{44EAB032-C802-4194-A6CC-3183A4A72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2885"/>
              <a:ext cx="5" cy="1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40" name="Line 1146">
              <a:extLst>
                <a:ext uri="{FF2B5EF4-FFF2-40B4-BE49-F238E27FC236}">
                  <a16:creationId xmlns:a16="http://schemas.microsoft.com/office/drawing/2014/main" id="{5ACE1D15-B1BF-4C45-A143-57E25660D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2885"/>
              <a:ext cx="1" cy="1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1" name="Rectangle 1147">
              <a:extLst>
                <a:ext uri="{FF2B5EF4-FFF2-40B4-BE49-F238E27FC236}">
                  <a16:creationId xmlns:a16="http://schemas.microsoft.com/office/drawing/2014/main" id="{B4D3B1B8-5327-4C71-B1AB-58E057E8C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885"/>
              <a:ext cx="5" cy="1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42" name="Line 1148">
              <a:extLst>
                <a:ext uri="{FF2B5EF4-FFF2-40B4-BE49-F238E27FC236}">
                  <a16:creationId xmlns:a16="http://schemas.microsoft.com/office/drawing/2014/main" id="{6C194348-2938-43CC-BA2F-E20E32B6D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885"/>
              <a:ext cx="1" cy="1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3" name="Rectangle 1149">
              <a:extLst>
                <a:ext uri="{FF2B5EF4-FFF2-40B4-BE49-F238E27FC236}">
                  <a16:creationId xmlns:a16="http://schemas.microsoft.com/office/drawing/2014/main" id="{E10CCD63-868A-48F6-AD2C-6B71E4354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" y="3110"/>
              <a:ext cx="19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56H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44" name="Rectangle 1150">
              <a:extLst>
                <a:ext uri="{FF2B5EF4-FFF2-40B4-BE49-F238E27FC236}">
                  <a16:creationId xmlns:a16="http://schemas.microsoft.com/office/drawing/2014/main" id="{02EC6E23-E860-4BCC-AEB5-2E9FE5465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7" y="3110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45" name="Rectangle 1151">
              <a:extLst>
                <a:ext uri="{FF2B5EF4-FFF2-40B4-BE49-F238E27FC236}">
                  <a16:creationId xmlns:a16="http://schemas.microsoft.com/office/drawing/2014/main" id="{793239FB-1DD3-45AF-82C4-189260F69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9" y="3110"/>
              <a:ext cx="36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21002H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46" name="Rectangle 1152">
              <a:extLst>
                <a:ext uri="{FF2B5EF4-FFF2-40B4-BE49-F238E27FC236}">
                  <a16:creationId xmlns:a16="http://schemas.microsoft.com/office/drawing/2014/main" id="{939DA40C-73A5-49D1-8C44-74F3FA8E1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1" y="3110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47" name="Rectangle 1153">
              <a:extLst>
                <a:ext uri="{FF2B5EF4-FFF2-40B4-BE49-F238E27FC236}">
                  <a16:creationId xmlns:a16="http://schemas.microsoft.com/office/drawing/2014/main" id="{7896BC2B-FE9C-49F9-A7D3-9FD0D6B7B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3072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48" name="Line 1154">
              <a:extLst>
                <a:ext uri="{FF2B5EF4-FFF2-40B4-BE49-F238E27FC236}">
                  <a16:creationId xmlns:a16="http://schemas.microsoft.com/office/drawing/2014/main" id="{58CC9B4E-267E-4447-8A6E-A1EB8CBA8D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3072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9" name="Line 1155">
              <a:extLst>
                <a:ext uri="{FF2B5EF4-FFF2-40B4-BE49-F238E27FC236}">
                  <a16:creationId xmlns:a16="http://schemas.microsoft.com/office/drawing/2014/main" id="{F16704CB-FF4F-414A-88C8-A654ABFED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307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0" name="Rectangle 1156">
              <a:extLst>
                <a:ext uri="{FF2B5EF4-FFF2-40B4-BE49-F238E27FC236}">
                  <a16:creationId xmlns:a16="http://schemas.microsoft.com/office/drawing/2014/main" id="{778890F0-DFFD-4F3B-8D87-9AD912E7B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0" y="3072"/>
              <a:ext cx="578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51" name="Line 1157">
              <a:extLst>
                <a:ext uri="{FF2B5EF4-FFF2-40B4-BE49-F238E27FC236}">
                  <a16:creationId xmlns:a16="http://schemas.microsoft.com/office/drawing/2014/main" id="{9B369C78-8089-4EF3-AB54-21FAB1153E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0" y="3072"/>
              <a:ext cx="57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2" name="Rectangle 1158">
              <a:extLst>
                <a:ext uri="{FF2B5EF4-FFF2-40B4-BE49-F238E27FC236}">
                  <a16:creationId xmlns:a16="http://schemas.microsoft.com/office/drawing/2014/main" id="{60E0460C-7C2E-4C0D-A52A-4068F9D9A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3072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53" name="Line 1159">
              <a:extLst>
                <a:ext uri="{FF2B5EF4-FFF2-40B4-BE49-F238E27FC236}">
                  <a16:creationId xmlns:a16="http://schemas.microsoft.com/office/drawing/2014/main" id="{5A3806BE-2156-4DB5-B401-3B81F035CB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3072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4" name="Line 1160">
              <a:extLst>
                <a:ext uri="{FF2B5EF4-FFF2-40B4-BE49-F238E27FC236}">
                  <a16:creationId xmlns:a16="http://schemas.microsoft.com/office/drawing/2014/main" id="{26A53012-CAE0-4459-8264-A426839B27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307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5" name="Rectangle 1161">
              <a:extLst>
                <a:ext uri="{FF2B5EF4-FFF2-40B4-BE49-F238E27FC236}">
                  <a16:creationId xmlns:a16="http://schemas.microsoft.com/office/drawing/2014/main" id="{5025566C-D966-45FD-B8CE-7BD67C441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3077"/>
              <a:ext cx="5" cy="1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56" name="Line 1162">
              <a:extLst>
                <a:ext uri="{FF2B5EF4-FFF2-40B4-BE49-F238E27FC236}">
                  <a16:creationId xmlns:a16="http://schemas.microsoft.com/office/drawing/2014/main" id="{336C3F25-9BC1-4A3C-9838-2A521196DE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3077"/>
              <a:ext cx="1" cy="1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7" name="Rectangle 1163">
              <a:extLst>
                <a:ext uri="{FF2B5EF4-FFF2-40B4-BE49-F238E27FC236}">
                  <a16:creationId xmlns:a16="http://schemas.microsoft.com/office/drawing/2014/main" id="{5F52EE21-AAD3-45BA-8B42-01E4CC706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3077"/>
              <a:ext cx="5" cy="1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58" name="Line 1164">
              <a:extLst>
                <a:ext uri="{FF2B5EF4-FFF2-40B4-BE49-F238E27FC236}">
                  <a16:creationId xmlns:a16="http://schemas.microsoft.com/office/drawing/2014/main" id="{9E087A63-BD91-48AA-9CDE-76D4C04B1A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3077"/>
              <a:ext cx="1" cy="1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9" name="Rectangle 1165">
              <a:extLst>
                <a:ext uri="{FF2B5EF4-FFF2-40B4-BE49-F238E27FC236}">
                  <a16:creationId xmlns:a16="http://schemas.microsoft.com/office/drawing/2014/main" id="{4AA455C3-0A40-4FEB-9884-9611E6A51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6" y="2722"/>
              <a:ext cx="509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60" name="Rectangle 1166">
              <a:extLst>
                <a:ext uri="{FF2B5EF4-FFF2-40B4-BE49-F238E27FC236}">
                  <a16:creationId xmlns:a16="http://schemas.microsoft.com/office/drawing/2014/main" id="{1B459C97-8925-40DE-A236-142C3D831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722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61" name="Rectangle 1167">
              <a:extLst>
                <a:ext uri="{FF2B5EF4-FFF2-40B4-BE49-F238E27FC236}">
                  <a16:creationId xmlns:a16="http://schemas.microsoft.com/office/drawing/2014/main" id="{F033BB59-C837-4C2F-ADA7-49AC02E74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3302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62" name="Rectangle 1168">
              <a:extLst>
                <a:ext uri="{FF2B5EF4-FFF2-40B4-BE49-F238E27FC236}">
                  <a16:creationId xmlns:a16="http://schemas.microsoft.com/office/drawing/2014/main" id="{5A14F6A8-8917-4CDC-9CE0-E898525AC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1" y="3302"/>
              <a:ext cx="2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63" name="Rectangle 1169">
              <a:extLst>
                <a:ext uri="{FF2B5EF4-FFF2-40B4-BE49-F238E27FC236}">
                  <a16:creationId xmlns:a16="http://schemas.microsoft.com/office/drawing/2014/main" id="{BE095069-7B27-4CA9-B3FF-AA21214C5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3264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64" name="Line 1170">
              <a:extLst>
                <a:ext uri="{FF2B5EF4-FFF2-40B4-BE49-F238E27FC236}">
                  <a16:creationId xmlns:a16="http://schemas.microsoft.com/office/drawing/2014/main" id="{C19DF366-D00E-4AE6-B5B4-AC6E5666E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3264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5" name="Line 1171">
              <a:extLst>
                <a:ext uri="{FF2B5EF4-FFF2-40B4-BE49-F238E27FC236}">
                  <a16:creationId xmlns:a16="http://schemas.microsoft.com/office/drawing/2014/main" id="{C853EB04-ACB8-45E7-96BF-CA64A4C24B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3264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6" name="Rectangle 1172">
              <a:extLst>
                <a:ext uri="{FF2B5EF4-FFF2-40B4-BE49-F238E27FC236}">
                  <a16:creationId xmlns:a16="http://schemas.microsoft.com/office/drawing/2014/main" id="{A1A5BB21-C691-4E5B-8E1F-DCA62EF6A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0" y="3264"/>
              <a:ext cx="578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67" name="Line 1173">
              <a:extLst>
                <a:ext uri="{FF2B5EF4-FFF2-40B4-BE49-F238E27FC236}">
                  <a16:creationId xmlns:a16="http://schemas.microsoft.com/office/drawing/2014/main" id="{737D6344-623E-45D8-BF8A-30DF02C461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0" y="3264"/>
              <a:ext cx="57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8" name="Rectangle 1174">
              <a:extLst>
                <a:ext uri="{FF2B5EF4-FFF2-40B4-BE49-F238E27FC236}">
                  <a16:creationId xmlns:a16="http://schemas.microsoft.com/office/drawing/2014/main" id="{B68DF0AE-F5E6-4292-9281-DF9E11D0F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3264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69" name="Line 1175">
              <a:extLst>
                <a:ext uri="{FF2B5EF4-FFF2-40B4-BE49-F238E27FC236}">
                  <a16:creationId xmlns:a16="http://schemas.microsoft.com/office/drawing/2014/main" id="{CCDAE590-4DC2-4015-AF8F-B074D54C2A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3264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70" name="Line 1176">
              <a:extLst>
                <a:ext uri="{FF2B5EF4-FFF2-40B4-BE49-F238E27FC236}">
                  <a16:creationId xmlns:a16="http://schemas.microsoft.com/office/drawing/2014/main" id="{0EE2A794-717E-4AB6-AF13-A41764ED1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3264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71" name="Rectangle 1177">
              <a:extLst>
                <a:ext uri="{FF2B5EF4-FFF2-40B4-BE49-F238E27FC236}">
                  <a16:creationId xmlns:a16="http://schemas.microsoft.com/office/drawing/2014/main" id="{A4CDFDEB-1FF5-423B-996E-6EC0DD677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3269"/>
              <a:ext cx="5" cy="1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72" name="Line 1178">
              <a:extLst>
                <a:ext uri="{FF2B5EF4-FFF2-40B4-BE49-F238E27FC236}">
                  <a16:creationId xmlns:a16="http://schemas.microsoft.com/office/drawing/2014/main" id="{14D4A75C-835F-48BE-A6DB-45DC4FD9F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3269"/>
              <a:ext cx="1" cy="1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73" name="Rectangle 1179">
              <a:extLst>
                <a:ext uri="{FF2B5EF4-FFF2-40B4-BE49-F238E27FC236}">
                  <a16:creationId xmlns:a16="http://schemas.microsoft.com/office/drawing/2014/main" id="{6D4E32CA-BDFE-4844-B3FD-7BB4D1AFB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3269"/>
              <a:ext cx="5" cy="1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30874" name="Line 1180">
              <a:extLst>
                <a:ext uri="{FF2B5EF4-FFF2-40B4-BE49-F238E27FC236}">
                  <a16:creationId xmlns:a16="http://schemas.microsoft.com/office/drawing/2014/main" id="{DA7125E2-976B-4C07-A198-396F438142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3269"/>
              <a:ext cx="1" cy="1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75" name="Rectangle 1181">
              <a:extLst>
                <a:ext uri="{FF2B5EF4-FFF2-40B4-BE49-F238E27FC236}">
                  <a16:creationId xmlns:a16="http://schemas.microsoft.com/office/drawing/2014/main" id="{BC3C9B99-5278-43B4-A9C8-6A20D5177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480"/>
              <a:ext cx="3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•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–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•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0876" name="Group 1184">
              <a:extLst>
                <a:ext uri="{FF2B5EF4-FFF2-40B4-BE49-F238E27FC236}">
                  <a16:creationId xmlns:a16="http://schemas.microsoft.com/office/drawing/2014/main" id="{11CE9219-536E-4249-81AE-4355EF5D63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7" y="2491"/>
              <a:ext cx="65" cy="499"/>
              <a:chOff x="1217" y="2491"/>
              <a:chExt cx="65" cy="499"/>
            </a:xfrm>
          </p:grpSpPr>
          <p:sp>
            <p:nvSpPr>
              <p:cNvPr id="30882" name="Line 1182">
                <a:extLst>
                  <a:ext uri="{FF2B5EF4-FFF2-40B4-BE49-F238E27FC236}">
                    <a16:creationId xmlns:a16="http://schemas.microsoft.com/office/drawing/2014/main" id="{5485FE5D-9961-4AF4-BDC4-D8DB1B1A47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47" y="2491"/>
                <a:ext cx="1" cy="49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83" name="Freeform 1183">
                <a:extLst>
                  <a:ext uri="{FF2B5EF4-FFF2-40B4-BE49-F238E27FC236}">
                    <a16:creationId xmlns:a16="http://schemas.microsoft.com/office/drawing/2014/main" id="{3B4F22CE-C3F3-4C3E-80AF-1BFB0ED3B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7" y="2496"/>
                <a:ext cx="65" cy="58"/>
              </a:xfrm>
              <a:custGeom>
                <a:avLst/>
                <a:gdLst>
                  <a:gd name="T0" fmla="*/ 65 w 65"/>
                  <a:gd name="T1" fmla="*/ 58 h 58"/>
                  <a:gd name="T2" fmla="*/ 35 w 65"/>
                  <a:gd name="T3" fmla="*/ 0 h 58"/>
                  <a:gd name="T4" fmla="*/ 0 w 65"/>
                  <a:gd name="T5" fmla="*/ 58 h 58"/>
                  <a:gd name="T6" fmla="*/ 0 60000 65536"/>
                  <a:gd name="T7" fmla="*/ 0 60000 65536"/>
                  <a:gd name="T8" fmla="*/ 0 60000 65536"/>
                  <a:gd name="T9" fmla="*/ 0 w 65"/>
                  <a:gd name="T10" fmla="*/ 0 h 58"/>
                  <a:gd name="T11" fmla="*/ 65 w 65"/>
                  <a:gd name="T12" fmla="*/ 58 h 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" h="58">
                    <a:moveTo>
                      <a:pt x="65" y="58"/>
                    </a:moveTo>
                    <a:lnTo>
                      <a:pt x="35" y="0"/>
                    </a:lnTo>
                    <a:lnTo>
                      <a:pt x="0" y="5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877" name="Line 1185">
              <a:extLst>
                <a:ext uri="{FF2B5EF4-FFF2-40B4-BE49-F238E27FC236}">
                  <a16:creationId xmlns:a16="http://schemas.microsoft.com/office/drawing/2014/main" id="{579A9A67-E9F4-4799-883E-6ED89EA314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2798"/>
              <a:ext cx="835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878" name="Group 1188">
              <a:extLst>
                <a:ext uri="{FF2B5EF4-FFF2-40B4-BE49-F238E27FC236}">
                  <a16:creationId xmlns:a16="http://schemas.microsoft.com/office/drawing/2014/main" id="{EF9AE501-DE7B-4F9F-ACDD-44071E250B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9" y="2491"/>
              <a:ext cx="66" cy="303"/>
              <a:chOff x="1679" y="2491"/>
              <a:chExt cx="66" cy="303"/>
            </a:xfrm>
          </p:grpSpPr>
          <p:sp>
            <p:nvSpPr>
              <p:cNvPr id="30880" name="Line 1186">
                <a:extLst>
                  <a:ext uri="{FF2B5EF4-FFF2-40B4-BE49-F238E27FC236}">
                    <a16:creationId xmlns:a16="http://schemas.microsoft.com/office/drawing/2014/main" id="{F72AA936-1380-4F9A-9EAB-4CB4FC3271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10" y="2491"/>
                <a:ext cx="1" cy="30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81" name="Freeform 1187">
                <a:extLst>
                  <a:ext uri="{FF2B5EF4-FFF2-40B4-BE49-F238E27FC236}">
                    <a16:creationId xmlns:a16="http://schemas.microsoft.com/office/drawing/2014/main" id="{F4CDD68E-56B2-4954-81CF-4DADF50B7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9" y="2496"/>
                <a:ext cx="66" cy="58"/>
              </a:xfrm>
              <a:custGeom>
                <a:avLst/>
                <a:gdLst>
                  <a:gd name="T0" fmla="*/ 66 w 66"/>
                  <a:gd name="T1" fmla="*/ 58 h 58"/>
                  <a:gd name="T2" fmla="*/ 36 w 66"/>
                  <a:gd name="T3" fmla="*/ 0 h 58"/>
                  <a:gd name="T4" fmla="*/ 0 w 66"/>
                  <a:gd name="T5" fmla="*/ 58 h 58"/>
                  <a:gd name="T6" fmla="*/ 0 60000 65536"/>
                  <a:gd name="T7" fmla="*/ 0 60000 65536"/>
                  <a:gd name="T8" fmla="*/ 0 60000 65536"/>
                  <a:gd name="T9" fmla="*/ 0 w 66"/>
                  <a:gd name="T10" fmla="*/ 0 h 58"/>
                  <a:gd name="T11" fmla="*/ 66 w 66"/>
                  <a:gd name="T12" fmla="*/ 58 h 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6" h="58">
                    <a:moveTo>
                      <a:pt x="66" y="58"/>
                    </a:moveTo>
                    <a:lnTo>
                      <a:pt x="36" y="0"/>
                    </a:lnTo>
                    <a:lnTo>
                      <a:pt x="0" y="58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879" name="Line 1189">
              <a:extLst>
                <a:ext uri="{FF2B5EF4-FFF2-40B4-BE49-F238E27FC236}">
                  <a16:creationId xmlns:a16="http://schemas.microsoft.com/office/drawing/2014/main" id="{2EC02896-E9D7-4399-AC94-FAB48A535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990"/>
              <a:ext cx="129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6" name="文本框 165">
            <a:extLst>
              <a:ext uri="{FF2B5EF4-FFF2-40B4-BE49-F238E27FC236}">
                <a16:creationId xmlns:a16="http://schemas.microsoft.com/office/drawing/2014/main" id="{4AD0011B-0445-4D8C-B1FA-6B397294AD92}"/>
              </a:ext>
            </a:extLst>
          </p:cNvPr>
          <p:cNvSpPr txBox="1"/>
          <p:nvPr/>
        </p:nvSpPr>
        <p:spPr>
          <a:xfrm>
            <a:off x="1399406" y="3125160"/>
            <a:ext cx="6158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dirty="0"/>
              <a:t>AX）＝50A0H，（21000H）＝A0H，（21001H）＝50H。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指令执行情况如下：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FF63E-6B86-4D72-9089-5AAA68CA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2.5   8086 </a:t>
            </a:r>
            <a:r>
              <a:rPr lang="zh-CN" altLang="en-US" dirty="0"/>
              <a:t>的 </a:t>
            </a:r>
            <a:r>
              <a:rPr lang="en-US" altLang="zh-CN" dirty="0"/>
              <a:t>4</a:t>
            </a:r>
            <a:r>
              <a:rPr lang="zh-CN" altLang="en-US" dirty="0"/>
              <a:t>个逻辑段在形成物理地址时分别是什么用途？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E0B23B-6943-44DE-8147-F80D07E6E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解：在</a:t>
            </a:r>
            <a:r>
              <a:rPr lang="en-US" altLang="zh-CN" dirty="0"/>
              <a:t>8086</a:t>
            </a:r>
            <a:r>
              <a:rPr lang="zh-CN" altLang="en-US" dirty="0"/>
              <a:t>的程序设计中，一个程序可以有代码段</a:t>
            </a:r>
            <a:r>
              <a:rPr lang="en-US" altLang="zh-CN" dirty="0"/>
              <a:t>CS</a:t>
            </a:r>
            <a:r>
              <a:rPr lang="zh-CN" altLang="en-US" dirty="0"/>
              <a:t>、数据段</a:t>
            </a:r>
            <a:r>
              <a:rPr lang="en-US" altLang="zh-CN" dirty="0"/>
              <a:t>SS</a:t>
            </a:r>
            <a:r>
              <a:rPr lang="zh-CN" altLang="en-US" dirty="0"/>
              <a:t>、堆栈段</a:t>
            </a:r>
            <a:r>
              <a:rPr lang="en-US" altLang="zh-CN" dirty="0"/>
              <a:t>SS</a:t>
            </a:r>
            <a:r>
              <a:rPr lang="zh-CN" altLang="en-US" dirty="0"/>
              <a:t>和附加段</a:t>
            </a:r>
            <a:r>
              <a:rPr lang="en-US" altLang="zh-CN" dirty="0"/>
              <a:t>ES</a:t>
            </a:r>
            <a:r>
              <a:rPr lang="zh-CN" altLang="en-US" dirty="0"/>
              <a:t>。 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代码段</a:t>
            </a:r>
            <a:r>
              <a:rPr lang="en-US" altLang="zh-CN" dirty="0"/>
              <a:t>CS</a:t>
            </a:r>
            <a:r>
              <a:rPr lang="zh-CN" altLang="en-US" dirty="0"/>
              <a:t>用于存放程序； </a:t>
            </a:r>
          </a:p>
          <a:p>
            <a:r>
              <a:rPr lang="zh-CN" altLang="en-US" dirty="0"/>
              <a:t>数据段</a:t>
            </a:r>
            <a:r>
              <a:rPr lang="en-US" altLang="zh-CN" dirty="0"/>
              <a:t>DS</a:t>
            </a:r>
            <a:r>
              <a:rPr lang="zh-CN" altLang="en-US" dirty="0"/>
              <a:t>和附加段</a:t>
            </a:r>
            <a:r>
              <a:rPr lang="en-US" altLang="zh-CN" dirty="0"/>
              <a:t>ES</a:t>
            </a:r>
            <a:r>
              <a:rPr lang="zh-CN" altLang="en-US" dirty="0"/>
              <a:t>用于存放数据； </a:t>
            </a:r>
          </a:p>
          <a:p>
            <a:r>
              <a:rPr lang="zh-CN" altLang="en-US" dirty="0"/>
              <a:t>堆栈段</a:t>
            </a:r>
            <a:r>
              <a:rPr lang="en-US" altLang="zh-CN" dirty="0"/>
              <a:t>SS</a:t>
            </a:r>
            <a:r>
              <a:rPr lang="zh-CN" altLang="en-US" dirty="0"/>
              <a:t>用于存放数据（包括暂存数据和保护现场的数据）。 </a:t>
            </a:r>
          </a:p>
          <a:p>
            <a:r>
              <a:rPr lang="zh-CN" altLang="en-US" dirty="0"/>
              <a:t>在形成物理地址时，</a:t>
            </a:r>
            <a:r>
              <a:rPr lang="en-US" altLang="zh-CN" dirty="0"/>
              <a:t>CS</a:t>
            </a:r>
            <a:r>
              <a:rPr lang="zh-CN" altLang="en-US" dirty="0"/>
              <a:t>、</a:t>
            </a:r>
            <a:r>
              <a:rPr lang="en-US" altLang="zh-CN" dirty="0"/>
              <a:t>DS</a:t>
            </a:r>
            <a:r>
              <a:rPr lang="zh-CN" altLang="en-US" dirty="0"/>
              <a:t>、</a:t>
            </a:r>
            <a:r>
              <a:rPr lang="en-US" altLang="zh-CN" dirty="0"/>
              <a:t>ES</a:t>
            </a:r>
            <a:r>
              <a:rPr lang="zh-CN" altLang="en-US" dirty="0"/>
              <a:t>和</a:t>
            </a:r>
            <a:r>
              <a:rPr lang="en-US" altLang="zh-CN" dirty="0"/>
              <a:t>SS</a:t>
            </a:r>
            <a:r>
              <a:rPr lang="zh-CN" altLang="en-US" dirty="0"/>
              <a:t>四个段寄存器的作用如下：当取指令时，</a:t>
            </a:r>
            <a:r>
              <a:rPr lang="en-US" altLang="zh-CN" dirty="0"/>
              <a:t>CPU</a:t>
            </a:r>
            <a:r>
              <a:rPr lang="zh-CN" altLang="en-US" dirty="0"/>
              <a:t>以</a:t>
            </a:r>
            <a:r>
              <a:rPr lang="en-US" altLang="zh-CN" dirty="0"/>
              <a:t>CS</a:t>
            </a:r>
            <a:r>
              <a:rPr lang="zh-CN" altLang="en-US" dirty="0"/>
              <a:t>寄存器的值作段基址，再加上</a:t>
            </a:r>
            <a:r>
              <a:rPr lang="en-US" altLang="zh-CN" dirty="0"/>
              <a:t>IP</a:t>
            </a:r>
            <a:r>
              <a:rPr lang="zh-CN" altLang="en-US" dirty="0"/>
              <a:t>中的</a:t>
            </a:r>
            <a:r>
              <a:rPr lang="en-US" altLang="zh-CN" dirty="0"/>
              <a:t>16</a:t>
            </a:r>
            <a:r>
              <a:rPr lang="zh-CN" altLang="en-US" dirty="0"/>
              <a:t>位偏移地址，得到指令的物理地址；当进行堆栈操作时，段基地址</a:t>
            </a:r>
            <a:r>
              <a:rPr lang="en-US" altLang="zh-CN" dirty="0"/>
              <a:t>CPU</a:t>
            </a:r>
            <a:r>
              <a:rPr lang="zh-CN" altLang="en-US" dirty="0"/>
              <a:t>以</a:t>
            </a:r>
            <a:r>
              <a:rPr lang="en-US" altLang="zh-CN" dirty="0"/>
              <a:t>SS</a:t>
            </a:r>
            <a:r>
              <a:rPr lang="zh-CN" altLang="en-US" dirty="0"/>
              <a:t>为堆栈段的基地址，偏移地址由</a:t>
            </a:r>
            <a:r>
              <a:rPr lang="en-US" altLang="zh-CN" dirty="0"/>
              <a:t>SP</a:t>
            </a:r>
            <a:r>
              <a:rPr lang="zh-CN" altLang="en-US" dirty="0"/>
              <a:t>或</a:t>
            </a:r>
            <a:r>
              <a:rPr lang="en-US" altLang="zh-CN" dirty="0"/>
              <a:t>BP</a:t>
            </a:r>
            <a:r>
              <a:rPr lang="zh-CN" altLang="en-US" dirty="0"/>
              <a:t>来指定，当访问存储器的数据段时，数据段寄存器</a:t>
            </a:r>
            <a:r>
              <a:rPr lang="en-US" altLang="zh-CN" dirty="0"/>
              <a:t>DS</a:t>
            </a:r>
            <a:r>
              <a:rPr lang="zh-CN" altLang="en-US" dirty="0"/>
              <a:t>或附加段寄存器</a:t>
            </a:r>
            <a:r>
              <a:rPr lang="en-US" altLang="zh-CN" dirty="0"/>
              <a:t>ES</a:t>
            </a:r>
            <a:r>
              <a:rPr lang="zh-CN" altLang="en-US" dirty="0"/>
              <a:t>，再加上</a:t>
            </a:r>
            <a:r>
              <a:rPr lang="en-US" altLang="zh-CN" dirty="0"/>
              <a:t>16 </a:t>
            </a:r>
            <a:r>
              <a:rPr lang="zh-CN" altLang="en-US" dirty="0"/>
              <a:t>位偏移地址，得到操作数的物理地址。</a:t>
            </a:r>
          </a:p>
        </p:txBody>
      </p:sp>
    </p:spTree>
    <p:extLst>
      <p:ext uri="{BB962C8B-B14F-4D97-AF65-F5344CB8AC3E}">
        <p14:creationId xmlns:p14="http://schemas.microsoft.com/office/powerpoint/2010/main" val="1996071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423028-CBDF-481C-B2B0-D560A3883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2.6 </a:t>
            </a:r>
            <a:r>
              <a:rPr lang="zh-CN" altLang="en-US" dirty="0"/>
              <a:t>请将如下逻辑地址用物理地址表示： </a:t>
            </a:r>
            <a:r>
              <a:rPr lang="en-US" altLang="zh-CN" dirty="0"/>
              <a:t>(1)FFFFH</a:t>
            </a:r>
            <a:r>
              <a:rPr lang="zh-CN" altLang="en-US" dirty="0"/>
              <a:t>：</a:t>
            </a:r>
            <a:r>
              <a:rPr lang="en-US" altLang="zh-CN" dirty="0"/>
              <a:t>0 (2)45H</a:t>
            </a:r>
            <a:r>
              <a:rPr lang="zh-CN" altLang="en-US" dirty="0"/>
              <a:t>：</a:t>
            </a:r>
            <a:r>
              <a:rPr lang="en-US" altLang="zh-CN" dirty="0"/>
              <a:t>18H (3) 2000H</a:t>
            </a:r>
            <a:r>
              <a:rPr lang="zh-CN" altLang="en-US" dirty="0"/>
              <a:t>：</a:t>
            </a:r>
            <a:r>
              <a:rPr lang="en-US" altLang="zh-CN" dirty="0"/>
              <a:t>4600H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5E104E-D58F-4F77-B03F-40F0383EB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829" y="2506662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3000" dirty="0"/>
              <a:t>解：用</a:t>
            </a:r>
            <a:r>
              <a:rPr lang="en-US" altLang="zh-CN" sz="3000" dirty="0"/>
              <a:t>PA</a:t>
            </a:r>
            <a:r>
              <a:rPr lang="zh-CN" altLang="en-US" sz="3000" dirty="0"/>
              <a:t>表示物理地址，</a:t>
            </a:r>
            <a:r>
              <a:rPr lang="en-US" altLang="zh-CN" sz="3000" dirty="0"/>
              <a:t>PA</a:t>
            </a:r>
            <a:r>
              <a:rPr lang="zh-CN" altLang="en-US" sz="3000" dirty="0"/>
              <a:t>＝段基地址</a:t>
            </a:r>
            <a:r>
              <a:rPr lang="en-US" altLang="zh-CN" sz="3000" dirty="0"/>
              <a:t>×16+</a:t>
            </a:r>
            <a:r>
              <a:rPr lang="zh-CN" altLang="en-US" sz="3000" dirty="0"/>
              <a:t>偏移地址 </a:t>
            </a:r>
            <a:endParaRPr lang="en-US" altLang="zh-CN" sz="3000" dirty="0"/>
          </a:p>
          <a:p>
            <a:pPr marL="0" indent="0">
              <a:buNone/>
            </a:pPr>
            <a:r>
              <a:rPr lang="zh-CN" altLang="en-US" sz="3000" dirty="0"/>
              <a:t>（</a:t>
            </a:r>
            <a:r>
              <a:rPr lang="en-US" altLang="zh-CN" sz="3000" dirty="0"/>
              <a:t>1</a:t>
            </a:r>
            <a:r>
              <a:rPr lang="zh-CN" altLang="en-US" sz="3000" dirty="0"/>
              <a:t>）</a:t>
            </a:r>
            <a:r>
              <a:rPr lang="en-US" altLang="zh-CN" sz="3000" dirty="0"/>
              <a:t>PA</a:t>
            </a:r>
            <a:r>
              <a:rPr lang="zh-CN" altLang="en-US" sz="3000" dirty="0"/>
              <a:t>＝</a:t>
            </a:r>
            <a:r>
              <a:rPr lang="en-US" altLang="zh-CN" sz="3000" dirty="0"/>
              <a:t>FFFFH×16+0000H</a:t>
            </a:r>
            <a:r>
              <a:rPr lang="zh-CN" altLang="en-US" sz="3000" dirty="0"/>
              <a:t>＝</a:t>
            </a:r>
            <a:r>
              <a:rPr lang="en-US" altLang="zh-CN" sz="3000" dirty="0"/>
              <a:t>FFFF0H </a:t>
            </a:r>
          </a:p>
          <a:p>
            <a:pPr marL="0" indent="0">
              <a:buNone/>
            </a:pPr>
            <a:r>
              <a:rPr lang="zh-CN" altLang="en-US" sz="3000" dirty="0"/>
              <a:t>（</a:t>
            </a:r>
            <a:r>
              <a:rPr lang="en-US" altLang="zh-CN" sz="3000" dirty="0"/>
              <a:t>2</a:t>
            </a:r>
            <a:r>
              <a:rPr lang="zh-CN" altLang="en-US" sz="3000" dirty="0"/>
              <a:t>）</a:t>
            </a:r>
            <a:r>
              <a:rPr lang="en-US" altLang="zh-CN" sz="3000" dirty="0"/>
              <a:t>PA</a:t>
            </a:r>
            <a:r>
              <a:rPr lang="zh-CN" altLang="en-US" sz="3000" dirty="0"/>
              <a:t>＝</a:t>
            </a:r>
            <a:r>
              <a:rPr lang="en-US" altLang="zh-CN" sz="3000" dirty="0"/>
              <a:t>45H×16+18H</a:t>
            </a:r>
            <a:r>
              <a:rPr lang="zh-CN" altLang="en-US" sz="3000" dirty="0"/>
              <a:t>＝</a:t>
            </a:r>
            <a:r>
              <a:rPr lang="en-US" altLang="zh-CN" sz="3000" dirty="0"/>
              <a:t>468H </a:t>
            </a:r>
          </a:p>
          <a:p>
            <a:pPr marL="0" indent="0">
              <a:buNone/>
            </a:pPr>
            <a:r>
              <a:rPr lang="zh-CN" altLang="en-US" sz="3000" dirty="0"/>
              <a:t>（</a:t>
            </a:r>
            <a:r>
              <a:rPr lang="en-US" altLang="zh-CN" sz="3000" dirty="0"/>
              <a:t>3</a:t>
            </a:r>
            <a:r>
              <a:rPr lang="zh-CN" altLang="en-US" sz="3000" dirty="0"/>
              <a:t>）</a:t>
            </a:r>
            <a:r>
              <a:rPr lang="en-US" altLang="zh-CN" sz="3000" dirty="0"/>
              <a:t>PA</a:t>
            </a:r>
            <a:r>
              <a:rPr lang="zh-CN" altLang="en-US" sz="3000" dirty="0"/>
              <a:t>＝</a:t>
            </a:r>
            <a:r>
              <a:rPr lang="en-US" altLang="zh-CN" sz="3000" dirty="0"/>
              <a:t>2000H×16+4600H</a:t>
            </a:r>
            <a:r>
              <a:rPr lang="zh-CN" altLang="en-US" sz="3000" dirty="0"/>
              <a:t>＝</a:t>
            </a:r>
            <a:r>
              <a:rPr lang="en-US" altLang="zh-CN" sz="3000" dirty="0"/>
              <a:t>24600H </a:t>
            </a:r>
          </a:p>
          <a:p>
            <a:pPr marL="0" indent="0">
              <a:buNone/>
            </a:pPr>
            <a:r>
              <a:rPr lang="zh-CN" altLang="en-US" sz="3000" dirty="0"/>
              <a:t>（</a:t>
            </a:r>
            <a:r>
              <a:rPr lang="en-US" altLang="zh-CN" sz="3000" dirty="0"/>
              <a:t>4</a:t>
            </a:r>
            <a:r>
              <a:rPr lang="zh-CN" altLang="en-US" sz="3000" dirty="0"/>
              <a:t>）</a:t>
            </a:r>
            <a:r>
              <a:rPr lang="en-US" altLang="zh-CN" sz="3000" dirty="0"/>
              <a:t>PA</a:t>
            </a:r>
            <a:r>
              <a:rPr lang="zh-CN" altLang="en-US" sz="3000" dirty="0"/>
              <a:t>＝</a:t>
            </a:r>
            <a:r>
              <a:rPr lang="en-US" altLang="zh-CN" sz="3000" dirty="0"/>
              <a:t>B821H×16+3456H</a:t>
            </a:r>
            <a:r>
              <a:rPr lang="zh-CN" altLang="en-US" sz="3000" dirty="0"/>
              <a:t>＝</a:t>
            </a:r>
            <a:r>
              <a:rPr lang="en-US" altLang="zh-CN" sz="3000" dirty="0"/>
              <a:t>BB666H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272741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844DDF84-8248-4E7F-93FF-954FF310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CBDD4F-21DD-4A1D-A84E-24DFA864A7C4}" type="slidenum">
              <a:rPr kumimoji="0" lang="en-US" altLang="ja-JP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ja-JP" sz="10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949533D-4FF1-40EA-8302-C2ECFB1B423F}"/>
              </a:ext>
            </a:extLst>
          </p:cNvPr>
          <p:cNvSpPr txBox="1">
            <a:spLocks noChangeArrowheads="1"/>
          </p:cNvSpPr>
          <p:nvPr/>
        </p:nvSpPr>
        <p:spPr>
          <a:xfrm>
            <a:off x="935831" y="733327"/>
            <a:ext cx="10225655" cy="2879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4000" dirty="0">
                <a:latin typeface="+mj-lt"/>
                <a:ea typeface="+mj-ea"/>
                <a:cs typeface="+mj-cs"/>
              </a:rPr>
              <a:t>2.7</a:t>
            </a:r>
            <a:r>
              <a:rPr lang="en-US" altLang="zh-CN" dirty="0"/>
              <a:t>   </a:t>
            </a:r>
            <a:r>
              <a:rPr lang="zh-CN" altLang="en-US" dirty="0"/>
              <a:t>已知</a:t>
            </a:r>
            <a:r>
              <a:rPr lang="en-US" altLang="zh-CN" dirty="0"/>
              <a:t>CS=1055H</a:t>
            </a:r>
            <a:r>
              <a:rPr lang="zh-CN" altLang="en-US" dirty="0"/>
              <a:t>，</a:t>
            </a:r>
            <a:r>
              <a:rPr lang="en-US" altLang="zh-CN" dirty="0"/>
              <a:t>DS=250AH</a:t>
            </a:r>
            <a:r>
              <a:rPr lang="zh-CN" altLang="en-US" dirty="0"/>
              <a:t>，</a:t>
            </a:r>
            <a:r>
              <a:rPr lang="en-US" altLang="zh-CN" dirty="0"/>
              <a:t>ES=2EF0H</a:t>
            </a:r>
            <a:r>
              <a:rPr lang="zh-CN" altLang="en-US" dirty="0"/>
              <a:t>，</a:t>
            </a:r>
            <a:r>
              <a:rPr lang="en-US" altLang="zh-CN" dirty="0"/>
              <a:t>SS=8FF0H</a:t>
            </a:r>
            <a:r>
              <a:rPr lang="zh-CN" altLang="en-US" dirty="0"/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     </a:t>
            </a:r>
            <a:r>
              <a:rPr lang="en-US" altLang="zh-CN" dirty="0"/>
              <a:t>DS</a:t>
            </a:r>
            <a:r>
              <a:rPr lang="zh-CN" altLang="en-US" dirty="0"/>
              <a:t>段有一操作数，其偏移地址</a:t>
            </a:r>
            <a:r>
              <a:rPr lang="en-US" altLang="zh-CN" dirty="0"/>
              <a:t>=0204H</a:t>
            </a:r>
            <a:r>
              <a:rPr lang="zh-CN" altLang="en-US" dirty="0"/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	 </a:t>
            </a:r>
            <a:r>
              <a:rPr lang="en-US" altLang="zh-CN" dirty="0"/>
              <a:t>1)</a:t>
            </a:r>
            <a:r>
              <a:rPr lang="zh-CN" altLang="en-US" dirty="0"/>
              <a:t>画出各段在内存中的分布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     </a:t>
            </a:r>
            <a:r>
              <a:rPr lang="en-US" altLang="zh-CN" dirty="0"/>
              <a:t>2)</a:t>
            </a:r>
            <a:r>
              <a:rPr lang="zh-CN" altLang="en-US" dirty="0"/>
              <a:t>指出各段首地址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     </a:t>
            </a:r>
            <a:r>
              <a:rPr lang="en-US" altLang="zh-CN" dirty="0"/>
              <a:t>3)</a:t>
            </a:r>
            <a:r>
              <a:rPr lang="zh-CN" altLang="en-US" dirty="0"/>
              <a:t>该操作数的物理地址</a:t>
            </a:r>
            <a:r>
              <a:rPr lang="en-US" altLang="zh-CN" dirty="0"/>
              <a:t>=</a:t>
            </a:r>
            <a:r>
              <a:rPr lang="zh-CN" altLang="en-US" dirty="0"/>
              <a:t>？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D2D34A4-4E4B-434B-A7B0-052E58769485}"/>
              </a:ext>
            </a:extLst>
          </p:cNvPr>
          <p:cNvGrpSpPr>
            <a:grpSpLocks/>
          </p:cNvGrpSpPr>
          <p:nvPr/>
        </p:nvGrpSpPr>
        <p:grpSpPr bwMode="auto">
          <a:xfrm>
            <a:off x="5764213" y="2420938"/>
            <a:ext cx="3271837" cy="4321175"/>
            <a:chOff x="3438" y="1104"/>
            <a:chExt cx="2274" cy="3072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02E94B47-4073-4720-8E80-61810FEDC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104"/>
              <a:ext cx="864" cy="3072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84B5CB9D-1A34-4E34-BD81-8FE11A22B1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536"/>
              <a:ext cx="86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3E5873DD-BE08-4BE9-8D0C-6730E8B39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256"/>
              <a:ext cx="86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FBC4A326-8F55-41E9-9E85-C0A746387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592"/>
              <a:ext cx="86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91C5C01F-3362-43FA-8D69-1D0F72AAC4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440"/>
              <a:ext cx="768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10550H</a:t>
              </a: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413550E2-AB60-4F9F-9500-8CF24C40F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8" y="2112"/>
              <a:ext cx="9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250A0H</a:t>
              </a: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CDE99943-795D-4984-A704-02402E8542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9" y="2496"/>
              <a:ext cx="768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2EF00H</a:t>
              </a:r>
            </a:p>
          </p:txBody>
        </p:sp>
        <p:sp>
          <p:nvSpPr>
            <p:cNvPr id="15" name="Text Box 12">
              <a:extLst>
                <a:ext uri="{FF2B5EF4-FFF2-40B4-BE49-F238E27FC236}">
                  <a16:creationId xmlns:a16="http://schemas.microsoft.com/office/drawing/2014/main" id="{B2FFD8DE-3166-426D-8AB9-DDCC14E30A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7" y="3360"/>
              <a:ext cx="767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8FF00H</a:t>
              </a:r>
            </a:p>
          </p:txBody>
        </p:sp>
        <p:sp>
          <p:nvSpPr>
            <p:cNvPr id="16" name="AutoShape 13">
              <a:extLst>
                <a:ext uri="{FF2B5EF4-FFF2-40B4-BE49-F238E27FC236}">
                  <a16:creationId xmlns:a16="http://schemas.microsoft.com/office/drawing/2014/main" id="{21DC9FDC-6DF3-44B0-AB79-F3A6FFB4C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5" y="1536"/>
              <a:ext cx="139" cy="624"/>
            </a:xfrm>
            <a:prstGeom prst="rightBrace">
              <a:avLst>
                <a:gd name="adj1" fmla="val 37410"/>
                <a:gd name="adj2" fmla="val 50000"/>
              </a:avLst>
            </a:prstGeom>
            <a:noFill/>
            <a:ln w="25400" cap="sq">
              <a:solidFill>
                <a:srgbClr val="E8EC5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7" name="AutoShape 14">
              <a:extLst>
                <a:ext uri="{FF2B5EF4-FFF2-40B4-BE49-F238E27FC236}">
                  <a16:creationId xmlns:a16="http://schemas.microsoft.com/office/drawing/2014/main" id="{6AA73090-04D9-44B6-B0C5-B87B143D5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6" y="2256"/>
              <a:ext cx="148" cy="624"/>
            </a:xfrm>
            <a:prstGeom prst="rightBrace">
              <a:avLst>
                <a:gd name="adj1" fmla="val 35135"/>
                <a:gd name="adj2" fmla="val 50000"/>
              </a:avLst>
            </a:prstGeom>
            <a:noFill/>
            <a:ln w="25400" cap="sq">
              <a:solidFill>
                <a:srgbClr val="FF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ADFD1BA4-23CF-4986-90BA-F58141F0B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456"/>
              <a:ext cx="86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AutoShape 16">
              <a:extLst>
                <a:ext uri="{FF2B5EF4-FFF2-40B4-BE49-F238E27FC236}">
                  <a16:creationId xmlns:a16="http://schemas.microsoft.com/office/drawing/2014/main" id="{C58C32AB-6792-4D85-9F0A-9F0564B62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4" y="2592"/>
              <a:ext cx="123" cy="624"/>
            </a:xfrm>
            <a:prstGeom prst="rightBrace">
              <a:avLst>
                <a:gd name="adj1" fmla="val 42276"/>
                <a:gd name="adj2" fmla="val 50000"/>
              </a:avLst>
            </a:prstGeom>
            <a:noFill/>
            <a:ln w="25400" cap="sq">
              <a:solidFill>
                <a:srgbClr val="53E95E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0" name="Rectangle 17" descr="5%">
              <a:extLst>
                <a:ext uri="{FF2B5EF4-FFF2-40B4-BE49-F238E27FC236}">
                  <a16:creationId xmlns:a16="http://schemas.microsoft.com/office/drawing/2014/main" id="{721D9AE3-610D-4EE0-B798-99EBAAC57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880"/>
              <a:ext cx="864" cy="3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12700" cap="sq">
              <a:solidFill>
                <a:srgbClr val="339966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02D4DA59-1A4A-4507-BE9E-785D8815E1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880"/>
              <a:ext cx="86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Rectangle 19" descr="深色上对角线">
              <a:extLst>
                <a:ext uri="{FF2B5EF4-FFF2-40B4-BE49-F238E27FC236}">
                  <a16:creationId xmlns:a16="http://schemas.microsoft.com/office/drawing/2014/main" id="{37F8DE2F-D8A2-4C8F-8F4E-02BBB9CBF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592"/>
              <a:ext cx="864" cy="288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3" name="Rectangle 20" descr="40%">
              <a:extLst>
                <a:ext uri="{FF2B5EF4-FFF2-40B4-BE49-F238E27FC236}">
                  <a16:creationId xmlns:a16="http://schemas.microsoft.com/office/drawing/2014/main" id="{C2E4BE27-1926-4EC1-90C0-C42A073AA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256"/>
              <a:ext cx="864" cy="33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8D1F8F59-FFC2-4FEA-BB44-83B92B58E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9" y="1694"/>
              <a:ext cx="43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CS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A73FD189-5D10-4BCD-89A3-6DBB29A78F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5" y="3669"/>
              <a:ext cx="27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SS 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AutoShape 23">
              <a:extLst>
                <a:ext uri="{FF2B5EF4-FFF2-40B4-BE49-F238E27FC236}">
                  <a16:creationId xmlns:a16="http://schemas.microsoft.com/office/drawing/2014/main" id="{7DC3157E-94A2-4CE7-9ED2-489C5F84C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6" y="3456"/>
              <a:ext cx="148" cy="700"/>
            </a:xfrm>
            <a:prstGeom prst="rightBrace">
              <a:avLst>
                <a:gd name="adj1" fmla="val 39414"/>
                <a:gd name="adj2" fmla="val 50000"/>
              </a:avLst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6E173B71-51AE-491F-BA4F-4DEBDA320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9" y="1694"/>
              <a:ext cx="43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CS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2242BC16-9531-4134-BDBE-5BB38A7513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9" y="2400"/>
              <a:ext cx="433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DS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66FCD69A-860D-4684-934B-8A732850CE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9" y="2784"/>
              <a:ext cx="433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ES</a:t>
              </a:r>
              <a:endPara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" name="Rectangle 27">
            <a:extLst>
              <a:ext uri="{FF2B5EF4-FFF2-40B4-BE49-F238E27FC236}">
                <a16:creationId xmlns:a16="http://schemas.microsoft.com/office/drawing/2014/main" id="{EDDFE8B4-94C9-41BE-A99B-91D940311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430713"/>
            <a:ext cx="5400675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解： 各段分布及段首址见右图所示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操作数的物理地址为：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2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250AH×16+0204H = 252A4H</a:t>
            </a:r>
          </a:p>
        </p:txBody>
      </p:sp>
    </p:spTree>
    <p:extLst>
      <p:ext uri="{BB962C8B-B14F-4D97-AF65-F5344CB8AC3E}">
        <p14:creationId xmlns:p14="http://schemas.microsoft.com/office/powerpoint/2010/main" val="1833132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CB2F0B1-C2C2-46EC-A17E-B23FE164B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" y="909106"/>
            <a:ext cx="11165115" cy="163826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489E319-E914-4A7F-A6FB-CFE971374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65" y="3429000"/>
            <a:ext cx="11165115" cy="192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2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F40B48-7F02-4CBA-9684-D869A9288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3.</a:t>
            </a:r>
            <a:r>
              <a:rPr kumimoji="1"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4400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8086</a:t>
            </a:r>
            <a:r>
              <a:rPr kumimoji="1" lang="zh-CN" altLang="en-US" sz="4400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指令系统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5E7022-3A8C-49D5-9A44-2C540BDA4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167289"/>
          </a:xfrm>
        </p:spPr>
        <p:txBody>
          <a:bodyPr/>
          <a:lstStyle/>
          <a:p>
            <a:pPr marL="533400" indent="-533400"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操作数的类型以及寻址方式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理解、应用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]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重要指令的功能理解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应用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] 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dirty="0">
                <a:ea typeface="楷体_GB2312" pitchFamily="49" charset="-122"/>
              </a:rPr>
              <a:t>  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重要指令对标志位的影响 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理解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6232884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99FE41E-5E69-46B4-98FE-CDFEFFA12172}"/>
              </a:ext>
            </a:extLst>
          </p:cNvPr>
          <p:cNvSpPr txBox="1"/>
          <p:nvPr/>
        </p:nvSpPr>
        <p:spPr>
          <a:xfrm>
            <a:off x="420913" y="674400"/>
            <a:ext cx="1104537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latin typeface="+mj-lt"/>
                <a:ea typeface="+mj-ea"/>
                <a:cs typeface="+mj-cs"/>
              </a:rPr>
              <a:t>3.1  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分别指出下列指令中源操作数和目的操作数的寻址方式</a:t>
            </a:r>
            <a:endParaRPr lang="en-US" altLang="zh-CN" sz="4400" dirty="0">
              <a:latin typeface="+mj-lt"/>
              <a:ea typeface="+mj-ea"/>
              <a:cs typeface="+mj-cs"/>
            </a:endParaRPr>
          </a:p>
          <a:p>
            <a:r>
              <a:rPr lang="zh-CN" alt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altLang="zh-CN" sz="4400" dirty="0">
                <a:latin typeface="+mj-lt"/>
                <a:ea typeface="+mj-ea"/>
                <a:cs typeface="+mj-cs"/>
              </a:rPr>
              <a:t>(1) MOV AX,5678H</a:t>
            </a:r>
          </a:p>
          <a:p>
            <a:r>
              <a:rPr lang="en-US" altLang="zh-CN" sz="4400" dirty="0">
                <a:latin typeface="+mj-lt"/>
                <a:ea typeface="+mj-ea"/>
                <a:cs typeface="+mj-cs"/>
              </a:rPr>
              <a:t> (2) MOV [SI],AX</a:t>
            </a:r>
          </a:p>
          <a:p>
            <a:r>
              <a:rPr lang="en-US" altLang="zh-CN" sz="4400" dirty="0">
                <a:latin typeface="+mj-lt"/>
                <a:ea typeface="+mj-ea"/>
                <a:cs typeface="+mj-cs"/>
              </a:rPr>
              <a:t> (3) MOV 2[DI],BX </a:t>
            </a:r>
          </a:p>
          <a:p>
            <a:r>
              <a:rPr lang="en-US" altLang="zh-CN" sz="4400" dirty="0">
                <a:latin typeface="+mj-lt"/>
                <a:ea typeface="+mj-ea"/>
                <a:cs typeface="+mj-cs"/>
              </a:rPr>
              <a:t>(4) MOV 2[BX+SI],DX </a:t>
            </a:r>
          </a:p>
          <a:p>
            <a:r>
              <a:rPr lang="en-US" altLang="zh-CN" sz="4400" dirty="0">
                <a:latin typeface="+mj-lt"/>
                <a:ea typeface="+mj-ea"/>
                <a:cs typeface="+mj-cs"/>
              </a:rPr>
              <a:t>(5) MOV AX,[10]</a:t>
            </a:r>
          </a:p>
          <a:p>
            <a:r>
              <a:rPr lang="en-US" altLang="zh-CN" sz="4400" dirty="0">
                <a:latin typeface="+mj-lt"/>
                <a:ea typeface="+mj-ea"/>
                <a:cs typeface="+mj-cs"/>
              </a:rPr>
              <a:t> (6) MOV AX,[ SI][ BP+FFF0H]</a:t>
            </a:r>
            <a:endParaRPr lang="zh-CN" altLang="en-US" sz="4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080101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EA2270A-F859-4B1B-ABD7-3AC645ABE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9" y="1535112"/>
            <a:ext cx="11962413" cy="395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025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64AD7B-C842-4717-857E-B27A9049C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</a:t>
            </a:r>
            <a:r>
              <a:rPr lang="zh-CN" altLang="en-US" dirty="0"/>
              <a:t>判断对错，并指出下列指令的错误原因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D2AB99-D240-41EA-A861-E9C385915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486"/>
            <a:ext cx="10515600" cy="53485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(1) MOV AX,BL</a:t>
            </a:r>
          </a:p>
          <a:p>
            <a:pPr marL="0" indent="0">
              <a:buNone/>
            </a:pPr>
            <a:r>
              <a:rPr lang="en-US" altLang="zh-CN" dirty="0"/>
              <a:t>(2) MOV 2,AX</a:t>
            </a:r>
          </a:p>
          <a:p>
            <a:pPr marL="0" indent="0">
              <a:buNone/>
            </a:pPr>
            <a:r>
              <a:rPr lang="en-US" altLang="zh-CN" dirty="0"/>
              <a:t>(3) MOV AX,[DX] </a:t>
            </a:r>
          </a:p>
          <a:p>
            <a:pPr marL="0" indent="0">
              <a:buNone/>
            </a:pPr>
            <a:r>
              <a:rPr lang="en-US" altLang="zh-CN" dirty="0"/>
              <a:t>(4) MOV AX,[BX+BP] </a:t>
            </a:r>
          </a:p>
          <a:p>
            <a:pPr marL="0" indent="0">
              <a:buNone/>
            </a:pPr>
            <a:r>
              <a:rPr lang="en-US" altLang="zh-CN" dirty="0"/>
              <a:t>(5) MOV AX,[SI+DI] </a:t>
            </a:r>
          </a:p>
          <a:p>
            <a:pPr marL="0" indent="0">
              <a:buNone/>
            </a:pPr>
            <a:r>
              <a:rPr lang="en-US" altLang="zh-CN" dirty="0"/>
              <a:t>(6) MOV [SI],[DI]</a:t>
            </a:r>
          </a:p>
          <a:p>
            <a:pPr marL="0" indent="0">
              <a:buNone/>
            </a:pPr>
            <a:r>
              <a:rPr lang="en-US" altLang="zh-CN" dirty="0"/>
              <a:t>(7) PUSH AL</a:t>
            </a:r>
          </a:p>
          <a:p>
            <a:pPr marL="0" indent="0">
              <a:buNone/>
            </a:pPr>
            <a:r>
              <a:rPr lang="en-US" altLang="zh-CN" dirty="0"/>
              <a:t> (8) POP DH </a:t>
            </a:r>
          </a:p>
          <a:p>
            <a:pPr marL="0" indent="0">
              <a:buNone/>
            </a:pPr>
            <a:r>
              <a:rPr lang="en-US" altLang="zh-CN" dirty="0"/>
              <a:t>(9) MOV CS,AX </a:t>
            </a:r>
          </a:p>
          <a:p>
            <a:pPr marL="0" indent="0">
              <a:buNone/>
            </a:pPr>
            <a:r>
              <a:rPr lang="en-US" altLang="zh-CN" dirty="0"/>
              <a:t>(10) MOV SS,AX</a:t>
            </a:r>
          </a:p>
          <a:p>
            <a:pPr marL="0" indent="0">
              <a:buNone/>
            </a:pPr>
            <a:r>
              <a:rPr lang="en-US" altLang="zh-CN" dirty="0"/>
              <a:t> (11) SHL AX,3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09143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1D77731-636A-4419-8B83-2357ECD79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41" y="0"/>
            <a:ext cx="10538918" cy="578190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97BA60D-EECE-476D-A1F9-FE6DAE879DFE}"/>
              </a:ext>
            </a:extLst>
          </p:cNvPr>
          <p:cNvSpPr txBox="1"/>
          <p:nvPr/>
        </p:nvSpPr>
        <p:spPr>
          <a:xfrm>
            <a:off x="622568" y="5985102"/>
            <a:ext cx="105389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提醒：在 </a:t>
            </a:r>
            <a:r>
              <a:rPr lang="en-US" altLang="zh-CN" dirty="0"/>
              <a:t>x86 </a:t>
            </a:r>
            <a:r>
              <a:rPr lang="zh-CN" altLang="en-US" dirty="0"/>
              <a:t>汇编中，只有 </a:t>
            </a:r>
            <a:r>
              <a:rPr lang="en-US" altLang="zh-CN" dirty="0"/>
              <a:t>BX, SI, DI, BP </a:t>
            </a:r>
            <a:r>
              <a:rPr lang="zh-CN" altLang="en-US" dirty="0"/>
              <a:t>可以作为内存寻址中的基址或变址寄存器。</a:t>
            </a:r>
            <a:r>
              <a:rPr lang="en-US" altLang="zh-CN" dirty="0"/>
              <a:t>DX </a:t>
            </a:r>
            <a:r>
              <a:rPr lang="zh-CN" altLang="en-US" dirty="0"/>
              <a:t>只能用于 </a:t>
            </a:r>
            <a:r>
              <a:rPr lang="en-US" altLang="zh-CN" dirty="0"/>
              <a:t>I/O </a:t>
            </a:r>
            <a:r>
              <a:rPr lang="zh-CN" altLang="en-US" dirty="0"/>
              <a:t>端口寻址（</a:t>
            </a:r>
            <a:r>
              <a:rPr lang="en-US" altLang="zh-CN" dirty="0"/>
              <a:t>IN/OUT </a:t>
            </a:r>
            <a:r>
              <a:rPr lang="zh-CN" altLang="en-US" dirty="0"/>
              <a:t>指令）。</a:t>
            </a:r>
          </a:p>
        </p:txBody>
      </p:sp>
    </p:spTree>
    <p:extLst>
      <p:ext uri="{BB962C8B-B14F-4D97-AF65-F5344CB8AC3E}">
        <p14:creationId xmlns:p14="http://schemas.microsoft.com/office/powerpoint/2010/main" val="2235463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C4F3B3C-BB02-433F-8175-D43BC66354A9}"/>
              </a:ext>
            </a:extLst>
          </p:cNvPr>
          <p:cNvSpPr txBox="1"/>
          <p:nvPr/>
        </p:nvSpPr>
        <p:spPr>
          <a:xfrm>
            <a:off x="440267" y="551303"/>
            <a:ext cx="1131146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latin typeface="+mj-lt"/>
                <a:ea typeface="+mj-ea"/>
                <a:cs typeface="+mj-cs"/>
              </a:rPr>
              <a:t>3.3 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比较下列两条指令</a:t>
            </a:r>
            <a:r>
              <a:rPr lang="en-US" altLang="zh-CN" sz="4400" dirty="0">
                <a:latin typeface="+mj-lt"/>
                <a:ea typeface="+mj-ea"/>
                <a:cs typeface="+mj-cs"/>
              </a:rPr>
              <a:t>,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指出它们的区别 </a:t>
            </a:r>
            <a:r>
              <a:rPr lang="en-US" altLang="zh-CN" sz="4400" dirty="0">
                <a:latin typeface="+mj-lt"/>
                <a:ea typeface="+mj-ea"/>
                <a:cs typeface="+mj-cs"/>
              </a:rPr>
              <a:t>MOV AX,[SI] LEA AX,[SI] </a:t>
            </a:r>
          </a:p>
          <a:p>
            <a:endParaRPr lang="en-US" altLang="zh-CN" sz="4400" dirty="0">
              <a:latin typeface="+mj-lt"/>
              <a:ea typeface="+mj-ea"/>
              <a:cs typeface="+mj-cs"/>
            </a:endParaRPr>
          </a:p>
          <a:p>
            <a:r>
              <a:rPr lang="zh-CN" altLang="en-US" sz="4400" dirty="0">
                <a:latin typeface="+mj-lt"/>
                <a:ea typeface="+mj-ea"/>
                <a:cs typeface="+mj-cs"/>
              </a:rPr>
              <a:t>解：这两条指令的区别是，指令“</a:t>
            </a:r>
            <a:r>
              <a:rPr lang="en-US" altLang="zh-CN" sz="4400" dirty="0">
                <a:latin typeface="+mj-lt"/>
                <a:ea typeface="+mj-ea"/>
                <a:cs typeface="+mj-cs"/>
              </a:rPr>
              <a:t>MOV AX,[SI]” 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是将内存单元</a:t>
            </a:r>
            <a:r>
              <a:rPr lang="en-US" altLang="zh-CN" sz="4400" dirty="0">
                <a:latin typeface="+mj-lt"/>
                <a:ea typeface="+mj-ea"/>
                <a:cs typeface="+mj-cs"/>
              </a:rPr>
              <a:t>DS:[SI]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中的内容读到</a:t>
            </a:r>
            <a:r>
              <a:rPr lang="en-US" altLang="zh-CN" sz="4400" dirty="0">
                <a:latin typeface="+mj-lt"/>
                <a:ea typeface="+mj-ea"/>
                <a:cs typeface="+mj-cs"/>
              </a:rPr>
              <a:t>CPU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中的寄存器</a:t>
            </a:r>
            <a:r>
              <a:rPr lang="en-US" altLang="zh-CN" sz="4400" dirty="0">
                <a:latin typeface="+mj-lt"/>
                <a:ea typeface="+mj-ea"/>
                <a:cs typeface="+mj-cs"/>
              </a:rPr>
              <a:t>AX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；而指令“</a:t>
            </a:r>
            <a:r>
              <a:rPr lang="en-US" altLang="zh-CN" sz="4400" dirty="0">
                <a:latin typeface="+mj-lt"/>
                <a:ea typeface="+mj-ea"/>
                <a:cs typeface="+mj-cs"/>
              </a:rPr>
              <a:t>LEA AX,[SI]”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是将内存单元</a:t>
            </a:r>
            <a:r>
              <a:rPr lang="en-US" altLang="zh-CN" sz="4400" dirty="0">
                <a:latin typeface="+mj-lt"/>
                <a:ea typeface="+mj-ea"/>
                <a:cs typeface="+mj-cs"/>
              </a:rPr>
              <a:t>DS:[SI]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的偏移地址送到</a:t>
            </a:r>
            <a:r>
              <a:rPr lang="en-US" altLang="zh-CN" sz="4400" dirty="0">
                <a:latin typeface="+mj-lt"/>
                <a:ea typeface="+mj-ea"/>
                <a:cs typeface="+mj-cs"/>
              </a:rPr>
              <a:t>AX</a:t>
            </a:r>
            <a:endParaRPr lang="zh-CN" altLang="en-US" sz="440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2D38E9-A2F6-45A7-BA98-4139506095AB}"/>
              </a:ext>
            </a:extLst>
          </p:cNvPr>
          <p:cNvSpPr txBox="1"/>
          <p:nvPr/>
        </p:nvSpPr>
        <p:spPr>
          <a:xfrm>
            <a:off x="880533" y="5630543"/>
            <a:ext cx="10159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假设 </a:t>
            </a:r>
            <a:r>
              <a:rPr lang="en-US" altLang="zh-CN" dirty="0"/>
              <a:t>SI = 1000H</a:t>
            </a:r>
            <a:r>
              <a:rPr lang="zh-CN" altLang="en-US" dirty="0"/>
              <a:t>，内存地址 </a:t>
            </a:r>
            <a:r>
              <a:rPr lang="en-US" altLang="zh-CN" dirty="0"/>
              <a:t>1000H </a:t>
            </a:r>
            <a:r>
              <a:rPr lang="zh-CN" altLang="en-US" dirty="0"/>
              <a:t>处的字数据是 </a:t>
            </a:r>
            <a:r>
              <a:rPr lang="en-US" altLang="zh-CN" dirty="0"/>
              <a:t>5678H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r>
              <a:rPr lang="zh-CN" altLang="en-US" dirty="0"/>
              <a:t>执行</a:t>
            </a:r>
            <a:r>
              <a:rPr lang="en-US" altLang="zh-CN" dirty="0"/>
              <a:t>MOV</a:t>
            </a:r>
            <a:r>
              <a:rPr lang="zh-CN" altLang="en-US" dirty="0"/>
              <a:t>指令后，</a:t>
            </a:r>
            <a:r>
              <a:rPr lang="en-US" altLang="zh-CN" dirty="0"/>
              <a:t>AX </a:t>
            </a:r>
            <a:r>
              <a:rPr lang="zh-CN" altLang="en-US" dirty="0"/>
              <a:t>的值变成 </a:t>
            </a:r>
            <a:r>
              <a:rPr lang="en-US" altLang="zh-CN" dirty="0"/>
              <a:t>5678H           </a:t>
            </a:r>
            <a:r>
              <a:rPr lang="zh-CN" altLang="en-US" dirty="0"/>
              <a:t>执行</a:t>
            </a:r>
            <a:r>
              <a:rPr lang="en-US" altLang="zh-CN" dirty="0"/>
              <a:t>LEA</a:t>
            </a:r>
            <a:r>
              <a:rPr lang="zh-CN" altLang="en-US" dirty="0"/>
              <a:t>指令后，</a:t>
            </a:r>
            <a:r>
              <a:rPr lang="en-US" altLang="zh-CN" dirty="0"/>
              <a:t>AX = 1000H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581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65ED9-F49E-4145-B81C-794B41D74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3.4 </a:t>
            </a:r>
            <a:r>
              <a:rPr lang="zh-CN" altLang="en-US" dirty="0"/>
              <a:t>假定</a:t>
            </a:r>
            <a:r>
              <a:rPr lang="en-US" altLang="zh-CN" dirty="0"/>
              <a:t>(AX)=1234H,</a:t>
            </a:r>
            <a:r>
              <a:rPr lang="zh-CN" altLang="en-US" dirty="0"/>
              <a:t> 不用计算，写出下面每条指令执行后</a:t>
            </a:r>
            <a:r>
              <a:rPr lang="en-US" altLang="zh-CN" dirty="0"/>
              <a:t>(AX)=? </a:t>
            </a:r>
          </a:p>
          <a:p>
            <a:pPr marL="0" indent="0">
              <a:buNone/>
            </a:pPr>
            <a:r>
              <a:rPr lang="en-US" altLang="zh-CN" dirty="0"/>
              <a:t>① TEST AX,1 </a:t>
            </a:r>
          </a:p>
          <a:p>
            <a:pPr marL="0" indent="0">
              <a:buNone/>
            </a:pPr>
            <a:r>
              <a:rPr lang="en-US" altLang="zh-CN" dirty="0"/>
              <a:t>② XOR AX,AX </a:t>
            </a:r>
          </a:p>
          <a:p>
            <a:pPr marL="0" indent="0">
              <a:buNone/>
            </a:pPr>
            <a:r>
              <a:rPr lang="en-US" altLang="zh-CN" dirty="0"/>
              <a:t>③ SUB AX,AX </a:t>
            </a:r>
          </a:p>
          <a:p>
            <a:pPr marL="0" indent="0">
              <a:buNone/>
            </a:pPr>
            <a:r>
              <a:rPr lang="en-US" altLang="zh-CN" dirty="0"/>
              <a:t>④ CMP AX,8765H </a:t>
            </a:r>
          </a:p>
          <a:p>
            <a:pPr marL="0" indent="0">
              <a:buNone/>
            </a:pPr>
            <a:r>
              <a:rPr lang="zh-CN" altLang="en-US" dirty="0"/>
              <a:t>解： ①</a:t>
            </a:r>
            <a:r>
              <a:rPr lang="en-US" altLang="zh-CN" dirty="0"/>
              <a:t>(AX)=1234H ② 0</a:t>
            </a:r>
            <a:r>
              <a:rPr lang="zh-CN" altLang="en-US" dirty="0"/>
              <a:t>或者写</a:t>
            </a:r>
            <a:r>
              <a:rPr lang="en-US" altLang="zh-CN" dirty="0"/>
              <a:t>(AX)=0000H</a:t>
            </a:r>
          </a:p>
          <a:p>
            <a:pPr marL="0" indent="0">
              <a:buNone/>
            </a:pPr>
            <a:r>
              <a:rPr lang="en-US" altLang="zh-CN" dirty="0"/>
              <a:t> ③ 0</a:t>
            </a:r>
            <a:r>
              <a:rPr lang="zh-CN" altLang="en-US" dirty="0"/>
              <a:t>或者写</a:t>
            </a:r>
            <a:r>
              <a:rPr lang="en-US" altLang="zh-CN" dirty="0"/>
              <a:t>(AX)=0000H ④(AX)=1234H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1945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5.6|6.3|7.9|4.6|20.4|2.4|2.5|4.3|1.8|11.7|2.6|12.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2077</Words>
  <Application>Microsoft Office PowerPoint</Application>
  <PresentationFormat>宽屏</PresentationFormat>
  <Paragraphs>216</Paragraphs>
  <Slides>35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quote-cjk-patch</vt:lpstr>
      <vt:lpstr>等线</vt:lpstr>
      <vt:lpstr>等线 Light</vt:lpstr>
      <vt:lpstr>黑体</vt:lpstr>
      <vt:lpstr>华文琥珀</vt:lpstr>
      <vt:lpstr>楷体_GB2312</vt:lpstr>
      <vt:lpstr>宋体</vt:lpstr>
      <vt:lpstr>Arial</vt:lpstr>
      <vt:lpstr>Times New Roman</vt:lpstr>
      <vt:lpstr>Wingdings</vt:lpstr>
      <vt:lpstr>Office 主题​​</vt:lpstr>
      <vt:lpstr>总复习一</vt:lpstr>
      <vt:lpstr>PowerPoint 演示文稿</vt:lpstr>
      <vt:lpstr>PowerPoint 演示文稿</vt:lpstr>
      <vt:lpstr>PowerPoint 演示文稿</vt:lpstr>
      <vt:lpstr>各章内容的层次结构图</vt:lpstr>
      <vt:lpstr>1.计算机中数据信息的表示</vt:lpstr>
      <vt:lpstr>1.1 设字长为16位，将下列十进制数转换成二进制数，十六进制数以及压缩BCD数。 </vt:lpstr>
      <vt:lpstr> 1.2  设字长为8位，写出x、y的原码、反码和补码，并且用补码计算x+y，问是否有溢出？ </vt:lpstr>
      <vt:lpstr>PowerPoint 演示文稿</vt:lpstr>
      <vt:lpstr>PowerPoint 演示文稿</vt:lpstr>
      <vt:lpstr>PowerPoint 演示文稿</vt:lpstr>
      <vt:lpstr>PowerPoint 演示文稿</vt:lpstr>
      <vt:lpstr>2. 8086微处理器及其体系结构</vt:lpstr>
      <vt:lpstr>PowerPoint 演示文稿</vt:lpstr>
      <vt:lpstr>2.2  8086CPU 中有哪些寄存器？各有什么用途？标志寄存器FLAGS 有哪些标志位？在什么情况下置位？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2.4  寄存器间接寻址示意图：</vt:lpstr>
      <vt:lpstr>2.5   8086 的 4个逻辑段在形成物理地址时分别是什么用途？</vt:lpstr>
      <vt:lpstr>2.6 请将如下逻辑地址用物理地址表示： (1)FFFFH：0 (2)45H：18H (3) 2000H：4600H</vt:lpstr>
      <vt:lpstr>PowerPoint 演示文稿</vt:lpstr>
      <vt:lpstr>PowerPoint 演示文稿</vt:lpstr>
      <vt:lpstr>3. 8086指令系统</vt:lpstr>
      <vt:lpstr>PowerPoint 演示文稿</vt:lpstr>
      <vt:lpstr>PowerPoint 演示文稿</vt:lpstr>
      <vt:lpstr>3.2判断对错，并指出下列指令的错误原因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总复习一</dc:title>
  <dc:creator>晓梅 姜</dc:creator>
  <cp:lastModifiedBy>晓梅 姜</cp:lastModifiedBy>
  <cp:revision>35</cp:revision>
  <dcterms:created xsi:type="dcterms:W3CDTF">2026-05-28T00:19:42Z</dcterms:created>
  <dcterms:modified xsi:type="dcterms:W3CDTF">2026-05-29T00:48:20Z</dcterms:modified>
</cp:coreProperties>
</file>