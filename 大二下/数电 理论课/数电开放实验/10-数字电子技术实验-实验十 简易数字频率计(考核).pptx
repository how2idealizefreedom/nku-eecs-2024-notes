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60" r:id="rId3"/>
    <p:sldId id="257" r:id="rId4"/>
    <p:sldId id="261" r:id="rId5"/>
    <p:sldId id="262" r:id="rId6"/>
    <p:sldId id="259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DC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5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C6B0B-BF9E-4426-9137-ABED91831C07}" type="datetimeFigureOut">
              <a:rPr lang="zh-CN" altLang="en-US" smtClean="0"/>
              <a:t>2023-05-16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D5316-935A-42FA-AF3A-7CFCFD623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530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zh-CN" altLang="en-US" dirty="0"/>
              <a:t>实验十  简易数字频率计</a:t>
            </a:r>
            <a:r>
              <a:rPr lang="en-US" altLang="zh-CN" dirty="0"/>
              <a:t>(</a:t>
            </a:r>
            <a:r>
              <a:rPr lang="zh-CN" altLang="en-US" dirty="0"/>
              <a:t>考核</a:t>
            </a:r>
            <a:r>
              <a:rPr lang="en-US" altLang="zh-CN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0D94-BE0A-41D3-A4BD-7C65AF75BF7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36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44CA-F932-4D92-B9A4-748AD51B14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73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2143-A642-4AA6-BA56-149763AF6F3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59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D49C-98E6-4CDC-A91A-70242E3740F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169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6433-C2C4-44CA-89C1-F20AF082B66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331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0F8B5-CC0E-426F-A00B-422C59AB117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60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5FA3-EC56-43A1-B9CE-7BA3F569C9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57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134688-26D8-46A5-8C88-AECF7F2DE30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62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E1A2D-2AD0-45CD-A264-D6F2F163250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40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BE974-2E92-4E7B-B1ED-A18F377DAF4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480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EB628-1BE9-42D8-9A9D-CABF7E5EB5A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85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实验十  简易数字频率计</a:t>
            </a:r>
            <a:r>
              <a:rPr lang="en-US" altLang="zh-CN"/>
              <a:t>(</a:t>
            </a:r>
            <a:r>
              <a:rPr lang="zh-CN" altLang="en-US"/>
              <a:t>考核</a:t>
            </a:r>
            <a:r>
              <a:rPr lang="en-US" altLang="zh-CN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2DEB628-1BE9-42D8-9A9D-CABF7E5EB5A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69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>
            <a:spLocks noChangeArrowheads="1"/>
          </p:cNvSpPr>
          <p:nvPr/>
        </p:nvSpPr>
        <p:spPr bwMode="auto">
          <a:xfrm>
            <a:off x="1447800" y="1004888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/>
              <a:t>实验十    简易数字频率计</a:t>
            </a:r>
          </a:p>
        </p:txBody>
      </p:sp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457200" y="1981200"/>
            <a:ext cx="8229600" cy="37861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/>
              <a:t>实验目的</a:t>
            </a:r>
            <a:endParaRPr lang="en-US" altLang="zh-CN" sz="2400" b="1" dirty="0"/>
          </a:p>
          <a:p>
            <a:pPr indent="457200" eaLnBrk="1" hangingPunct="1">
              <a:spcBef>
                <a:spcPct val="50000"/>
              </a:spcBef>
              <a:defRPr/>
            </a:pP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zh-CN" altLang="zh-CN" sz="2000" dirty="0"/>
              <a:t>进一步掌握计数器原理及其在频率测量中的应用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indent="457200" eaLnBrk="1" hangingPunct="1">
              <a:spcBef>
                <a:spcPct val="50000"/>
              </a:spcBef>
              <a:defRPr/>
            </a:pP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zh-CN" altLang="zh-CN" sz="2000" dirty="0"/>
              <a:t>学会对比较复杂电路系统进行调试的方法。</a:t>
            </a:r>
            <a:endParaRPr lang="en-US" altLang="zh-CN" sz="20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/>
              <a:t>实验原理</a:t>
            </a:r>
          </a:p>
          <a:p>
            <a:pPr indent="457200" eaLnBrk="1" hangingPunct="1">
              <a:spcBef>
                <a:spcPct val="50000"/>
              </a:spcBef>
              <a:defRPr/>
            </a:pPr>
            <a:r>
              <a:rPr lang="zh-CN" altLang="en-US" sz="2000" dirty="0"/>
              <a:t>频率计是一种测量设备，可以对周期信号进行频率测量，通过显示设备将周期信号频率直观显示出来。</a:t>
            </a:r>
          </a:p>
          <a:p>
            <a:pPr indent="457200" eaLnBrk="1" hangingPunct="1">
              <a:spcBef>
                <a:spcPct val="50000"/>
              </a:spcBef>
              <a:defRPr/>
            </a:pPr>
            <a:r>
              <a:rPr lang="zh-CN" altLang="en-US" sz="2000" dirty="0"/>
              <a:t>脉冲信号的频率就是单位时间内所产生的脉冲个数，其表达式为</a:t>
            </a:r>
            <a:r>
              <a:rPr lang="en-US" altLang="zh-CN" sz="2000" dirty="0"/>
              <a:t>f=N/T</a:t>
            </a:r>
            <a:r>
              <a:rPr lang="zh-CN" altLang="en-US" sz="2000" dirty="0"/>
              <a:t>，其中</a:t>
            </a:r>
            <a:r>
              <a:rPr lang="en-US" altLang="zh-CN" sz="2000" dirty="0"/>
              <a:t>f</a:t>
            </a:r>
            <a:r>
              <a:rPr lang="zh-CN" altLang="en-US" sz="2000" dirty="0"/>
              <a:t>为被测信号的频率，</a:t>
            </a:r>
            <a:r>
              <a:rPr lang="en-US" altLang="zh-CN" sz="2000" dirty="0"/>
              <a:t>N</a:t>
            </a:r>
            <a:r>
              <a:rPr lang="zh-CN" altLang="en-US" sz="2000" dirty="0"/>
              <a:t>为计数器累计的脉冲个数，</a:t>
            </a:r>
            <a:r>
              <a:rPr lang="en-US" altLang="zh-CN" sz="2000" dirty="0"/>
              <a:t>T</a:t>
            </a:r>
            <a:r>
              <a:rPr lang="zh-CN" altLang="en-US" sz="2000" dirty="0"/>
              <a:t>为产生</a:t>
            </a:r>
            <a:r>
              <a:rPr lang="en-US" altLang="zh-CN" sz="2000" dirty="0"/>
              <a:t>N</a:t>
            </a:r>
            <a:r>
              <a:rPr lang="zh-CN" altLang="en-US" sz="2000" dirty="0"/>
              <a:t>个脉冲所需的时间。当</a:t>
            </a:r>
            <a:r>
              <a:rPr lang="en-US" altLang="zh-CN" sz="2000" dirty="0"/>
              <a:t>T=1s</a:t>
            </a:r>
            <a:r>
              <a:rPr lang="zh-CN" altLang="en-US" sz="2000" dirty="0"/>
              <a:t>时，计数器的计数值就是被测信号的频率。</a:t>
            </a:r>
            <a:endParaRPr lang="en-US" altLang="zh-CN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0D94-BE0A-41D3-A4BD-7C65AF75BF7C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457200" y="1066800"/>
            <a:ext cx="8229600" cy="50165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indent="457200" eaLnBrk="1" hangingPunct="1">
              <a:spcBef>
                <a:spcPct val="50000"/>
              </a:spcBef>
              <a:defRPr/>
            </a:pPr>
            <a:r>
              <a:rPr lang="zh-CN" altLang="en-US" sz="2000" dirty="0"/>
              <a:t>简易数字频率计的工作原理是对周期信号进行计数，</a:t>
            </a:r>
            <a:r>
              <a:rPr lang="en-US" altLang="zh-CN" sz="2000" dirty="0"/>
              <a:t>1</a:t>
            </a:r>
            <a:r>
              <a:rPr lang="zh-CN" altLang="en-US" sz="2000" dirty="0"/>
              <a:t>秒钟之内通过的周期信号个数即为周期信号频率，其主要有以下几个部分构成：</a:t>
            </a:r>
            <a:endParaRPr lang="en-US" altLang="zh-CN" sz="20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/>
              <a:t>1</a:t>
            </a:r>
            <a:r>
              <a:rPr lang="zh-CN" altLang="en-US" sz="2000" dirty="0"/>
              <a:t>、主闸门，将主闸门的启闭时间设置为</a:t>
            </a:r>
            <a:r>
              <a:rPr lang="en-US" altLang="zh-CN" sz="2000" dirty="0"/>
              <a:t>1</a:t>
            </a:r>
            <a:r>
              <a:rPr lang="zh-CN" altLang="en-US" sz="2000" dirty="0"/>
              <a:t>秒，计数的被测脉冲数就是周期信号频率（实验中使用</a:t>
            </a:r>
            <a:r>
              <a:rPr lang="en-US" altLang="zh-CN" sz="2000" dirty="0"/>
              <a:t>7400</a:t>
            </a:r>
            <a:r>
              <a:rPr lang="zh-CN" altLang="en-US" sz="2000" dirty="0"/>
              <a:t>为主控闸门）；</a:t>
            </a:r>
            <a:endParaRPr lang="en-US" altLang="zh-CN" sz="20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/>
              <a:t>2</a:t>
            </a:r>
            <a:r>
              <a:rPr lang="zh-CN" altLang="en-US" sz="2000" dirty="0"/>
              <a:t>、时基电路，由晶振或其它脉冲发生电路产生震荡信号，经门控双稳电路整形为对称的方波；</a:t>
            </a:r>
            <a:endParaRPr lang="en-US" altLang="zh-CN" sz="20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/>
              <a:t>3</a:t>
            </a:r>
            <a:r>
              <a:rPr lang="zh-CN" altLang="en-US" sz="2000" dirty="0"/>
              <a:t>、输入电路，包括信号的产生与转换电路，放大和整形电路（在本次实验中，并没有包含这些电路）；</a:t>
            </a:r>
            <a:endParaRPr lang="en-US" altLang="zh-CN" sz="20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/>
              <a:t>4</a:t>
            </a:r>
            <a:r>
              <a:rPr lang="zh-CN" altLang="en-US" sz="2000" dirty="0"/>
              <a:t>、计数、锁存、译码显示电路，本次实验采用</a:t>
            </a:r>
            <a:r>
              <a:rPr lang="en-US" altLang="zh-CN" sz="2000" dirty="0"/>
              <a:t>7490</a:t>
            </a:r>
            <a:r>
              <a:rPr lang="zh-CN" altLang="en-US" sz="2000" dirty="0"/>
              <a:t>、</a:t>
            </a:r>
            <a:r>
              <a:rPr lang="en-US" altLang="zh-CN" sz="2000" dirty="0"/>
              <a:t>7475</a:t>
            </a:r>
            <a:r>
              <a:rPr lang="zh-CN" altLang="en-US" sz="2000" dirty="0"/>
              <a:t>、</a:t>
            </a:r>
            <a:r>
              <a:rPr lang="en-US" altLang="zh-CN" sz="2000" dirty="0"/>
              <a:t>7448</a:t>
            </a:r>
            <a:r>
              <a:rPr lang="zh-CN" altLang="en-US" sz="2000" dirty="0"/>
              <a:t>（</a:t>
            </a:r>
            <a:r>
              <a:rPr lang="en-US" altLang="zh-CN" sz="2000"/>
              <a:t>4511</a:t>
            </a:r>
            <a:r>
              <a:rPr lang="zh-CN" altLang="en-US" sz="2000"/>
              <a:t>）和</a:t>
            </a:r>
            <a:r>
              <a:rPr lang="zh-CN" altLang="en-US" sz="2000" dirty="0"/>
              <a:t>数码管实现上述功能电路；</a:t>
            </a:r>
            <a:endParaRPr lang="en-US" altLang="zh-CN" sz="2000" dirty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/>
              <a:t>5</a:t>
            </a:r>
            <a:r>
              <a:rPr lang="zh-CN" altLang="en-US" sz="2000" dirty="0"/>
              <a:t>、控制电路，用来产生计数器的清零信号和锁存电路的锁存信号（实验中采用</a:t>
            </a:r>
            <a:r>
              <a:rPr lang="en-US" altLang="zh-CN" sz="2000" dirty="0"/>
              <a:t>74123</a:t>
            </a:r>
            <a:r>
              <a:rPr lang="zh-CN" altLang="en-US" sz="2000" dirty="0"/>
              <a:t>来实现）。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zh-CN" sz="2000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实验十  简易数字频率计</a:t>
            </a:r>
            <a:r>
              <a:rPr lang="en-US" altLang="zh-CN" dirty="0"/>
              <a:t>(</a:t>
            </a:r>
            <a:r>
              <a:rPr lang="zh-CN" altLang="en-US" dirty="0"/>
              <a:t>考核</a:t>
            </a:r>
            <a:r>
              <a:rPr lang="en-US" altLang="zh-CN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0D94-BE0A-41D3-A4BD-7C65AF75BF7C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696200" y="697468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/>
              <a:t>（实验原理）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>
            <a:spLocks noChangeArrowheads="1"/>
          </p:cNvSpPr>
          <p:nvPr/>
        </p:nvSpPr>
        <p:spPr bwMode="auto">
          <a:xfrm>
            <a:off x="533400" y="776288"/>
            <a:ext cx="8077200" cy="5540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/>
              <a:t>实验内容</a:t>
            </a: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zh-CN" sz="2000" dirty="0"/>
              <a:t>1</a:t>
            </a:r>
            <a:r>
              <a:rPr lang="zh-CN" altLang="en-US" sz="2000" dirty="0"/>
              <a:t>、将两位十进制计数器</a:t>
            </a:r>
            <a:r>
              <a:rPr lang="en-US" altLang="zh-CN" sz="2000" dirty="0"/>
              <a:t>7490</a:t>
            </a:r>
            <a:r>
              <a:rPr lang="zh-CN" altLang="en-US" sz="2000" dirty="0"/>
              <a:t>连接起来做成一个百进制计数器，调试电路使其能从</a:t>
            </a:r>
            <a:r>
              <a:rPr lang="en-US" altLang="zh-CN" sz="2000" dirty="0"/>
              <a:t>0-99</a:t>
            </a:r>
            <a:r>
              <a:rPr lang="zh-CN" altLang="en-US" sz="2000" dirty="0"/>
              <a:t>正常计数。</a:t>
            </a: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zh-CN" sz="2000" dirty="0"/>
              <a:t>2</a:t>
            </a:r>
            <a:r>
              <a:rPr lang="zh-CN" altLang="en-US" sz="2000" dirty="0"/>
              <a:t>、用示波器调试控制电路：观察双稳输出是否为</a:t>
            </a:r>
            <a:r>
              <a:rPr lang="en-US" altLang="zh-CN" sz="2000" dirty="0"/>
              <a:t>0.5Hz</a:t>
            </a:r>
            <a:r>
              <a:rPr lang="zh-CN" altLang="en-US" sz="2000" dirty="0"/>
              <a:t>，两级单稳输出端均有窄脉冲输出，则表明控制部分正常。</a:t>
            </a: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zh-CN" sz="2000" dirty="0"/>
              <a:t>3</a:t>
            </a:r>
            <a:r>
              <a:rPr lang="zh-CN" altLang="en-US" sz="2000" dirty="0"/>
              <a:t>、连接好全部电路，基准频率输入</a:t>
            </a:r>
            <a:r>
              <a:rPr lang="en-US" altLang="zh-CN" sz="2000" dirty="0"/>
              <a:t>1Hz</a:t>
            </a:r>
            <a:r>
              <a:rPr lang="zh-CN" altLang="en-US" sz="2000" dirty="0"/>
              <a:t>信号。改变被测信号的频率，检验显示结果是否正确。</a:t>
            </a:r>
            <a:endParaRPr lang="en-US" altLang="zh-CN" sz="2000" dirty="0"/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US" altLang="zh-CN" sz="2000" dirty="0"/>
              <a:t>4</a:t>
            </a:r>
            <a:r>
              <a:rPr lang="zh-CN" altLang="en-US" sz="2000" dirty="0"/>
              <a:t>、至少测三组数据：</a:t>
            </a:r>
            <a:r>
              <a:rPr lang="en-US" altLang="zh-CN" sz="2000" dirty="0"/>
              <a:t>10Hz</a:t>
            </a:r>
            <a:r>
              <a:rPr lang="zh-CN" altLang="en-US" sz="2000" dirty="0"/>
              <a:t>；</a:t>
            </a:r>
            <a:r>
              <a:rPr lang="en-US" altLang="zh-CN" sz="2000" dirty="0"/>
              <a:t>52Hz</a:t>
            </a:r>
            <a:r>
              <a:rPr lang="zh-CN" altLang="en-US" sz="2000" dirty="0"/>
              <a:t>；</a:t>
            </a:r>
            <a:r>
              <a:rPr lang="en-US" altLang="zh-CN" sz="2000" dirty="0"/>
              <a:t>93Hz</a:t>
            </a:r>
            <a:r>
              <a:rPr lang="zh-CN" altLang="en-US" sz="2000" dirty="0"/>
              <a:t>；误差不超过</a:t>
            </a:r>
            <a:r>
              <a:rPr lang="en-US" altLang="zh-CN" sz="2000" dirty="0"/>
              <a:t>+-1Hz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b="1" dirty="0"/>
              <a:t>注意事项：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7474      D</a:t>
            </a:r>
            <a:r>
              <a:rPr lang="zh-CN" altLang="en-US" sz="2000" dirty="0"/>
              <a:t>接</a:t>
            </a:r>
            <a:r>
              <a:rPr lang="en-US" altLang="zh-CN" sz="2000" dirty="0"/>
              <a:t>Q</a:t>
            </a:r>
            <a:r>
              <a:rPr lang="zh-CN" altLang="en-US" sz="2000" dirty="0"/>
              <a:t>非，</a:t>
            </a:r>
            <a:r>
              <a:rPr lang="en-US" altLang="zh-CN" sz="2000" dirty="0"/>
              <a:t>R</a:t>
            </a:r>
            <a:r>
              <a:rPr lang="zh-CN" altLang="en-US" sz="2000" dirty="0"/>
              <a:t>＝</a:t>
            </a:r>
            <a:r>
              <a:rPr lang="en-US" altLang="zh-CN" sz="2000" dirty="0"/>
              <a:t>S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，不能悬空。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7490      S1</a:t>
            </a:r>
            <a:r>
              <a:rPr lang="zh-CN" altLang="en-US" sz="2000" dirty="0"/>
              <a:t>＝</a:t>
            </a:r>
            <a:r>
              <a:rPr lang="en-US" altLang="zh-CN" sz="2000" dirty="0"/>
              <a:t>S2</a:t>
            </a:r>
            <a:r>
              <a:rPr lang="zh-CN" altLang="en-US" sz="2000" dirty="0"/>
              <a:t>＝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R1</a:t>
            </a:r>
            <a:r>
              <a:rPr lang="zh-CN" altLang="en-US" sz="2000" dirty="0"/>
              <a:t>、</a:t>
            </a:r>
            <a:r>
              <a:rPr lang="en-US" altLang="zh-CN" sz="2000" dirty="0"/>
              <a:t>R2</a:t>
            </a:r>
            <a:r>
              <a:rPr lang="zh-CN" altLang="en-US" sz="2000" dirty="0"/>
              <a:t>接清零信号。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74123     R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，</a:t>
            </a:r>
            <a:r>
              <a:rPr lang="en-US" altLang="zh-CN" sz="2000" dirty="0"/>
              <a:t>B</a:t>
            </a:r>
            <a:r>
              <a:rPr lang="zh-CN" altLang="en-US" sz="2000" dirty="0"/>
              <a:t>＝</a:t>
            </a:r>
            <a:r>
              <a:rPr lang="en-US" altLang="zh-CN" sz="2000" dirty="0"/>
              <a:t>1</a:t>
            </a:r>
            <a:r>
              <a:rPr lang="zh-CN" altLang="en-US" sz="2000" dirty="0"/>
              <a:t>，第一个</a:t>
            </a:r>
            <a:r>
              <a:rPr lang="en-US" altLang="zh-CN" sz="2000" dirty="0"/>
              <a:t>A</a:t>
            </a:r>
            <a:r>
              <a:rPr lang="zh-CN" altLang="en-US" sz="2000" dirty="0"/>
              <a:t>输入</a:t>
            </a:r>
            <a:r>
              <a:rPr lang="en-US" altLang="zh-CN" sz="2000" dirty="0"/>
              <a:t>7474</a:t>
            </a:r>
            <a:r>
              <a:rPr lang="zh-CN" altLang="en-US" sz="2000" dirty="0"/>
              <a:t>的输出信号</a:t>
            </a:r>
            <a:r>
              <a:rPr lang="en-US" altLang="zh-CN" sz="2000" dirty="0"/>
              <a:t>Q</a:t>
            </a:r>
            <a:r>
              <a:rPr lang="zh-CN" altLang="en-US" sz="2000" dirty="0"/>
              <a:t>，第二个</a:t>
            </a:r>
            <a:r>
              <a:rPr lang="en-US" altLang="zh-CN" sz="2000" dirty="0"/>
              <a:t>A</a:t>
            </a:r>
            <a:r>
              <a:rPr lang="zh-CN" altLang="en-US" sz="2000" dirty="0"/>
              <a:t>输入第一个单稳的输出信号</a:t>
            </a:r>
            <a:r>
              <a:rPr lang="en-US" altLang="zh-CN" sz="2000" dirty="0"/>
              <a:t>Q</a:t>
            </a:r>
            <a:r>
              <a:rPr lang="zh-CN" altLang="en-US" sz="2000" dirty="0"/>
              <a:t>。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zh-CN" sz="2000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400" dirty="0"/>
              <a:t>实验十  简易数字频率计</a:t>
            </a:r>
            <a:r>
              <a:rPr lang="en-US" altLang="zh-CN" sz="1400" dirty="0"/>
              <a:t>(</a:t>
            </a:r>
            <a:r>
              <a:rPr lang="zh-CN" altLang="en-US" sz="1400" dirty="0"/>
              <a:t>考核</a:t>
            </a:r>
            <a:r>
              <a:rPr lang="en-US" altLang="zh-CN" sz="1400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44CA-F932-4D92-B9A4-748AD51B140B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"/>
          <p:cNvGrpSpPr>
            <a:grpSpLocks/>
          </p:cNvGrpSpPr>
          <p:nvPr/>
        </p:nvGrpSpPr>
        <p:grpSpPr bwMode="auto">
          <a:xfrm>
            <a:off x="539750" y="1484313"/>
            <a:ext cx="8153400" cy="4648200"/>
            <a:chOff x="539750" y="1484313"/>
            <a:chExt cx="8153400" cy="4648200"/>
          </a:xfrm>
        </p:grpSpPr>
        <p:sp>
          <p:nvSpPr>
            <p:cNvPr id="5124" name="Rectangle 5"/>
            <p:cNvSpPr>
              <a:spLocks noChangeArrowheads="1"/>
            </p:cNvSpPr>
            <p:nvPr/>
          </p:nvSpPr>
          <p:spPr bwMode="auto">
            <a:xfrm>
              <a:off x="539750" y="1484313"/>
              <a:ext cx="8153400" cy="46482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5125" name="Group 6"/>
            <p:cNvGrpSpPr>
              <a:grpSpLocks/>
            </p:cNvGrpSpPr>
            <p:nvPr/>
          </p:nvGrpSpPr>
          <p:grpSpPr bwMode="auto">
            <a:xfrm>
              <a:off x="4883150" y="2017713"/>
              <a:ext cx="533400" cy="762000"/>
              <a:chOff x="2544" y="1344"/>
              <a:chExt cx="336" cy="480"/>
            </a:xfrm>
          </p:grpSpPr>
          <p:sp>
            <p:nvSpPr>
              <p:cNvPr id="5179" name="Rectangle 7"/>
              <p:cNvSpPr>
                <a:spLocks noChangeArrowheads="1"/>
              </p:cNvSpPr>
              <p:nvPr/>
            </p:nvSpPr>
            <p:spPr bwMode="auto">
              <a:xfrm>
                <a:off x="2544" y="1344"/>
                <a:ext cx="336" cy="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80" name="Text Box 8"/>
              <p:cNvSpPr txBox="1">
                <a:spLocks noChangeArrowheads="1"/>
              </p:cNvSpPr>
              <p:nvPr/>
            </p:nvSpPr>
            <p:spPr bwMode="auto">
              <a:xfrm>
                <a:off x="2621" y="1440"/>
                <a:ext cx="173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计数</a:t>
                </a:r>
              </a:p>
            </p:txBody>
          </p:sp>
        </p:grpSp>
        <p:grpSp>
          <p:nvGrpSpPr>
            <p:cNvPr id="5126" name="Group 9"/>
            <p:cNvGrpSpPr>
              <a:grpSpLocks/>
            </p:cNvGrpSpPr>
            <p:nvPr/>
          </p:nvGrpSpPr>
          <p:grpSpPr bwMode="auto">
            <a:xfrm>
              <a:off x="4883150" y="3313113"/>
              <a:ext cx="533400" cy="762000"/>
              <a:chOff x="2544" y="1344"/>
              <a:chExt cx="336" cy="480"/>
            </a:xfrm>
          </p:grpSpPr>
          <p:sp>
            <p:nvSpPr>
              <p:cNvPr id="5177" name="Rectangle 10"/>
              <p:cNvSpPr>
                <a:spLocks noChangeArrowheads="1"/>
              </p:cNvSpPr>
              <p:nvPr/>
            </p:nvSpPr>
            <p:spPr bwMode="auto">
              <a:xfrm>
                <a:off x="2544" y="1344"/>
                <a:ext cx="336" cy="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78" name="Text Box 11"/>
              <p:cNvSpPr txBox="1">
                <a:spLocks noChangeArrowheads="1"/>
              </p:cNvSpPr>
              <p:nvPr/>
            </p:nvSpPr>
            <p:spPr bwMode="auto">
              <a:xfrm>
                <a:off x="2621" y="1440"/>
                <a:ext cx="173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计数</a:t>
                </a:r>
              </a:p>
            </p:txBody>
          </p:sp>
        </p:grpSp>
        <p:grpSp>
          <p:nvGrpSpPr>
            <p:cNvPr id="5127" name="Group 12"/>
            <p:cNvGrpSpPr>
              <a:grpSpLocks/>
            </p:cNvGrpSpPr>
            <p:nvPr/>
          </p:nvGrpSpPr>
          <p:grpSpPr bwMode="auto">
            <a:xfrm>
              <a:off x="5873750" y="2017713"/>
              <a:ext cx="533400" cy="762000"/>
              <a:chOff x="2544" y="1344"/>
              <a:chExt cx="336" cy="480"/>
            </a:xfrm>
          </p:grpSpPr>
          <p:sp>
            <p:nvSpPr>
              <p:cNvPr id="5175" name="Rectangle 13"/>
              <p:cNvSpPr>
                <a:spLocks noChangeArrowheads="1"/>
              </p:cNvSpPr>
              <p:nvPr/>
            </p:nvSpPr>
            <p:spPr bwMode="auto">
              <a:xfrm>
                <a:off x="2544" y="1344"/>
                <a:ext cx="336" cy="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76" name="Text Box 14"/>
              <p:cNvSpPr txBox="1">
                <a:spLocks noChangeArrowheads="1"/>
              </p:cNvSpPr>
              <p:nvPr/>
            </p:nvSpPr>
            <p:spPr bwMode="auto">
              <a:xfrm>
                <a:off x="2621" y="1440"/>
                <a:ext cx="173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锁存</a:t>
                </a:r>
              </a:p>
            </p:txBody>
          </p:sp>
        </p:grpSp>
        <p:grpSp>
          <p:nvGrpSpPr>
            <p:cNvPr id="5128" name="Group 15"/>
            <p:cNvGrpSpPr>
              <a:grpSpLocks/>
            </p:cNvGrpSpPr>
            <p:nvPr/>
          </p:nvGrpSpPr>
          <p:grpSpPr bwMode="auto">
            <a:xfrm>
              <a:off x="5873750" y="3313113"/>
              <a:ext cx="533400" cy="762000"/>
              <a:chOff x="2544" y="1344"/>
              <a:chExt cx="336" cy="480"/>
            </a:xfrm>
          </p:grpSpPr>
          <p:sp>
            <p:nvSpPr>
              <p:cNvPr id="5173" name="Rectangle 16"/>
              <p:cNvSpPr>
                <a:spLocks noChangeArrowheads="1"/>
              </p:cNvSpPr>
              <p:nvPr/>
            </p:nvSpPr>
            <p:spPr bwMode="auto">
              <a:xfrm>
                <a:off x="2544" y="1344"/>
                <a:ext cx="336" cy="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74" name="Text Box 17"/>
              <p:cNvSpPr txBox="1">
                <a:spLocks noChangeArrowheads="1"/>
              </p:cNvSpPr>
              <p:nvPr/>
            </p:nvSpPr>
            <p:spPr bwMode="auto">
              <a:xfrm>
                <a:off x="2621" y="1440"/>
                <a:ext cx="173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锁存</a:t>
                </a:r>
              </a:p>
            </p:txBody>
          </p:sp>
        </p:grpSp>
        <p:grpSp>
          <p:nvGrpSpPr>
            <p:cNvPr id="5129" name="Group 18"/>
            <p:cNvGrpSpPr>
              <a:grpSpLocks/>
            </p:cNvGrpSpPr>
            <p:nvPr/>
          </p:nvGrpSpPr>
          <p:grpSpPr bwMode="auto">
            <a:xfrm>
              <a:off x="6864350" y="2017713"/>
              <a:ext cx="1212850" cy="1905000"/>
              <a:chOff x="2544" y="1344"/>
              <a:chExt cx="336" cy="480"/>
            </a:xfrm>
          </p:grpSpPr>
          <p:sp>
            <p:nvSpPr>
              <p:cNvPr id="5171" name="Rectangle 19"/>
              <p:cNvSpPr>
                <a:spLocks noChangeArrowheads="1"/>
              </p:cNvSpPr>
              <p:nvPr/>
            </p:nvSpPr>
            <p:spPr bwMode="auto">
              <a:xfrm>
                <a:off x="2544" y="1344"/>
                <a:ext cx="336" cy="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72" name="Text Box 20"/>
              <p:cNvSpPr txBox="1">
                <a:spLocks noChangeArrowheads="1"/>
              </p:cNvSpPr>
              <p:nvPr/>
            </p:nvSpPr>
            <p:spPr bwMode="auto">
              <a:xfrm>
                <a:off x="2673" y="1397"/>
                <a:ext cx="77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数码显示模块</a:t>
                </a:r>
              </a:p>
            </p:txBody>
          </p:sp>
        </p:grpSp>
        <p:grpSp>
          <p:nvGrpSpPr>
            <p:cNvPr id="5130" name="Group 30"/>
            <p:cNvGrpSpPr>
              <a:grpSpLocks/>
            </p:cNvGrpSpPr>
            <p:nvPr/>
          </p:nvGrpSpPr>
          <p:grpSpPr bwMode="auto">
            <a:xfrm>
              <a:off x="3352800" y="2246315"/>
              <a:ext cx="914400" cy="550863"/>
              <a:chOff x="1680" y="1536"/>
              <a:chExt cx="576" cy="347"/>
            </a:xfrm>
          </p:grpSpPr>
          <p:sp>
            <p:nvSpPr>
              <p:cNvPr id="5169" name="Rectangle 31"/>
              <p:cNvSpPr>
                <a:spLocks noChangeArrowheads="1"/>
              </p:cNvSpPr>
              <p:nvPr/>
            </p:nvSpPr>
            <p:spPr bwMode="auto">
              <a:xfrm>
                <a:off x="1680" y="1536"/>
                <a:ext cx="576" cy="33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70" name="Text Box 32"/>
              <p:cNvSpPr txBox="1">
                <a:spLocks noChangeArrowheads="1"/>
              </p:cNvSpPr>
              <p:nvPr/>
            </p:nvSpPr>
            <p:spPr bwMode="auto">
              <a:xfrm>
                <a:off x="1781" y="1573"/>
                <a:ext cx="384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主闸门</a:t>
                </a:r>
                <a:r>
                  <a:rPr kumimoji="1" lang="en-US" altLang="zh-CN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7400</a:t>
                </a: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131" name="Group 33"/>
            <p:cNvGrpSpPr>
              <a:grpSpLocks/>
            </p:cNvGrpSpPr>
            <p:nvPr/>
          </p:nvGrpSpPr>
          <p:grpSpPr bwMode="auto">
            <a:xfrm>
              <a:off x="921276" y="4913313"/>
              <a:ext cx="998669" cy="649286"/>
              <a:chOff x="576" y="3216"/>
              <a:chExt cx="581" cy="336"/>
            </a:xfrm>
          </p:grpSpPr>
          <p:sp>
            <p:nvSpPr>
              <p:cNvPr id="5167" name="Rectangle 34"/>
              <p:cNvSpPr>
                <a:spLocks noChangeArrowheads="1"/>
              </p:cNvSpPr>
              <p:nvPr/>
            </p:nvSpPr>
            <p:spPr bwMode="auto">
              <a:xfrm>
                <a:off x="576" y="3216"/>
                <a:ext cx="576" cy="33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68" name="Text Box 35"/>
              <p:cNvSpPr txBox="1">
                <a:spLocks noChangeArrowheads="1"/>
              </p:cNvSpPr>
              <p:nvPr/>
            </p:nvSpPr>
            <p:spPr bwMode="auto">
              <a:xfrm>
                <a:off x="581" y="3246"/>
                <a:ext cx="576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1Hz         </a:t>
                </a:r>
                <a:r>
                  <a:rPr kumimoji="1" lang="zh-CN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基准频率</a:t>
                </a:r>
              </a:p>
            </p:txBody>
          </p:sp>
        </p:grpSp>
        <p:grpSp>
          <p:nvGrpSpPr>
            <p:cNvPr id="5132" name="Group 36"/>
            <p:cNvGrpSpPr>
              <a:grpSpLocks/>
            </p:cNvGrpSpPr>
            <p:nvPr/>
          </p:nvGrpSpPr>
          <p:grpSpPr bwMode="auto">
            <a:xfrm>
              <a:off x="2063750" y="4913312"/>
              <a:ext cx="1449388" cy="649287"/>
              <a:chOff x="1344" y="1296"/>
              <a:chExt cx="576" cy="336"/>
            </a:xfrm>
          </p:grpSpPr>
          <p:sp>
            <p:nvSpPr>
              <p:cNvPr id="5165" name="Rectangle 37"/>
              <p:cNvSpPr>
                <a:spLocks noChangeArrowheads="1"/>
              </p:cNvSpPr>
              <p:nvPr/>
            </p:nvSpPr>
            <p:spPr bwMode="auto">
              <a:xfrm>
                <a:off x="1344" y="1296"/>
                <a:ext cx="576" cy="33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66" name="Text Box 38"/>
              <p:cNvSpPr txBox="1">
                <a:spLocks noChangeArrowheads="1"/>
              </p:cNvSpPr>
              <p:nvPr/>
            </p:nvSpPr>
            <p:spPr bwMode="auto">
              <a:xfrm>
                <a:off x="1392" y="1338"/>
                <a:ext cx="480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双稳  </a:t>
                </a:r>
                <a:r>
                  <a:rPr kumimoji="1" lang="en-US" altLang="zh-CN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7474    </a:t>
                </a:r>
                <a:r>
                  <a:rPr kumimoji="1" lang="zh-CN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对</a:t>
                </a:r>
                <a:r>
                  <a:rPr kumimoji="1" lang="en-US" altLang="zh-CN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1Hz</a:t>
                </a:r>
                <a:r>
                  <a:rPr kumimoji="1" lang="zh-CN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二分频</a:t>
                </a:r>
              </a:p>
            </p:txBody>
          </p:sp>
        </p:grpSp>
        <p:grpSp>
          <p:nvGrpSpPr>
            <p:cNvPr id="5133" name="Group 39"/>
            <p:cNvGrpSpPr>
              <a:grpSpLocks/>
            </p:cNvGrpSpPr>
            <p:nvPr/>
          </p:nvGrpSpPr>
          <p:grpSpPr bwMode="auto">
            <a:xfrm>
              <a:off x="4121150" y="4913313"/>
              <a:ext cx="914400" cy="533400"/>
              <a:chOff x="2640" y="3168"/>
              <a:chExt cx="576" cy="336"/>
            </a:xfrm>
          </p:grpSpPr>
          <p:sp>
            <p:nvSpPr>
              <p:cNvPr id="5163" name="Rectangle 40"/>
              <p:cNvSpPr>
                <a:spLocks noChangeArrowheads="1"/>
              </p:cNvSpPr>
              <p:nvPr/>
            </p:nvSpPr>
            <p:spPr bwMode="auto">
              <a:xfrm>
                <a:off x="2640" y="3168"/>
                <a:ext cx="576" cy="33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64" name="Text Box 41"/>
              <p:cNvSpPr txBox="1">
                <a:spLocks noChangeArrowheads="1"/>
              </p:cNvSpPr>
              <p:nvPr/>
            </p:nvSpPr>
            <p:spPr bwMode="auto">
              <a:xfrm>
                <a:off x="2736" y="3264"/>
                <a:ext cx="38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单稳</a:t>
                </a:r>
              </a:p>
            </p:txBody>
          </p:sp>
        </p:grpSp>
        <p:grpSp>
          <p:nvGrpSpPr>
            <p:cNvPr id="5134" name="Group 42"/>
            <p:cNvGrpSpPr>
              <a:grpSpLocks/>
            </p:cNvGrpSpPr>
            <p:nvPr/>
          </p:nvGrpSpPr>
          <p:grpSpPr bwMode="auto">
            <a:xfrm>
              <a:off x="5492750" y="4913313"/>
              <a:ext cx="914400" cy="533400"/>
              <a:chOff x="2640" y="3168"/>
              <a:chExt cx="576" cy="336"/>
            </a:xfrm>
          </p:grpSpPr>
          <p:sp>
            <p:nvSpPr>
              <p:cNvPr id="5161" name="Rectangle 43"/>
              <p:cNvSpPr>
                <a:spLocks noChangeArrowheads="1"/>
              </p:cNvSpPr>
              <p:nvPr/>
            </p:nvSpPr>
            <p:spPr bwMode="auto">
              <a:xfrm>
                <a:off x="2640" y="3168"/>
                <a:ext cx="576" cy="33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62" name="Text Box 44"/>
              <p:cNvSpPr txBox="1">
                <a:spLocks noChangeArrowheads="1"/>
              </p:cNvSpPr>
              <p:nvPr/>
            </p:nvSpPr>
            <p:spPr bwMode="auto">
              <a:xfrm>
                <a:off x="2736" y="3264"/>
                <a:ext cx="38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单稳</a:t>
                </a:r>
              </a:p>
            </p:txBody>
          </p:sp>
        </p:grpSp>
        <p:sp>
          <p:nvSpPr>
            <p:cNvPr id="5135" name="Line 45"/>
            <p:cNvSpPr>
              <a:spLocks noChangeShapeType="1"/>
            </p:cNvSpPr>
            <p:nvPr/>
          </p:nvSpPr>
          <p:spPr bwMode="auto">
            <a:xfrm flipV="1">
              <a:off x="4273550" y="2474913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6" name="Line 46"/>
            <p:cNvSpPr>
              <a:spLocks noChangeShapeType="1"/>
            </p:cNvSpPr>
            <p:nvPr/>
          </p:nvSpPr>
          <p:spPr bwMode="auto">
            <a:xfrm>
              <a:off x="5416550" y="2246313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7" name="Line 47"/>
            <p:cNvSpPr>
              <a:spLocks noChangeShapeType="1"/>
            </p:cNvSpPr>
            <p:nvPr/>
          </p:nvSpPr>
          <p:spPr bwMode="auto">
            <a:xfrm>
              <a:off x="5111750" y="2779713"/>
              <a:ext cx="0" cy="533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8" name="Line 48"/>
            <p:cNvSpPr>
              <a:spLocks noChangeShapeType="1"/>
            </p:cNvSpPr>
            <p:nvPr/>
          </p:nvSpPr>
          <p:spPr bwMode="auto">
            <a:xfrm>
              <a:off x="6407150" y="2246313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39" name="Line 50"/>
            <p:cNvSpPr>
              <a:spLocks noChangeShapeType="1"/>
            </p:cNvSpPr>
            <p:nvPr/>
          </p:nvSpPr>
          <p:spPr bwMode="auto">
            <a:xfrm>
              <a:off x="5416550" y="3541713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0" name="Line 51"/>
            <p:cNvSpPr>
              <a:spLocks noChangeShapeType="1"/>
            </p:cNvSpPr>
            <p:nvPr/>
          </p:nvSpPr>
          <p:spPr bwMode="auto">
            <a:xfrm>
              <a:off x="6407150" y="3541713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1" name="Line 53"/>
            <p:cNvSpPr>
              <a:spLocks noChangeShapeType="1"/>
            </p:cNvSpPr>
            <p:nvPr/>
          </p:nvSpPr>
          <p:spPr bwMode="auto">
            <a:xfrm>
              <a:off x="1911350" y="5141913"/>
              <a:ext cx="152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2" name="Line 54"/>
            <p:cNvSpPr>
              <a:spLocks noChangeShapeType="1"/>
            </p:cNvSpPr>
            <p:nvPr/>
          </p:nvSpPr>
          <p:spPr bwMode="auto">
            <a:xfrm>
              <a:off x="3513138" y="5141913"/>
              <a:ext cx="6080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3" name="Line 55"/>
            <p:cNvSpPr>
              <a:spLocks noChangeShapeType="1"/>
            </p:cNvSpPr>
            <p:nvPr/>
          </p:nvSpPr>
          <p:spPr bwMode="auto">
            <a:xfrm flipV="1">
              <a:off x="3810000" y="2779713"/>
              <a:ext cx="0" cy="2362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4" name="Line 56"/>
            <p:cNvSpPr>
              <a:spLocks noChangeShapeType="1"/>
            </p:cNvSpPr>
            <p:nvPr/>
          </p:nvSpPr>
          <p:spPr bwMode="auto">
            <a:xfrm>
              <a:off x="6407150" y="2551113"/>
              <a:ext cx="152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5" name="Line 57"/>
            <p:cNvSpPr>
              <a:spLocks noChangeShapeType="1"/>
            </p:cNvSpPr>
            <p:nvPr/>
          </p:nvSpPr>
          <p:spPr bwMode="auto">
            <a:xfrm>
              <a:off x="6559550" y="2551113"/>
              <a:ext cx="0" cy="3124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6" name="Line 58"/>
            <p:cNvSpPr>
              <a:spLocks noChangeShapeType="1"/>
            </p:cNvSpPr>
            <p:nvPr/>
          </p:nvSpPr>
          <p:spPr bwMode="auto">
            <a:xfrm flipH="1">
              <a:off x="5264150" y="5675313"/>
              <a:ext cx="1295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7" name="Line 59"/>
            <p:cNvSpPr>
              <a:spLocks noChangeShapeType="1"/>
            </p:cNvSpPr>
            <p:nvPr/>
          </p:nvSpPr>
          <p:spPr bwMode="auto">
            <a:xfrm>
              <a:off x="5035550" y="5141913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8" name="Line 60"/>
            <p:cNvSpPr>
              <a:spLocks noChangeShapeType="1"/>
            </p:cNvSpPr>
            <p:nvPr/>
          </p:nvSpPr>
          <p:spPr bwMode="auto">
            <a:xfrm flipV="1">
              <a:off x="5264150" y="5141913"/>
              <a:ext cx="0" cy="533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49" name="Line 61"/>
            <p:cNvSpPr>
              <a:spLocks noChangeShapeType="1"/>
            </p:cNvSpPr>
            <p:nvPr/>
          </p:nvSpPr>
          <p:spPr bwMode="auto">
            <a:xfrm>
              <a:off x="6407150" y="3846513"/>
              <a:ext cx="152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0" name="Line 62"/>
            <p:cNvSpPr>
              <a:spLocks noChangeShapeType="1"/>
            </p:cNvSpPr>
            <p:nvPr/>
          </p:nvSpPr>
          <p:spPr bwMode="auto">
            <a:xfrm>
              <a:off x="5416550" y="2551113"/>
              <a:ext cx="152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1" name="Line 63"/>
            <p:cNvSpPr>
              <a:spLocks noChangeShapeType="1"/>
            </p:cNvSpPr>
            <p:nvPr/>
          </p:nvSpPr>
          <p:spPr bwMode="auto">
            <a:xfrm>
              <a:off x="5568950" y="2551113"/>
              <a:ext cx="0" cy="1676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2" name="Line 64"/>
            <p:cNvSpPr>
              <a:spLocks noChangeShapeType="1"/>
            </p:cNvSpPr>
            <p:nvPr/>
          </p:nvSpPr>
          <p:spPr bwMode="auto">
            <a:xfrm>
              <a:off x="5568950" y="4227513"/>
              <a:ext cx="381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3" name="Line 65"/>
            <p:cNvSpPr>
              <a:spLocks noChangeShapeType="1"/>
            </p:cNvSpPr>
            <p:nvPr/>
          </p:nvSpPr>
          <p:spPr bwMode="auto">
            <a:xfrm>
              <a:off x="5949950" y="4227513"/>
              <a:ext cx="0" cy="685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4" name="Line 66"/>
            <p:cNvSpPr>
              <a:spLocks noChangeShapeType="1"/>
            </p:cNvSpPr>
            <p:nvPr/>
          </p:nvSpPr>
          <p:spPr bwMode="auto">
            <a:xfrm>
              <a:off x="5416550" y="3922713"/>
              <a:ext cx="152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5" name="Text Box 67"/>
            <p:cNvSpPr txBox="1">
              <a:spLocks noChangeArrowheads="1"/>
            </p:cNvSpPr>
            <p:nvPr/>
          </p:nvSpPr>
          <p:spPr bwMode="auto">
            <a:xfrm>
              <a:off x="6026150" y="4379913"/>
              <a:ext cx="2444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清零</a:t>
              </a:r>
            </a:p>
          </p:txBody>
        </p:sp>
        <p:sp>
          <p:nvSpPr>
            <p:cNvPr id="5156" name="Text Box 68"/>
            <p:cNvSpPr txBox="1">
              <a:spLocks noChangeArrowheads="1"/>
            </p:cNvSpPr>
            <p:nvPr/>
          </p:nvSpPr>
          <p:spPr bwMode="auto">
            <a:xfrm>
              <a:off x="6635750" y="4760913"/>
              <a:ext cx="2444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锁存</a:t>
              </a:r>
            </a:p>
          </p:txBody>
        </p:sp>
        <p:sp>
          <p:nvSpPr>
            <p:cNvPr id="5157" name="Line 69"/>
            <p:cNvSpPr>
              <a:spLocks noChangeShapeType="1"/>
            </p:cNvSpPr>
            <p:nvPr/>
          </p:nvSpPr>
          <p:spPr bwMode="auto">
            <a:xfrm flipH="1">
              <a:off x="2362200" y="2474913"/>
              <a:ext cx="990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158" name="Group 70"/>
            <p:cNvGrpSpPr>
              <a:grpSpLocks/>
            </p:cNvGrpSpPr>
            <p:nvPr/>
          </p:nvGrpSpPr>
          <p:grpSpPr bwMode="auto">
            <a:xfrm>
              <a:off x="1295400" y="2246313"/>
              <a:ext cx="1066800" cy="533400"/>
              <a:chOff x="528" y="1536"/>
              <a:chExt cx="672" cy="336"/>
            </a:xfrm>
          </p:grpSpPr>
          <p:sp>
            <p:nvSpPr>
              <p:cNvPr id="5159" name="Rectangle 71"/>
              <p:cNvSpPr>
                <a:spLocks noChangeArrowheads="1"/>
              </p:cNvSpPr>
              <p:nvPr/>
            </p:nvSpPr>
            <p:spPr bwMode="auto">
              <a:xfrm>
                <a:off x="528" y="1536"/>
                <a:ext cx="672" cy="33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60" name="Text Box 72"/>
              <p:cNvSpPr txBox="1">
                <a:spLocks noChangeArrowheads="1"/>
              </p:cNvSpPr>
              <p:nvPr/>
            </p:nvSpPr>
            <p:spPr bwMode="auto">
              <a:xfrm>
                <a:off x="576" y="1632"/>
                <a:ext cx="56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sz="16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被测信号</a:t>
                </a:r>
              </a:p>
            </p:txBody>
          </p:sp>
        </p:grpSp>
      </p:grpSp>
      <p:sp>
        <p:nvSpPr>
          <p:cNvPr id="5123" name="Text Box 73"/>
          <p:cNvSpPr txBox="1">
            <a:spLocks noChangeArrowheads="1"/>
          </p:cNvSpPr>
          <p:nvPr/>
        </p:nvSpPr>
        <p:spPr bwMode="auto">
          <a:xfrm>
            <a:off x="2368550" y="850900"/>
            <a:ext cx="449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/>
              <a:t>电路原理框图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400" dirty="0"/>
              <a:t>实验十  简易数字频率计</a:t>
            </a:r>
            <a:r>
              <a:rPr lang="en-US" altLang="zh-CN" sz="1400" dirty="0"/>
              <a:t>(</a:t>
            </a:r>
            <a:r>
              <a:rPr lang="zh-CN" altLang="en-US" sz="1400" dirty="0"/>
              <a:t>考核</a:t>
            </a:r>
            <a:r>
              <a:rPr lang="en-US" altLang="zh-CN" sz="1400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44CA-F932-4D92-B9A4-748AD51B140B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63" name="矩形 62"/>
          <p:cNvSpPr/>
          <p:nvPr/>
        </p:nvSpPr>
        <p:spPr>
          <a:xfrm>
            <a:off x="7696200" y="697468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/>
              <a:t>（实验内容）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" y="882134"/>
            <a:ext cx="8321040" cy="5437569"/>
          </a:xfrm>
          <a:noFill/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400" dirty="0"/>
              <a:t>实验十  简易数字频率计</a:t>
            </a:r>
            <a:r>
              <a:rPr lang="en-US" altLang="zh-CN" sz="1400" dirty="0"/>
              <a:t>(</a:t>
            </a:r>
            <a:r>
              <a:rPr lang="zh-CN" altLang="en-US" sz="1400" dirty="0"/>
              <a:t>考核</a:t>
            </a:r>
            <a:r>
              <a:rPr lang="en-US" altLang="zh-CN" sz="1400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44CA-F932-4D92-B9A4-748AD51B140B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696200" y="697468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/>
              <a:t>（实验内容）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46" y="1279649"/>
            <a:ext cx="834548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667000" y="731838"/>
            <a:ext cx="365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/>
              <a:t>电路时序关系图</a:t>
            </a:r>
          </a:p>
        </p:txBody>
      </p:sp>
      <p:sp>
        <p:nvSpPr>
          <p:cNvPr id="7172" name="TextBox 1"/>
          <p:cNvSpPr txBox="1">
            <a:spLocks noChangeArrowheads="1"/>
          </p:cNvSpPr>
          <p:nvPr/>
        </p:nvSpPr>
        <p:spPr bwMode="auto">
          <a:xfrm>
            <a:off x="457200" y="2590800"/>
            <a:ext cx="800100" cy="276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/>
              <a:t>基准频率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400" dirty="0"/>
              <a:t>实验十  简易数字频率计</a:t>
            </a:r>
            <a:r>
              <a:rPr lang="en-US" altLang="zh-CN" sz="1400" dirty="0"/>
              <a:t>(</a:t>
            </a:r>
            <a:r>
              <a:rPr lang="zh-CN" altLang="en-US" sz="1400" dirty="0"/>
              <a:t>考核</a:t>
            </a:r>
            <a:r>
              <a:rPr lang="en-US" altLang="zh-CN" sz="1400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44CA-F932-4D92-B9A4-748AD51B140B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696200" y="697468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/>
              <a:t>（实验内容）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105400" y="5207673"/>
            <a:ext cx="365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/>
              <a:t>74123</a:t>
            </a:r>
            <a:r>
              <a:rPr lang="zh-CN" altLang="en-US" sz="2000" dirty="0"/>
              <a:t>功能表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1400" dirty="0"/>
              <a:t>实验十  简易数字频率计</a:t>
            </a:r>
            <a:r>
              <a:rPr lang="en-US" altLang="zh-CN" sz="1400" dirty="0"/>
              <a:t>(</a:t>
            </a:r>
            <a:r>
              <a:rPr lang="zh-CN" altLang="en-US" sz="1400" dirty="0"/>
              <a:t>考核</a:t>
            </a:r>
            <a:r>
              <a:rPr lang="en-US" altLang="zh-CN" sz="1400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44CA-F932-4D92-B9A4-748AD51B140B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696200" y="697468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/>
              <a:t>（实验内容）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38625" y="1649903"/>
            <a:ext cx="4905375" cy="3305175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11816"/>
            <a:ext cx="4257675" cy="343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043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176</TotalTime>
  <Words>599</Words>
  <Application>Microsoft Office PowerPoint</Application>
  <PresentationFormat>全屏显示(4:3)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宋体</vt:lpstr>
      <vt:lpstr>Arial</vt:lpstr>
      <vt:lpstr>Calibri</vt:lpstr>
      <vt:lpstr>Calibri Light</vt:lpstr>
      <vt:lpstr>Times New Roman</vt:lpstr>
      <vt:lpstr>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TJCU</dc:creator>
  <cp:lastModifiedBy>zy</cp:lastModifiedBy>
  <cp:revision>43</cp:revision>
  <cp:lastPrinted>1601-01-01T00:00:00Z</cp:lastPrinted>
  <dcterms:created xsi:type="dcterms:W3CDTF">1601-01-01T00:00:00Z</dcterms:created>
  <dcterms:modified xsi:type="dcterms:W3CDTF">2023-05-16T07:56:41Z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