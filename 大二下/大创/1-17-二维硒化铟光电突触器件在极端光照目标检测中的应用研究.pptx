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74" r:id="rId6"/>
    <p:sldId id="259" r:id="rId7"/>
    <p:sldId id="278" r:id="rId8"/>
    <p:sldId id="270" r:id="rId9"/>
  </p:sldIdLst>
  <p:sldSz cx="4610100" cy="3460750"/>
  <p:notesSz cx="4610100" cy="34607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默认节" id="{AA1AEBF7-2FD8-4F30-8F0A-1D728DC7C787}">
          <p14:sldIdLst>
            <p14:sldId id="256"/>
            <p14:sldId id="258"/>
            <p14:sldId id="274"/>
            <p14:sldId id="259"/>
            <p14:sldId id="278"/>
          </p14:sldIdLst>
        </p14:section>
        <p14:section name="无标题节" id="{06E2CCF4-C414-4CB2-ABCB-529E3822D2A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0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1EF"/>
    <a:srgbClr val="CFD2D6"/>
    <a:srgbClr val="060606"/>
    <a:srgbClr val="CED3D7"/>
    <a:srgbClr val="F2F1EF"/>
    <a:srgbClr val="A2A3A2"/>
    <a:srgbClr val="D2D3D7"/>
    <a:srgbClr val="020305"/>
    <a:srgbClr val="D0D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94660"/>
  </p:normalViewPr>
  <p:slideViewPr>
    <p:cSldViewPr showGuides="1">
      <p:cViewPr varScale="1">
        <p:scale>
          <a:sx n="178" d="100"/>
          <a:sy n="178" d="100"/>
        </p:scale>
        <p:origin x="987" y="75"/>
      </p:cViewPr>
      <p:guideLst>
        <p:guide orient="horz" pos="2880"/>
        <p:guide pos="20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6E02C-B2DF-451A-9950-32ACA06C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F59A-3440-4CE2-BDC3-D157033437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420110" cy="467995"/>
          </a:xfrm>
          <a:custGeom>
            <a:avLst/>
            <a:gdLst/>
            <a:ahLst/>
            <a:cxnLst/>
            <a:rect l="l" t="t" r="r" b="b"/>
            <a:pathLst>
              <a:path w="3420110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3420110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3420110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  <a:path w="3420110" h="467995">
                <a:moveTo>
                  <a:pt x="180002" y="0"/>
                </a:moveTo>
                <a:lnTo>
                  <a:pt x="360004" y="0"/>
                </a:lnTo>
              </a:path>
              <a:path w="3420110" h="467995">
                <a:moveTo>
                  <a:pt x="720008" y="311813"/>
                </a:moveTo>
                <a:lnTo>
                  <a:pt x="630007" y="155926"/>
                </a:lnTo>
                <a:lnTo>
                  <a:pt x="450005" y="155926"/>
                </a:lnTo>
                <a:lnTo>
                  <a:pt x="360004" y="311813"/>
                </a:lnTo>
                <a:lnTo>
                  <a:pt x="450005" y="467700"/>
                </a:lnTo>
                <a:lnTo>
                  <a:pt x="630007" y="467700"/>
                </a:lnTo>
                <a:lnTo>
                  <a:pt x="720008" y="311813"/>
                </a:lnTo>
              </a:path>
              <a:path w="3420110" h="467995">
                <a:moveTo>
                  <a:pt x="360004" y="0"/>
                </a:moveTo>
                <a:lnTo>
                  <a:pt x="450005" y="155937"/>
                </a:lnTo>
                <a:lnTo>
                  <a:pt x="630007" y="155937"/>
                </a:lnTo>
                <a:lnTo>
                  <a:pt x="720008" y="0"/>
                </a:lnTo>
              </a:path>
              <a:path w="3420110" h="467995">
                <a:moveTo>
                  <a:pt x="990012" y="155931"/>
                </a:moveTo>
                <a:lnTo>
                  <a:pt x="900011" y="45"/>
                </a:lnTo>
                <a:lnTo>
                  <a:pt x="720009" y="45"/>
                </a:lnTo>
                <a:lnTo>
                  <a:pt x="630008" y="155931"/>
                </a:lnTo>
                <a:lnTo>
                  <a:pt x="720009" y="311818"/>
                </a:lnTo>
                <a:lnTo>
                  <a:pt x="900011" y="311818"/>
                </a:lnTo>
                <a:lnTo>
                  <a:pt x="990012" y="155931"/>
                </a:lnTo>
              </a:path>
              <a:path w="3420110" h="467995">
                <a:moveTo>
                  <a:pt x="720009" y="0"/>
                </a:moveTo>
                <a:lnTo>
                  <a:pt x="900011" y="0"/>
                </a:lnTo>
              </a:path>
              <a:path w="3420110" h="467995">
                <a:moveTo>
                  <a:pt x="1260015" y="311813"/>
                </a:moveTo>
                <a:lnTo>
                  <a:pt x="1170014" y="155926"/>
                </a:lnTo>
                <a:lnTo>
                  <a:pt x="990012" y="155926"/>
                </a:lnTo>
                <a:lnTo>
                  <a:pt x="900011" y="311813"/>
                </a:lnTo>
                <a:lnTo>
                  <a:pt x="990012" y="467700"/>
                </a:lnTo>
                <a:lnTo>
                  <a:pt x="1170014" y="467700"/>
                </a:lnTo>
                <a:lnTo>
                  <a:pt x="1260015" y="311813"/>
                </a:lnTo>
              </a:path>
              <a:path w="3420110" h="467995">
                <a:moveTo>
                  <a:pt x="900011" y="0"/>
                </a:moveTo>
                <a:lnTo>
                  <a:pt x="990012" y="155937"/>
                </a:lnTo>
                <a:lnTo>
                  <a:pt x="1170014" y="155937"/>
                </a:lnTo>
                <a:lnTo>
                  <a:pt x="1260015" y="0"/>
                </a:lnTo>
              </a:path>
              <a:path w="3420110" h="467995">
                <a:moveTo>
                  <a:pt x="1530019" y="155931"/>
                </a:moveTo>
                <a:lnTo>
                  <a:pt x="1440018" y="45"/>
                </a:lnTo>
                <a:lnTo>
                  <a:pt x="1260016" y="45"/>
                </a:lnTo>
                <a:lnTo>
                  <a:pt x="1170015" y="155931"/>
                </a:lnTo>
                <a:lnTo>
                  <a:pt x="1260016" y="311818"/>
                </a:lnTo>
                <a:lnTo>
                  <a:pt x="1440018" y="311818"/>
                </a:lnTo>
                <a:lnTo>
                  <a:pt x="1530019" y="155931"/>
                </a:lnTo>
              </a:path>
              <a:path w="3420110" h="467995">
                <a:moveTo>
                  <a:pt x="1260016" y="0"/>
                </a:moveTo>
                <a:lnTo>
                  <a:pt x="1440018" y="0"/>
                </a:lnTo>
              </a:path>
              <a:path w="3420110" h="467995">
                <a:moveTo>
                  <a:pt x="1800022" y="311813"/>
                </a:moveTo>
                <a:lnTo>
                  <a:pt x="1710021" y="155926"/>
                </a:lnTo>
                <a:lnTo>
                  <a:pt x="1530019" y="155926"/>
                </a:lnTo>
                <a:lnTo>
                  <a:pt x="1440018" y="311813"/>
                </a:lnTo>
                <a:lnTo>
                  <a:pt x="1530019" y="467700"/>
                </a:lnTo>
                <a:lnTo>
                  <a:pt x="1710021" y="467700"/>
                </a:lnTo>
                <a:lnTo>
                  <a:pt x="1800022" y="311813"/>
                </a:lnTo>
              </a:path>
              <a:path w="3420110" h="467995">
                <a:moveTo>
                  <a:pt x="1440018" y="0"/>
                </a:moveTo>
                <a:lnTo>
                  <a:pt x="1530019" y="155937"/>
                </a:lnTo>
                <a:lnTo>
                  <a:pt x="1710021" y="155937"/>
                </a:lnTo>
                <a:lnTo>
                  <a:pt x="1800022" y="0"/>
                </a:lnTo>
              </a:path>
              <a:path w="3420110" h="467995">
                <a:moveTo>
                  <a:pt x="2070026" y="155931"/>
                </a:moveTo>
                <a:lnTo>
                  <a:pt x="1980025" y="45"/>
                </a:lnTo>
                <a:lnTo>
                  <a:pt x="1800023" y="45"/>
                </a:lnTo>
                <a:lnTo>
                  <a:pt x="1710022" y="155931"/>
                </a:lnTo>
                <a:lnTo>
                  <a:pt x="1800023" y="311818"/>
                </a:lnTo>
                <a:lnTo>
                  <a:pt x="1980025" y="311818"/>
                </a:lnTo>
                <a:lnTo>
                  <a:pt x="2070026" y="155931"/>
                </a:lnTo>
              </a:path>
              <a:path w="3420110" h="467995">
                <a:moveTo>
                  <a:pt x="1800023" y="0"/>
                </a:moveTo>
                <a:lnTo>
                  <a:pt x="1980025" y="0"/>
                </a:lnTo>
              </a:path>
              <a:path w="3420110" h="467995">
                <a:moveTo>
                  <a:pt x="2340029" y="311813"/>
                </a:moveTo>
                <a:lnTo>
                  <a:pt x="2250028" y="155926"/>
                </a:lnTo>
                <a:lnTo>
                  <a:pt x="2070026" y="155926"/>
                </a:lnTo>
                <a:lnTo>
                  <a:pt x="1980025" y="311813"/>
                </a:lnTo>
                <a:lnTo>
                  <a:pt x="2070026" y="467700"/>
                </a:lnTo>
                <a:lnTo>
                  <a:pt x="2250028" y="467700"/>
                </a:lnTo>
                <a:lnTo>
                  <a:pt x="2340029" y="311813"/>
                </a:lnTo>
              </a:path>
              <a:path w="3420110" h="467995">
                <a:moveTo>
                  <a:pt x="1980025" y="0"/>
                </a:moveTo>
                <a:lnTo>
                  <a:pt x="2070026" y="155937"/>
                </a:lnTo>
                <a:lnTo>
                  <a:pt x="2250028" y="155937"/>
                </a:lnTo>
                <a:lnTo>
                  <a:pt x="2340029" y="0"/>
                </a:lnTo>
              </a:path>
              <a:path w="3420110" h="467995">
                <a:moveTo>
                  <a:pt x="2610033" y="155931"/>
                </a:moveTo>
                <a:lnTo>
                  <a:pt x="2520032" y="45"/>
                </a:lnTo>
                <a:lnTo>
                  <a:pt x="2340029" y="45"/>
                </a:lnTo>
                <a:lnTo>
                  <a:pt x="2250028" y="155931"/>
                </a:lnTo>
                <a:lnTo>
                  <a:pt x="2340029" y="311818"/>
                </a:lnTo>
                <a:lnTo>
                  <a:pt x="2520032" y="311818"/>
                </a:lnTo>
                <a:lnTo>
                  <a:pt x="2610033" y="155931"/>
                </a:lnTo>
              </a:path>
              <a:path w="3420110" h="467995">
                <a:moveTo>
                  <a:pt x="2340029" y="0"/>
                </a:moveTo>
                <a:lnTo>
                  <a:pt x="2520032" y="0"/>
                </a:lnTo>
              </a:path>
              <a:path w="3420110" h="467995">
                <a:moveTo>
                  <a:pt x="2880036" y="311813"/>
                </a:moveTo>
                <a:lnTo>
                  <a:pt x="2790035" y="155926"/>
                </a:lnTo>
                <a:lnTo>
                  <a:pt x="2610033" y="155926"/>
                </a:lnTo>
                <a:lnTo>
                  <a:pt x="2520032" y="311813"/>
                </a:lnTo>
                <a:lnTo>
                  <a:pt x="2610033" y="467700"/>
                </a:lnTo>
                <a:lnTo>
                  <a:pt x="2790035" y="467700"/>
                </a:lnTo>
                <a:lnTo>
                  <a:pt x="2880036" y="311813"/>
                </a:lnTo>
              </a:path>
              <a:path w="3420110" h="467995">
                <a:moveTo>
                  <a:pt x="2520032" y="0"/>
                </a:moveTo>
                <a:lnTo>
                  <a:pt x="2610033" y="155937"/>
                </a:lnTo>
                <a:lnTo>
                  <a:pt x="2790035" y="155937"/>
                </a:lnTo>
                <a:lnTo>
                  <a:pt x="2880036" y="0"/>
                </a:lnTo>
              </a:path>
              <a:path w="3420110" h="467995">
                <a:moveTo>
                  <a:pt x="3150040" y="155931"/>
                </a:moveTo>
                <a:lnTo>
                  <a:pt x="3060038" y="45"/>
                </a:lnTo>
                <a:lnTo>
                  <a:pt x="2880037" y="45"/>
                </a:lnTo>
                <a:lnTo>
                  <a:pt x="2790035" y="155931"/>
                </a:lnTo>
                <a:lnTo>
                  <a:pt x="2880037" y="311818"/>
                </a:lnTo>
                <a:lnTo>
                  <a:pt x="3060038" y="311818"/>
                </a:lnTo>
                <a:lnTo>
                  <a:pt x="3150040" y="155931"/>
                </a:lnTo>
              </a:path>
              <a:path w="3420110" h="467995">
                <a:moveTo>
                  <a:pt x="2880037" y="0"/>
                </a:moveTo>
                <a:lnTo>
                  <a:pt x="3060038" y="0"/>
                </a:lnTo>
              </a:path>
              <a:path w="3420110" h="467995">
                <a:moveTo>
                  <a:pt x="3420043" y="311813"/>
                </a:moveTo>
                <a:lnTo>
                  <a:pt x="3330042" y="155926"/>
                </a:lnTo>
                <a:lnTo>
                  <a:pt x="3150040" y="155926"/>
                </a:lnTo>
                <a:lnTo>
                  <a:pt x="3060039" y="311813"/>
                </a:lnTo>
                <a:lnTo>
                  <a:pt x="3150040" y="467700"/>
                </a:lnTo>
                <a:lnTo>
                  <a:pt x="3330042" y="467700"/>
                </a:lnTo>
                <a:lnTo>
                  <a:pt x="3420043" y="311813"/>
                </a:lnTo>
              </a:path>
              <a:path w="3420110" h="467995">
                <a:moveTo>
                  <a:pt x="3060039" y="0"/>
                </a:moveTo>
                <a:lnTo>
                  <a:pt x="3150040" y="155937"/>
                </a:lnTo>
                <a:lnTo>
                  <a:pt x="3330042" y="155937"/>
                </a:lnTo>
                <a:lnTo>
                  <a:pt x="3420043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50215" cy="467995"/>
          </a:xfrm>
          <a:custGeom>
            <a:avLst/>
            <a:gdLst/>
            <a:ahLst/>
            <a:cxnLst/>
            <a:rect l="l" t="t" r="r" b="b"/>
            <a:pathLst>
              <a:path w="450215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450215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450215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80002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60004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2000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00011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260016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40018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800023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980025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234002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2520032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2880037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3060039" y="0"/>
            <a:ext cx="360045" cy="156210"/>
          </a:xfrm>
          <a:custGeom>
            <a:avLst/>
            <a:gdLst/>
            <a:ahLst/>
            <a:cxnLst/>
            <a:rect l="l" t="t" r="r" b="b"/>
            <a:pathLst>
              <a:path w="360045" h="15621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5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788"/>
                </a:lnTo>
                <a:lnTo>
                  <a:pt x="2303995" y="135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80D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055" y="199857"/>
            <a:ext cx="3305175" cy="248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193" y="1231706"/>
            <a:ext cx="2495550" cy="116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3262" y="3325230"/>
            <a:ext cx="73660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pc="-5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003" y="3325230"/>
            <a:ext cx="672465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  <a:endParaRPr spc="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2559" y="3325230"/>
            <a:ext cx="28321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-6107" y="-13157"/>
            <a:ext cx="3600244" cy="63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2802" y="84099"/>
            <a:ext cx="4464496" cy="331236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44910" y="2520700"/>
            <a:ext cx="2520280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1105"/>
              </a:spcBef>
            </a:pPr>
            <a:r>
              <a:rPr lang="zh-CN" altLang="en-US" sz="800" b="1" spc="-16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有机与柔性电子器件课程汇报</a:t>
            </a:r>
            <a:endParaRPr lang="zh-CN" altLang="en-US" sz="800" b="1" spc="-16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algn="ctr">
              <a:spcBef>
                <a:spcPts val="1105"/>
              </a:spcBef>
            </a:pPr>
            <a:r>
              <a:rPr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[姓名]、</a:t>
            </a:r>
            <a:r>
              <a:rPr lang="zh-CN" altLang="en-US"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尹梓齐</a:t>
            </a:r>
            <a:endParaRPr lang="zh-CN" altLang="en-US" sz="800" b="1" spc="-16" dirty="0" err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marR="35560" algn="ctr">
              <a:spcBef>
                <a:spcPts val="30"/>
              </a:spcBef>
              <a:tabLst>
                <a:tab pos="553720" algn="l"/>
              </a:tabLst>
            </a:pPr>
            <a:r>
              <a:rPr lang="en-US" sz="800" spc="-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  </a:t>
            </a:r>
            <a:endParaRPr lang="en-US" sz="800" spc="-8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marR="35560" algn="ctr">
              <a:spcBef>
                <a:spcPts val="30"/>
              </a:spcBef>
              <a:tabLst>
                <a:tab pos="553720" algn="l"/>
              </a:tabLst>
            </a:pPr>
            <a:r>
              <a:rPr sz="7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指导教师</a:t>
            </a:r>
            <a:r>
              <a:rPr lang="en-US" sz="700" spc="-4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      </a:t>
            </a:r>
            <a:r>
              <a:rPr sz="7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陈家</a:t>
            </a:r>
            <a:r>
              <a:rPr sz="7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欣</a:t>
            </a:r>
            <a:r>
              <a:rPr sz="7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sz="7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sz="6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副研究</a:t>
            </a:r>
            <a:r>
              <a:rPr sz="600" spc="-4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员</a:t>
            </a:r>
            <a:endParaRPr sz="600" spc="-40" dirty="0" err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3862" y="3170535"/>
            <a:ext cx="2164411" cy="116840"/>
          </a:xfrm>
          <a:prstGeom prst="rect">
            <a:avLst/>
          </a:prstGeom>
        </p:spPr>
        <p:txBody>
          <a:bodyPr vert="horz" wrap="square" lIns="0" tIns="9647" rIns="0" bIns="0" rtlCol="0">
            <a:spAutoFit/>
          </a:bodyPr>
          <a:lstStyle/>
          <a:p>
            <a:pPr marL="10160">
              <a:spcBef>
                <a:spcPts val="75"/>
              </a:spcBef>
              <a:tabLst>
                <a:tab pos="1332865" algn="l"/>
                <a:tab pos="1466850" algn="l"/>
              </a:tabLst>
            </a:pPr>
            <a:r>
              <a:rPr sz="64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南开大学电子信息与光学工程学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院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	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|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	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2026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"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月</a:t>
            </a:r>
            <a:r>
              <a:rPr lang="en-US" sz="700" spc="-9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11</a:t>
            </a:r>
            <a:r>
              <a:rPr sz="70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日</a:t>
            </a:r>
            <a:endParaRPr sz="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185709" y="794271"/>
            <a:ext cx="4981096" cy="1584176"/>
            <a:chOff x="780338" y="369226"/>
            <a:chExt cx="4981096" cy="1584176"/>
          </a:xfrm>
        </p:grpSpPr>
        <p:sp>
          <p:nvSpPr>
            <p:cNvPr id="19" name="矩形 18"/>
            <p:cNvSpPr/>
            <p:nvPr/>
          </p:nvSpPr>
          <p:spPr>
            <a:xfrm>
              <a:off x="1182654" y="461767"/>
              <a:ext cx="4176464" cy="143102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1000">
                  <a:srgbClr val="FFFFFF"/>
                </a:gs>
                <a:gs pos="11543">
                  <a:srgbClr val="FFFFFF"/>
                </a:gs>
                <a:gs pos="27251">
                  <a:srgbClr val="FFFFFF"/>
                </a:gs>
                <a:gs pos="20502">
                  <a:srgbClr val="FFFFFF"/>
                </a:gs>
                <a:gs pos="34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50800" cmpd="thinThick">
              <a:gradFill flip="none" rotWithShape="1">
                <a:gsLst>
                  <a:gs pos="0">
                    <a:schemeClr val="accent4">
                      <a:lumMod val="5000"/>
                      <a:lumOff val="95000"/>
                    </a:schemeClr>
                  </a:gs>
                  <a:gs pos="7400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1470585" y="945109"/>
              <a:ext cx="4053992" cy="509905"/>
            </a:xfrm>
            <a:prstGeom prst="rect">
              <a:avLst/>
            </a:prstGeom>
          </p:spPr>
          <p:txBody>
            <a:bodyPr vert="horz" wrap="square" lIns="0" tIns="9139" rIns="0" bIns="0" rtlCol="0">
              <a:spAutoFit/>
            </a:bodyPr>
            <a:lstStyle/>
            <a:p>
              <a:pPr marL="10160">
                <a:spcBef>
                  <a:spcPts val="70"/>
                </a:spcBef>
              </a:pPr>
              <a:r>
                <a:rPr lang="zh-CN" altLang="zh-CN" sz="16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二维硒化铟光电突触器件</a:t>
              </a:r>
              <a:endPara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0160">
                <a:spcBef>
                  <a:spcPts val="70"/>
                </a:spcBef>
              </a:pPr>
              <a:r>
                <a:rPr lang="zh-CN" altLang="zh-CN" sz="16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在极端光照目标检测中的应用研究</a:t>
              </a:r>
              <a:r>
                <a:rPr lang="zh-CN" altLang="zh-CN" sz="11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endParaRPr sz="10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Microsoft JhengHei UI" panose="020B0604030504040204" charset="-120"/>
              </a:endParaRPr>
            </a:p>
          </p:txBody>
        </p:sp>
        <p:pic>
          <p:nvPicPr>
            <p:cNvPr id="28" name="图片 27"/>
            <p:cNvPicPr/>
            <p:nvPr/>
          </p:nvPicPr>
          <p:blipFill>
            <a:blip r:embed="rId1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2647" r="15431" b="13981"/>
            <a:stretch>
              <a:fillRect/>
            </a:stretch>
          </p:blipFill>
          <p:spPr>
            <a:xfrm>
              <a:off x="780338" y="369226"/>
              <a:ext cx="4981096" cy="1584176"/>
            </a:xfrm>
            <a:prstGeom prst="rect">
              <a:avLst/>
            </a:prstGeom>
            <a:noFill/>
            <a:effectLst/>
          </p:spPr>
        </p:pic>
      </p:grpSp>
      <p:pic>
        <p:nvPicPr>
          <p:cNvPr id="2" name="图片 1" descr="南开大学-logo-2048p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" y="185420"/>
            <a:ext cx="498475" cy="4984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1834769" y="2295426"/>
            <a:ext cx="2479746" cy="1217999"/>
            <a:chOff x="1787470" y="1638593"/>
            <a:chExt cx="2573581" cy="1216556"/>
          </a:xfrm>
        </p:grpSpPr>
        <p:pic>
          <p:nvPicPr>
            <p:cNvPr id="78" name="图片 77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43" b="4356"/>
            <a:stretch>
              <a:fillRect/>
            </a:stretch>
          </p:blipFill>
          <p:spPr>
            <a:xfrm>
              <a:off x="1787470" y="1638593"/>
              <a:ext cx="2447678" cy="1148330"/>
            </a:xfrm>
            <a:prstGeom prst="roundRect">
              <a:avLst/>
            </a:prstGeom>
          </p:spPr>
        </p:pic>
        <p:sp>
          <p:nvSpPr>
            <p:cNvPr id="80" name="矩形 79"/>
            <p:cNvSpPr/>
            <p:nvPr/>
          </p:nvSpPr>
          <p:spPr>
            <a:xfrm>
              <a:off x="1868371" y="2711133"/>
              <a:ext cx="2492680" cy="144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>
                <a:ea typeface="微软雅黑" panose="020B0503020204020204" charset="-122"/>
              </a:rPr>
              <a:t>研究背景</a:t>
            </a:r>
            <a:endParaRPr spc="-5" dirty="0"/>
          </a:p>
        </p:txBody>
      </p:sp>
      <p:sp>
        <p:nvSpPr>
          <p:cNvPr id="10" name="object 10"/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  <a:endParaRPr lang="zh-CN" altLang="en-US" sz="1100" dirty="0"/>
          </a:p>
        </p:txBody>
      </p:sp>
      <p:sp>
        <p:nvSpPr>
          <p:cNvPr id="26" name="object 6"/>
          <p:cNvSpPr/>
          <p:nvPr/>
        </p:nvSpPr>
        <p:spPr>
          <a:xfrm>
            <a:off x="32927" y="1010295"/>
            <a:ext cx="4499109" cy="2448272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72" name="组合 71"/>
          <p:cNvGrpSpPr/>
          <p:nvPr/>
        </p:nvGrpSpPr>
        <p:grpSpPr>
          <a:xfrm>
            <a:off x="104281" y="1154311"/>
            <a:ext cx="1562130" cy="1927184"/>
            <a:chOff x="161604" y="1387469"/>
            <a:chExt cx="1562130" cy="1927184"/>
          </a:xfrm>
        </p:grpSpPr>
        <p:grpSp>
          <p:nvGrpSpPr>
            <p:cNvPr id="57" name="组合 56"/>
            <p:cNvGrpSpPr/>
            <p:nvPr/>
          </p:nvGrpSpPr>
          <p:grpSpPr>
            <a:xfrm>
              <a:off x="161604" y="1387469"/>
              <a:ext cx="1562130" cy="1927184"/>
              <a:chOff x="1705101" y="1655216"/>
              <a:chExt cx="1031575" cy="1116094"/>
            </a:xfrm>
          </p:grpSpPr>
          <p:sp>
            <p:nvSpPr>
              <p:cNvPr id="58" name="object 13"/>
              <p:cNvSpPr/>
              <p:nvPr/>
            </p:nvSpPr>
            <p:spPr>
              <a:xfrm>
                <a:off x="1737821" y="1728639"/>
                <a:ext cx="998855" cy="1042671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9" name="object 14"/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15"/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183054" y="1393359"/>
              <a:ext cx="12836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过曝：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高光区域细节完全丢失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颜色通道溢出，出现白色块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纹理细节模糊</a:t>
              </a:r>
              <a:endParaRPr lang="zh-CN" altLang="en-US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>
              <a:off x="288826" y="2378447"/>
              <a:ext cx="1307687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232602" y="2422964"/>
              <a:ext cx="13866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欠曝：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暗部噪声高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颜色偏暗失真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亮度提升后噪声放大</a:t>
              </a:r>
              <a:endPara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" t="7046" r="1693" b="9909"/>
          <a:stretch>
            <a:fillRect/>
          </a:stretch>
        </p:blipFill>
        <p:spPr>
          <a:xfrm>
            <a:off x="1737765" y="1024193"/>
            <a:ext cx="2664892" cy="12494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>
                <a:ea typeface="微软雅黑" panose="020B0503020204020204" charset="-122"/>
              </a:rPr>
              <a:t>研究背景</a:t>
            </a:r>
            <a:endParaRPr spc="-5" dirty="0">
              <a:ea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562" y="639329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  <a:endParaRPr lang="zh-CN" altLang="en-US" sz="1100" dirty="0"/>
          </a:p>
        </p:txBody>
      </p:sp>
      <p:sp>
        <p:nvSpPr>
          <p:cNvPr id="26" name="object 6"/>
          <p:cNvSpPr/>
          <p:nvPr/>
        </p:nvSpPr>
        <p:spPr>
          <a:xfrm>
            <a:off x="92562" y="1152858"/>
            <a:ext cx="4499109" cy="2088231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组合 4"/>
          <p:cNvGrpSpPr/>
          <p:nvPr/>
        </p:nvGrpSpPr>
        <p:grpSpPr>
          <a:xfrm>
            <a:off x="190782" y="1298327"/>
            <a:ext cx="1181784" cy="1728192"/>
            <a:chOff x="595592" y="754950"/>
            <a:chExt cx="923328" cy="1512943"/>
          </a:xfrm>
        </p:grpSpPr>
        <p:grpSp>
          <p:nvGrpSpPr>
            <p:cNvPr id="6" name="object 5"/>
            <p:cNvGrpSpPr/>
            <p:nvPr/>
          </p:nvGrpSpPr>
          <p:grpSpPr>
            <a:xfrm>
              <a:off x="911014" y="911410"/>
              <a:ext cx="582930" cy="204470"/>
              <a:chOff x="911014" y="911410"/>
              <a:chExt cx="582930" cy="204470"/>
            </a:xfrm>
          </p:grpSpPr>
          <p:sp>
            <p:nvSpPr>
              <p:cNvPr id="39" name="object 6"/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0" name="object 7"/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7" name="object 8"/>
            <p:cNvSpPr txBox="1"/>
            <p:nvPr/>
          </p:nvSpPr>
          <p:spPr>
            <a:xfrm>
              <a:off x="885825" y="754950"/>
              <a:ext cx="633095" cy="3130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20" dirty="0">
                  <a:latin typeface="微软雅黑" panose="020B0503020204020204" charset="-122"/>
                  <a:cs typeface="微软雅黑" panose="020B0503020204020204" charset="-122"/>
                </a:rPr>
                <a:t>传统视觉链路</a:t>
              </a:r>
              <a:endParaRPr sz="800" dirty="0">
                <a:latin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600" spc="-10" dirty="0">
                  <a:latin typeface="Georgia" panose="02040502050405020303"/>
                  <a:cs typeface="Georgia" panose="02040502050405020303"/>
                </a:rPr>
                <a:t>Sensor</a:t>
              </a:r>
              <a:endParaRPr sz="600" dirty="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8" name="object 9"/>
            <p:cNvGrpSpPr/>
            <p:nvPr/>
          </p:nvGrpSpPr>
          <p:grpSpPr>
            <a:xfrm>
              <a:off x="911014" y="1199414"/>
              <a:ext cx="582930" cy="204470"/>
              <a:chOff x="911014" y="1199414"/>
              <a:chExt cx="582930" cy="204470"/>
            </a:xfrm>
          </p:grpSpPr>
          <p:sp>
            <p:nvSpPr>
              <p:cNvPr id="37" name="object 10"/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8" name="object 11"/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9" name="object 12"/>
            <p:cNvSpPr txBox="1"/>
            <p:nvPr/>
          </p:nvSpPr>
          <p:spPr>
            <a:xfrm>
              <a:off x="1087691" y="1239283"/>
              <a:ext cx="22923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90" dirty="0">
                  <a:latin typeface="Georgia" panose="02040502050405020303"/>
                  <a:cs typeface="Georgia" panose="02040502050405020303"/>
                </a:rPr>
                <a:t>ADC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1" name="object 13"/>
            <p:cNvGrpSpPr/>
            <p:nvPr/>
          </p:nvGrpSpPr>
          <p:grpSpPr>
            <a:xfrm>
              <a:off x="911014" y="1487419"/>
              <a:ext cx="582930" cy="492759"/>
              <a:chOff x="911014" y="1487419"/>
              <a:chExt cx="582930" cy="492759"/>
            </a:xfrm>
          </p:grpSpPr>
          <p:sp>
            <p:nvSpPr>
              <p:cNvPr id="33" name="object 14"/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4" name="object 15"/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5" name="object 16"/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6" name="object 17"/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2" name="object 18"/>
            <p:cNvSpPr txBox="1"/>
            <p:nvPr/>
          </p:nvSpPr>
          <p:spPr>
            <a:xfrm>
              <a:off x="995794" y="1519166"/>
              <a:ext cx="413384" cy="4121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0005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 panose="02040502050405020303"/>
                  <a:cs typeface="Georgia" panose="02040502050405020303"/>
                </a:rPr>
                <a:t>Memory</a:t>
              </a:r>
              <a:endParaRPr sz="600">
                <a:latin typeface="Georgia" panose="02040502050405020303"/>
                <a:cs typeface="Georgia" panose="02040502050405020303"/>
              </a:endParaRPr>
            </a:p>
            <a:p>
              <a:pPr>
                <a:lnSpc>
                  <a:spcPct val="100000"/>
                </a:lnSpc>
              </a:pPr>
              <a:endParaRPr sz="600">
                <a:latin typeface="Georgia" panose="02040502050405020303"/>
                <a:cs typeface="Georgia" panose="02040502050405020303"/>
              </a:endParaRPr>
            </a:p>
            <a:p>
              <a:pPr>
                <a:lnSpc>
                  <a:spcPct val="100000"/>
                </a:lnSpc>
                <a:spcBef>
                  <a:spcPts val="245"/>
                </a:spcBef>
              </a:pPr>
              <a:endParaRPr sz="600">
                <a:latin typeface="Georgia" panose="02040502050405020303"/>
                <a:cs typeface="Georgia" panose="02040502050405020303"/>
              </a:endParaRPr>
            </a:p>
            <a:p>
              <a:pPr marL="12700">
                <a:lnSpc>
                  <a:spcPct val="100000"/>
                </a:lnSpc>
              </a:pPr>
              <a:r>
                <a:rPr sz="600" spc="35" dirty="0">
                  <a:latin typeface="Georgia" panose="02040502050405020303"/>
                  <a:cs typeface="Georgia" panose="02040502050405020303"/>
                </a:rPr>
                <a:t>Processor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3" name="object 19"/>
            <p:cNvGrpSpPr/>
            <p:nvPr/>
          </p:nvGrpSpPr>
          <p:grpSpPr>
            <a:xfrm>
              <a:off x="911014" y="2063423"/>
              <a:ext cx="582930" cy="204470"/>
              <a:chOff x="911014" y="2063423"/>
              <a:chExt cx="582930" cy="204470"/>
            </a:xfrm>
          </p:grpSpPr>
          <p:sp>
            <p:nvSpPr>
              <p:cNvPr id="31" name="object 20"/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2" name="object 21"/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4" name="object 22"/>
            <p:cNvSpPr txBox="1"/>
            <p:nvPr/>
          </p:nvSpPr>
          <p:spPr>
            <a:xfrm>
              <a:off x="982243" y="2096305"/>
              <a:ext cx="44005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 panose="02040502050405020303"/>
                  <a:cs typeface="Georgia" panose="02040502050405020303"/>
                </a:rPr>
                <a:t>Algorithm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5" name="object 23"/>
            <p:cNvGrpSpPr/>
            <p:nvPr/>
          </p:nvGrpSpPr>
          <p:grpSpPr>
            <a:xfrm>
              <a:off x="1175877" y="1115751"/>
              <a:ext cx="52705" cy="948055"/>
              <a:chOff x="1175877" y="1115751"/>
              <a:chExt cx="52705" cy="948055"/>
            </a:xfrm>
          </p:grpSpPr>
          <p:sp>
            <p:nvSpPr>
              <p:cNvPr id="22" name="object 24"/>
              <p:cNvSpPr/>
              <p:nvPr/>
            </p:nvSpPr>
            <p:spPr>
              <a:xfrm>
                <a:off x="1202194" y="1115751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3" name="object 25"/>
              <p:cNvSpPr/>
              <p:nvPr/>
            </p:nvSpPr>
            <p:spPr>
              <a:xfrm>
                <a:off x="1175877" y="1146792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4" name="object 26"/>
              <p:cNvSpPr/>
              <p:nvPr/>
            </p:nvSpPr>
            <p:spPr>
              <a:xfrm>
                <a:off x="1202194" y="1403756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5" name="object 27"/>
              <p:cNvSpPr/>
              <p:nvPr/>
            </p:nvSpPr>
            <p:spPr>
              <a:xfrm>
                <a:off x="1175877" y="1434797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7" name="object 28"/>
              <p:cNvSpPr/>
              <p:nvPr/>
            </p:nvSpPr>
            <p:spPr>
              <a:xfrm>
                <a:off x="1202194" y="1691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3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8" name="object 29"/>
              <p:cNvSpPr/>
              <p:nvPr/>
            </p:nvSpPr>
            <p:spPr>
              <a:xfrm>
                <a:off x="1175877" y="1722796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9" name="object 30"/>
              <p:cNvSpPr/>
              <p:nvPr/>
            </p:nvSpPr>
            <p:spPr>
              <a:xfrm>
                <a:off x="1202194" y="1979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0" name="object 31"/>
              <p:cNvSpPr/>
              <p:nvPr/>
            </p:nvSpPr>
            <p:spPr>
              <a:xfrm>
                <a:off x="1175877" y="2010801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20" name="object 32"/>
            <p:cNvSpPr/>
            <p:nvPr/>
          </p:nvSpPr>
          <p:spPr>
            <a:xfrm>
              <a:off x="770190" y="1013587"/>
              <a:ext cx="72390" cy="1152525"/>
            </a:xfrm>
            <a:custGeom>
              <a:avLst/>
              <a:gdLst/>
              <a:ahLst/>
              <a:cxnLst/>
              <a:rect l="l" t="t" r="r" b="b"/>
              <a:pathLst>
                <a:path w="72390" h="1152525">
                  <a:moveTo>
                    <a:pt x="71999" y="0"/>
                  </a:moveTo>
                  <a:lnTo>
                    <a:pt x="0" y="0"/>
                  </a:lnTo>
                  <a:lnTo>
                    <a:pt x="0" y="1152013"/>
                  </a:lnTo>
                  <a:lnTo>
                    <a:pt x="71999" y="1152013"/>
                  </a:lnTo>
                </a:path>
              </a:pathLst>
            </a:custGeom>
            <a:ln w="12652">
              <a:solidFill>
                <a:srgbClr val="B2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33"/>
            <p:cNvSpPr txBox="1"/>
            <p:nvPr/>
          </p:nvSpPr>
          <p:spPr>
            <a:xfrm>
              <a:off x="595592" y="1340020"/>
              <a:ext cx="125730" cy="499745"/>
            </a:xfrm>
            <a:prstGeom prst="rect">
              <a:avLst/>
            </a:prstGeom>
          </p:spPr>
          <p:txBody>
            <a:bodyPr vert="vert270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600" spc="-20" dirty="0">
                  <a:solidFill>
                    <a:srgbClr val="B20000"/>
                  </a:solidFill>
                  <a:latin typeface="微软雅黑" panose="020B0503020204020204" charset="-122"/>
                  <a:cs typeface="微软雅黑" panose="020B0503020204020204" charset="-122"/>
                </a:rPr>
                <a:t>冯∙诺依曼瓶颈</a:t>
              </a:r>
              <a:endParaRPr sz="60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842260" y="1442343"/>
            <a:ext cx="259228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能耗高：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绝大部分能量都消耗在数据的移动过程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900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r>
              <a:rPr lang="zh-CN" altLang="en-US" sz="900" b="1" dirty="0"/>
              <a:t>延迟高：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虽然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技术可解决过曝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欠曝问题，但其核心是对多张不同曝光的图像进行融合。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高质量的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重建通常需要处理数十兆字节的数据。</a:t>
            </a:r>
            <a:endParaRPr lang="zh-CN" altLang="en-US" sz="9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43" name="右大括号 42"/>
          <p:cNvSpPr/>
          <p:nvPr/>
        </p:nvSpPr>
        <p:spPr>
          <a:xfrm>
            <a:off x="1427462" y="1514352"/>
            <a:ext cx="59212" cy="11795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/>
          <p:cNvCxnSpPr>
            <a:stCxn id="43" idx="1"/>
          </p:cNvCxnSpPr>
          <p:nvPr/>
        </p:nvCxnSpPr>
        <p:spPr>
          <a:xfrm flipV="1">
            <a:off x="1486674" y="1593761"/>
            <a:ext cx="412617" cy="510372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918406" y="1613467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1372566" y="2422967"/>
            <a:ext cx="500436" cy="48729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910216" y="2433971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24745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spc="-5" dirty="0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pc="-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193657" y="1400321"/>
            <a:ext cx="2223408" cy="514350"/>
            <a:chOff x="2157039" y="1279071"/>
            <a:chExt cx="2223408" cy="514350"/>
          </a:xfrm>
        </p:grpSpPr>
        <p:grpSp>
          <p:nvGrpSpPr>
            <p:cNvPr id="69" name="组合 68"/>
            <p:cNvGrpSpPr/>
            <p:nvPr/>
          </p:nvGrpSpPr>
          <p:grpSpPr>
            <a:xfrm>
              <a:off x="2157039" y="1279071"/>
              <a:ext cx="867410" cy="514350"/>
              <a:chOff x="2246789" y="1301756"/>
              <a:chExt cx="867410" cy="514350"/>
            </a:xfrm>
          </p:grpSpPr>
          <p:grpSp>
            <p:nvGrpSpPr>
              <p:cNvPr id="35" name="object 35"/>
              <p:cNvGrpSpPr/>
              <p:nvPr/>
            </p:nvGrpSpPr>
            <p:grpSpPr>
              <a:xfrm>
                <a:off x="2246789" y="1301756"/>
                <a:ext cx="867410" cy="514350"/>
                <a:chOff x="2568525" y="1044509"/>
                <a:chExt cx="867410" cy="514350"/>
              </a:xfrm>
            </p:grpSpPr>
            <p:sp>
              <p:nvSpPr>
                <p:cNvPr id="36" name="object 36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</p:grpSp>
          <p:sp>
            <p:nvSpPr>
              <p:cNvPr id="38" name="object 38"/>
              <p:cNvSpPr txBox="1"/>
              <p:nvPr/>
            </p:nvSpPr>
            <p:spPr>
              <a:xfrm>
                <a:off x="2364937" y="1411929"/>
                <a:ext cx="631190" cy="29400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73025" marR="65405" algn="ctr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dirty="0">
                    <a:latin typeface="Georgia" panose="02040502050405020303"/>
                    <a:cs typeface="Georgia" panose="02040502050405020303"/>
                  </a:rPr>
                  <a:t>InSe</a:t>
                </a:r>
                <a:r>
                  <a:rPr sz="600" spc="229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45" dirty="0">
                    <a:latin typeface="Georgia" panose="02040502050405020303"/>
                    <a:cs typeface="Georgia" panose="02040502050405020303"/>
                  </a:rPr>
                  <a:t>Synap-</a:t>
                </a:r>
                <a:r>
                  <a:rPr sz="600" spc="500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50" dirty="0">
                    <a:latin typeface="Georgia" panose="02040502050405020303"/>
                    <a:cs typeface="Georgia" panose="02040502050405020303"/>
                  </a:rPr>
                  <a:t>tic</a:t>
                </a:r>
                <a:r>
                  <a:rPr sz="600" spc="55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-10" dirty="0">
                    <a:latin typeface="Georgia" panose="02040502050405020303"/>
                    <a:cs typeface="Georgia" panose="02040502050405020303"/>
                  </a:rPr>
                  <a:t>Sensor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  <a:p>
                <a:pPr algn="ctr">
                  <a:lnSpc>
                    <a:spcPts val="675"/>
                  </a:lnSpc>
                </a:pPr>
                <a:r>
                  <a:rPr sz="600" spc="60" dirty="0">
                    <a:latin typeface="Georgia" panose="02040502050405020303"/>
                    <a:cs typeface="Georgia" panose="02040502050405020303"/>
                  </a:rPr>
                  <a:t>(</a:t>
                </a:r>
                <a:r>
                  <a:rPr sz="600" spc="30" dirty="0">
                    <a:latin typeface="微软雅黑" panose="020B0503020204020204" charset="-122"/>
                    <a:cs typeface="微软雅黑" panose="020B0503020204020204" charset="-122"/>
                  </a:rPr>
                  <a:t>感知 </a:t>
                </a:r>
                <a:r>
                  <a:rPr sz="600" spc="110" dirty="0">
                    <a:latin typeface="Georgia" panose="02040502050405020303"/>
                    <a:cs typeface="Georgia" panose="02040502050405020303"/>
                  </a:rPr>
                  <a:t>+ </a:t>
                </a:r>
                <a:r>
                  <a:rPr sz="600" spc="40" dirty="0">
                    <a:latin typeface="微软雅黑" panose="020B0503020204020204" charset="-122"/>
                    <a:cs typeface="微软雅黑" panose="020B0503020204020204" charset="-122"/>
                  </a:rPr>
                  <a:t>预处理</a:t>
                </a:r>
                <a:r>
                  <a:rPr sz="600" spc="10" dirty="0">
                    <a:latin typeface="Georgia" panose="02040502050405020303"/>
                    <a:cs typeface="Georgia" panose="02040502050405020303"/>
                  </a:rPr>
                  <a:t>)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3495257" y="1404675"/>
              <a:ext cx="885190" cy="268182"/>
              <a:chOff x="2238122" y="2299744"/>
              <a:chExt cx="885190" cy="268182"/>
            </a:xfrm>
          </p:grpSpPr>
          <p:grpSp>
            <p:nvGrpSpPr>
              <p:cNvPr id="39" name="object 39"/>
              <p:cNvGrpSpPr/>
              <p:nvPr/>
            </p:nvGrpSpPr>
            <p:grpSpPr>
              <a:xfrm>
                <a:off x="2238122" y="2299744"/>
                <a:ext cx="885190" cy="268182"/>
                <a:chOff x="2559844" y="2029461"/>
                <a:chExt cx="885190" cy="268182"/>
              </a:xfrm>
            </p:grpSpPr>
            <p:sp>
              <p:nvSpPr>
                <p:cNvPr id="40" name="object 40"/>
                <p:cNvSpPr/>
                <p:nvPr/>
              </p:nvSpPr>
              <p:spPr>
                <a:xfrm>
                  <a:off x="2559844" y="2034118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2559844" y="2029461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</p:grpSp>
          <p:sp>
            <p:nvSpPr>
              <p:cNvPr id="42" name="object 42"/>
              <p:cNvSpPr txBox="1"/>
              <p:nvPr/>
            </p:nvSpPr>
            <p:spPr>
              <a:xfrm>
                <a:off x="2276024" y="2320601"/>
                <a:ext cx="808990" cy="205104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60655" marR="5080" indent="-148590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spc="45" dirty="0">
                    <a:latin typeface="Georgia" panose="02040502050405020303"/>
                    <a:cs typeface="Georgia" panose="02040502050405020303"/>
                  </a:rPr>
                  <a:t>Eﬀicient</a:t>
                </a:r>
                <a:r>
                  <a:rPr sz="600" spc="140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50" dirty="0">
                    <a:latin typeface="Georgia" panose="02040502050405020303"/>
                    <a:cs typeface="Georgia" panose="02040502050405020303"/>
                  </a:rPr>
                  <a:t>Algorithm</a:t>
                </a:r>
                <a:r>
                  <a:rPr sz="600" spc="65" dirty="0">
                    <a:latin typeface="Georgia" panose="02040502050405020303"/>
                    <a:cs typeface="Georgia" panose="02040502050405020303"/>
                  </a:rPr>
                  <a:t> (YOLOv8n)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</p:txBody>
          </p:sp>
        </p:grpSp>
        <p:grpSp>
          <p:nvGrpSpPr>
            <p:cNvPr id="43" name="object 43"/>
            <p:cNvGrpSpPr/>
            <p:nvPr/>
          </p:nvGrpSpPr>
          <p:grpSpPr>
            <a:xfrm rot="16200000">
              <a:off x="3222706" y="1300843"/>
              <a:ext cx="74295" cy="470807"/>
              <a:chOff x="2965270" y="1558654"/>
              <a:chExt cx="74295" cy="470807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3002216" y="1558654"/>
                <a:ext cx="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h="424814">
                    <a:moveTo>
                      <a:pt x="0" y="0"/>
                    </a:moveTo>
                    <a:lnTo>
                      <a:pt x="0" y="424221"/>
                    </a:lnTo>
                  </a:path>
                </a:pathLst>
              </a:custGeom>
              <a:ln w="18979">
                <a:solidFill>
                  <a:srgbClr val="701A5E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5" name="object 45"/>
              <p:cNvSpPr/>
              <p:nvPr/>
            </p:nvSpPr>
            <p:spPr>
              <a:xfrm>
                <a:off x="2965270" y="1955166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</p:grpSp>
      <p:sp>
        <p:nvSpPr>
          <p:cNvPr id="46" name="object 46"/>
          <p:cNvSpPr txBox="1"/>
          <p:nvPr/>
        </p:nvSpPr>
        <p:spPr>
          <a:xfrm>
            <a:off x="2344844" y="1239377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微软雅黑" panose="020B0503020204020204" charset="-122"/>
                <a:cs typeface="微软雅黑" panose="020B0503020204020204" charset="-122"/>
              </a:rPr>
              <a:t>自适应调控</a:t>
            </a:r>
            <a:endParaRPr sz="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73202" y="1249938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微软雅黑" panose="020B0503020204020204" charset="-122"/>
                <a:cs typeface="微软雅黑" panose="020B0503020204020204" charset="-122"/>
              </a:rPr>
              <a:t>低冗余输入</a:t>
            </a:r>
            <a:endParaRPr sz="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89026" y="1223809"/>
            <a:ext cx="0" cy="1440180"/>
          </a:xfrm>
          <a:custGeom>
            <a:avLst/>
            <a:gdLst/>
            <a:ahLst/>
            <a:cxnLst/>
            <a:rect l="l" t="t" r="r" b="b"/>
            <a:pathLst>
              <a:path h="1440180">
                <a:moveTo>
                  <a:pt x="0" y="0"/>
                </a:moveTo>
                <a:lnTo>
                  <a:pt x="0" y="1440017"/>
                </a:lnTo>
              </a:path>
            </a:pathLst>
          </a:custGeom>
          <a:ln w="5060">
            <a:solidFill>
              <a:srgbClr val="D8D8D8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10"/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利用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二维材料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（</a:t>
            </a:r>
            <a:r>
              <a:rPr lang="en-US" altLang="zh-CN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InSe 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）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光电特性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，通过模仿人眼视网膜细胞的电位工作机制，实现了类似人眼的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视觉适应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功能，以传感器对光强的自主适应代替</a:t>
            </a:r>
            <a:r>
              <a:rPr lang="en-US" altLang="zh-CN" sz="9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还原图像的计算。</a:t>
            </a:r>
            <a:endParaRPr lang="zh-CN" altLang="en-US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8952" y="954303"/>
            <a:ext cx="19442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视觉适应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根据环境光照的强弱，调整视网膜对光的敏感度。</a:t>
            </a:r>
            <a:endParaRPr lang="zh-CN" altLang="en-US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2181577" y="2267407"/>
            <a:ext cx="2281283" cy="944068"/>
            <a:chOff x="2195715" y="2125529"/>
            <a:chExt cx="2281283" cy="1008112"/>
          </a:xfrm>
        </p:grpSpPr>
        <p:grpSp>
          <p:nvGrpSpPr>
            <p:cNvPr id="111" name="组合 110"/>
            <p:cNvGrpSpPr/>
            <p:nvPr/>
          </p:nvGrpSpPr>
          <p:grpSpPr>
            <a:xfrm>
              <a:off x="2195715" y="2262261"/>
              <a:ext cx="2262557" cy="613629"/>
              <a:chOff x="2141648" y="2136803"/>
              <a:chExt cx="2262557" cy="613629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2558936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74" name="object 37"/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光电突触</a:t>
                  </a:r>
                  <a:endParaRPr lang="zh-CN" altLang="en-US" sz="600" dirty="0"/>
                </a:p>
              </p:txBody>
            </p:sp>
          </p:grpSp>
          <p:grpSp>
            <p:nvGrpSpPr>
              <p:cNvPr id="82" name="object 43"/>
              <p:cNvGrpSpPr/>
              <p:nvPr/>
            </p:nvGrpSpPr>
            <p:grpSpPr>
              <a:xfrm rot="16200000">
                <a:off x="3268334" y="2512488"/>
                <a:ext cx="78537" cy="283327"/>
                <a:chOff x="2965270" y="1558654"/>
                <a:chExt cx="74295" cy="470807"/>
              </a:xfrm>
            </p:grpSpPr>
            <p:sp>
              <p:nvSpPr>
                <p:cNvPr id="83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84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/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3453169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86" name="object 37"/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 电信号</a:t>
                  </a:r>
                  <a:endParaRPr lang="zh-CN" altLang="en-US" sz="600" dirty="0"/>
                </a:p>
              </p:txBody>
            </p:sp>
          </p:grpSp>
          <p:cxnSp>
            <p:nvCxnSpPr>
              <p:cNvPr id="90" name="直接箭头连接符 89"/>
              <p:cNvCxnSpPr/>
              <p:nvPr/>
            </p:nvCxnSpPr>
            <p:spPr>
              <a:xfrm flipH="1">
                <a:off x="2833314" y="2306439"/>
                <a:ext cx="925623" cy="0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/>
              <p:cNvCxnSpPr/>
              <p:nvPr/>
            </p:nvCxnSpPr>
            <p:spPr>
              <a:xfrm>
                <a:off x="2833314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/>
              <p:cNvCxnSpPr/>
              <p:nvPr/>
            </p:nvCxnSpPr>
            <p:spPr>
              <a:xfrm>
                <a:off x="3758937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99" name="object 45"/>
              <p:cNvSpPr/>
              <p:nvPr/>
            </p:nvSpPr>
            <p:spPr>
              <a:xfrm>
                <a:off x="2796166" y="2469389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2953121" y="2136803"/>
                <a:ext cx="64807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调节阈值电位</a:t>
                </a:r>
                <a:endParaRPr lang="zh-CN" altLang="en-US" sz="600" dirty="0"/>
              </a:p>
            </p:txBody>
          </p:sp>
          <p:grpSp>
            <p:nvGrpSpPr>
              <p:cNvPr id="102" name="object 43"/>
              <p:cNvGrpSpPr/>
              <p:nvPr/>
            </p:nvGrpSpPr>
            <p:grpSpPr>
              <a:xfrm rot="16200000">
                <a:off x="4162567" y="2524711"/>
                <a:ext cx="78537" cy="283327"/>
                <a:chOff x="2965270" y="1558654"/>
                <a:chExt cx="74295" cy="470807"/>
              </a:xfrm>
            </p:grpSpPr>
            <p:sp>
              <p:nvSpPr>
                <p:cNvPr id="103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104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/>
              </p:txBody>
            </p:sp>
          </p:grpSp>
          <p:sp>
            <p:nvSpPr>
              <p:cNvPr id="105" name="文本框 104"/>
              <p:cNvSpPr txBox="1"/>
              <p:nvPr/>
            </p:nvSpPr>
            <p:spPr>
              <a:xfrm>
                <a:off x="4031627" y="2506536"/>
                <a:ext cx="37257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输出</a:t>
                </a:r>
                <a:endParaRPr lang="zh-CN" altLang="en-US" sz="600" dirty="0"/>
              </a:p>
            </p:txBody>
          </p:sp>
          <p:grpSp>
            <p:nvGrpSpPr>
              <p:cNvPr id="106" name="object 43"/>
              <p:cNvGrpSpPr/>
              <p:nvPr/>
            </p:nvGrpSpPr>
            <p:grpSpPr>
              <a:xfrm rot="16200000">
                <a:off x="2410188" y="2541481"/>
                <a:ext cx="71443" cy="218245"/>
                <a:chOff x="2965270" y="1558654"/>
                <a:chExt cx="74295" cy="470807"/>
              </a:xfrm>
            </p:grpSpPr>
            <p:sp>
              <p:nvSpPr>
                <p:cNvPr id="107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/>
              </p:txBody>
            </p:sp>
            <p:sp>
              <p:nvSpPr>
                <p:cNvPr id="108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/>
              </p:txBody>
            </p:sp>
          </p:grpSp>
          <p:sp>
            <p:nvSpPr>
              <p:cNvPr id="110" name="文本框 109"/>
              <p:cNvSpPr txBox="1"/>
              <p:nvPr/>
            </p:nvSpPr>
            <p:spPr>
              <a:xfrm>
                <a:off x="2141648" y="2465540"/>
                <a:ext cx="45577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光输入</a:t>
                </a:r>
                <a:endParaRPr lang="zh-CN" altLang="en-US" sz="600" dirty="0"/>
              </a:p>
            </p:txBody>
          </p:sp>
        </p:grpSp>
        <p:sp>
          <p:nvSpPr>
            <p:cNvPr id="112" name="矩形 111"/>
            <p:cNvSpPr/>
            <p:nvPr/>
          </p:nvSpPr>
          <p:spPr>
            <a:xfrm>
              <a:off x="2207423" y="2125529"/>
              <a:ext cx="2269575" cy="1008112"/>
            </a:xfrm>
            <a:prstGeom prst="rect">
              <a:avLst/>
            </a:prstGeom>
            <a:noFill/>
            <a:ln w="6350" cap="flat" cmpd="sng" algn="ctr">
              <a:solidFill>
                <a:schemeClr val="accent4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9" name="直接连接符 118"/>
          <p:cNvCxnSpPr/>
          <p:nvPr/>
        </p:nvCxnSpPr>
        <p:spPr>
          <a:xfrm>
            <a:off x="2672520" y="1916722"/>
            <a:ext cx="475739" cy="341914"/>
          </a:xfrm>
          <a:prstGeom prst="line">
            <a:avLst/>
          </a:prstGeom>
          <a:ln w="6350">
            <a:solidFill>
              <a:srgbClr val="701A5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27" name="组合 126"/>
          <p:cNvGrpSpPr/>
          <p:nvPr/>
        </p:nvGrpSpPr>
        <p:grpSpPr>
          <a:xfrm>
            <a:off x="136304" y="1427968"/>
            <a:ext cx="1779883" cy="1897237"/>
            <a:chOff x="53326" y="1525925"/>
            <a:chExt cx="1779883" cy="1897237"/>
          </a:xfrm>
        </p:grpSpPr>
        <p:sp>
          <p:nvSpPr>
            <p:cNvPr id="50" name="object 50"/>
            <p:cNvSpPr txBox="1"/>
            <p:nvPr/>
          </p:nvSpPr>
          <p:spPr>
            <a:xfrm>
              <a:off x="151828" y="2485574"/>
              <a:ext cx="506095" cy="167005"/>
            </a:xfrm>
            <a:prstGeom prst="rect">
              <a:avLst/>
            </a:prstGeom>
          </p:spPr>
          <p:txBody>
            <a:bodyPr vert="horz" wrap="square" lIns="0" tIns="698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55"/>
                </a:spcBef>
              </a:pPr>
              <a:r>
                <a:rPr sz="1000" b="1" spc="-1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核心逻辑</a:t>
              </a:r>
              <a:endParaRPr sz="100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2" t="3277"/>
            <a:stretch>
              <a:fillRect/>
            </a:stretch>
          </p:blipFill>
          <p:spPr>
            <a:xfrm>
              <a:off x="53326" y="1525925"/>
              <a:ext cx="1779883" cy="939089"/>
            </a:xfrm>
            <a:prstGeom prst="rect">
              <a:avLst/>
            </a:prstGeom>
          </p:spPr>
        </p:pic>
        <p:pic>
          <p:nvPicPr>
            <p:cNvPr id="126" name="图片 1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48" y="2517035"/>
              <a:ext cx="1662320" cy="90612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：InSe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突触的光电特性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-26676" y="1153559"/>
            <a:ext cx="1433169" cy="2104705"/>
            <a:chOff x="-657049" y="684290"/>
            <a:chExt cx="2430879" cy="4015416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28" t="39835"/>
            <a:stretch>
              <a:fillRect/>
            </a:stretch>
          </p:blipFill>
          <p:spPr>
            <a:xfrm>
              <a:off x="-657049" y="2951246"/>
              <a:ext cx="2360397" cy="1748460"/>
            </a:xfrm>
            <a:prstGeom prst="rect">
              <a:avLst/>
            </a:prstGeom>
          </p:spPr>
        </p:pic>
        <p:grpSp>
          <p:nvGrpSpPr>
            <p:cNvPr id="75" name="组合 74"/>
            <p:cNvGrpSpPr/>
            <p:nvPr/>
          </p:nvGrpSpPr>
          <p:grpSpPr>
            <a:xfrm>
              <a:off x="-631043" y="684290"/>
              <a:ext cx="2404873" cy="2143901"/>
              <a:chOff x="-104121" y="571461"/>
              <a:chExt cx="1974537" cy="1916591"/>
            </a:xfrm>
          </p:grpSpPr>
          <p:pic>
            <p:nvPicPr>
              <p:cNvPr id="64" name="object 10"/>
              <p:cNvPicPr/>
              <p:nvPr/>
            </p:nvPicPr>
            <p:blipFill>
              <a:blip r:embed="rId2" cstate="print"/>
              <a:srcRect l="1077" t="13958" r="48836" b="15540"/>
              <a:stretch>
                <a:fillRect/>
              </a:stretch>
            </p:blipFill>
            <p:spPr>
              <a:xfrm>
                <a:off x="-104121" y="571461"/>
                <a:ext cx="1960521" cy="1916591"/>
              </a:xfrm>
              <a:prstGeom prst="rect">
                <a:avLst/>
              </a:prstGeom>
            </p:spPr>
          </p:pic>
          <p:sp>
            <p:nvSpPr>
              <p:cNvPr id="74" name="矩形 73"/>
              <p:cNvSpPr/>
              <p:nvPr/>
            </p:nvSpPr>
            <p:spPr>
              <a:xfrm>
                <a:off x="1824697" y="684999"/>
                <a:ext cx="45719" cy="1296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55" y="2443353"/>
            <a:ext cx="1465909" cy="86555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069" y="2374391"/>
            <a:ext cx="1540080" cy="1003479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1729099" y="613876"/>
            <a:ext cx="1024243" cy="478790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硬件物理层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spc="-15" dirty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突触</a:t>
            </a:r>
            <a:r>
              <a:rPr kumimoji="0" lang="zh-CN" altLang="en-US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制备与光电验证</a:t>
            </a: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412243" y="1211167"/>
            <a:ext cx="2084625" cy="982413"/>
            <a:chOff x="282171" y="1140665"/>
            <a:chExt cx="2084625" cy="982413"/>
          </a:xfrm>
        </p:grpSpPr>
        <p:grpSp>
          <p:nvGrpSpPr>
            <p:cNvPr id="12" name="组合 11"/>
            <p:cNvGrpSpPr/>
            <p:nvPr/>
          </p:nvGrpSpPr>
          <p:grpSpPr>
            <a:xfrm>
              <a:off x="282171" y="1415842"/>
              <a:ext cx="699499" cy="237111"/>
              <a:chOff x="1712237" y="1449519"/>
              <a:chExt cx="699499" cy="237111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712237" y="1452802"/>
                <a:ext cx="6994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高光电导率</a:t>
                </a:r>
                <a:endParaRPr lang="zh-CN" altLang="en-US" sz="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cxnSp>
          <p:nvCxnSpPr>
            <p:cNvPr id="32" name="直接连接符 31"/>
            <p:cNvCxnSpPr>
              <a:stCxn id="5" idx="3"/>
            </p:cNvCxnSpPr>
            <p:nvPr/>
          </p:nvCxnSpPr>
          <p:spPr>
            <a:xfrm>
              <a:off x="950961" y="1534398"/>
              <a:ext cx="1070926" cy="108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8" idx="3"/>
            </p:cNvCxnSpPr>
            <p:nvPr/>
          </p:nvCxnSpPr>
          <p:spPr>
            <a:xfrm flipV="1">
              <a:off x="982824" y="1941568"/>
              <a:ext cx="1087071" cy="22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/>
          </p:nvGrpSpPr>
          <p:grpSpPr>
            <a:xfrm>
              <a:off x="302889" y="1789904"/>
              <a:ext cx="679935" cy="307777"/>
              <a:chOff x="1732955" y="1415364"/>
              <a:chExt cx="679935" cy="307777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752347" y="1415364"/>
                <a:ext cx="6605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缺陷诱导的电荷俘获</a:t>
                </a:r>
                <a:endParaRPr lang="zh-CN" altLang="en-US" sz="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479123" y="1815301"/>
              <a:ext cx="756962" cy="307777"/>
              <a:chOff x="1725007" y="1418741"/>
              <a:chExt cx="756962" cy="307777"/>
            </a:xfrm>
          </p:grpSpPr>
          <p:sp>
            <p:nvSpPr>
              <p:cNvPr id="28" name="矩形: 圆角 27"/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725007" y="1418741"/>
                <a:ext cx="7569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短时程可塑性    （ </a:t>
                </a:r>
                <a:r>
                  <a:rPr lang="en-US" altLang="zh-CN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STP</a:t>
                </a:r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endParaRPr lang="zh-CN" altLang="en-US" sz="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71535" y="1478347"/>
              <a:ext cx="244640" cy="504056"/>
              <a:chOff x="1045745" y="1478346"/>
              <a:chExt cx="244640" cy="504056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074361" y="1478346"/>
                <a:ext cx="216024" cy="504056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045745" y="1572420"/>
                <a:ext cx="2160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/>
                  <a:t>对应</a:t>
                </a:r>
                <a:endParaRPr lang="zh-CN" altLang="en-US" sz="700" dirty="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433502" y="1384414"/>
              <a:ext cx="782817" cy="307777"/>
              <a:chOff x="1693912" y="1418091"/>
              <a:chExt cx="782817" cy="307777"/>
            </a:xfrm>
          </p:grpSpPr>
          <p:sp>
            <p:nvSpPr>
              <p:cNvPr id="14" name="矩形: 圆角 13"/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693912" y="1418091"/>
                <a:ext cx="7828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兴奋性突触后电流（</a:t>
                </a:r>
                <a:r>
                  <a:rPr lang="en-US" altLang="zh-CN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EPSC</a:t>
                </a:r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endParaRPr lang="zh-CN" altLang="en-US" sz="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329141" y="1140665"/>
              <a:ext cx="595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charset="-122"/>
                  <a:ea typeface="微软雅黑" panose="020B0503020204020204" charset="-122"/>
                </a:rPr>
                <a:t>光电性质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497436" y="1140665"/>
              <a:ext cx="8693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charset="-122"/>
                  <a:ea typeface="微软雅黑" panose="020B0503020204020204" charset="-122"/>
                </a:rPr>
                <a:t>神经功能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9" name="图片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" t="43191" r="67315" b="12213"/>
          <a:stretch>
            <a:fillRect/>
          </a:stretch>
        </p:blipFill>
        <p:spPr>
          <a:xfrm>
            <a:off x="3321027" y="1153559"/>
            <a:ext cx="1350858" cy="1101101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215016" y="3198778"/>
            <a:ext cx="10081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/>
              <a:t>突触模型及响应特性</a:t>
            </a:r>
            <a:endParaRPr lang="zh-CN" alt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5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0312" y="927695"/>
            <a:ext cx="1847850" cy="604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>
              <a:lnSpc>
                <a:spcPts val="2890"/>
              </a:lnSpc>
              <a:spcBef>
                <a:spcPts val="125"/>
              </a:spcBef>
            </a:pPr>
            <a:r>
              <a:rPr sz="2450" spc="-10" dirty="0">
                <a:solidFill>
                  <a:srgbClr val="701A5E"/>
                </a:solidFill>
              </a:rPr>
              <a:t>谢谢大家！</a:t>
            </a:r>
            <a:endParaRPr sz="2450"/>
          </a:p>
          <a:p>
            <a:pPr marL="12700">
              <a:lnSpc>
                <a:spcPts val="1630"/>
              </a:lnSpc>
            </a:pPr>
            <a:r>
              <a:rPr b="0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敬请各位老师批评指正</a:t>
            </a:r>
            <a:endParaRPr b="0" spc="-5" dirty="0">
              <a:solidFill>
                <a:srgbClr val="000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754" y="1730375"/>
            <a:ext cx="1224965" cy="382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大创 FINAL Version</Template>
  <TotalTime>0</TotalTime>
  <Words>720</Words>
  <Application>WPS 演示</Application>
  <PresentationFormat>自定义</PresentationFormat>
  <Paragraphs>106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Georgia</vt:lpstr>
      <vt:lpstr>华文楷体</vt:lpstr>
      <vt:lpstr>Times New Roman</vt:lpstr>
      <vt:lpstr>Arial MT</vt:lpstr>
      <vt:lpstr>Microsoft JhengHei UI</vt:lpstr>
      <vt:lpstr>Adobe 宋体 Std L</vt:lpstr>
      <vt:lpstr>楷体</vt:lpstr>
      <vt:lpstr>Google Sans Text</vt:lpstr>
      <vt:lpstr>Segoe Print</vt:lpstr>
      <vt:lpstr>Google Sans</vt:lpstr>
      <vt:lpstr>Calibri</vt:lpstr>
      <vt:lpstr>Arial Unicode MS</vt:lpstr>
      <vt:lpstr>等线</vt:lpstr>
      <vt:lpstr>Adobe 宋体 Std L</vt:lpstr>
      <vt:lpstr>Arial MT</vt:lpstr>
      <vt:lpstr>Georgia</vt:lpstr>
      <vt:lpstr>Google Sans</vt:lpstr>
      <vt:lpstr>Google Sans Text</vt:lpstr>
      <vt:lpstr>Times New Roman</vt:lpstr>
      <vt:lpstr>Wingdings</vt:lpstr>
      <vt:lpstr>兰米宋体</vt:lpstr>
      <vt:lpstr>Saturday Sans Regular</vt:lpstr>
      <vt:lpstr>Noto Sans SC</vt:lpstr>
      <vt:lpstr>Office 主题​​</vt:lpstr>
      <vt:lpstr>PowerPoint 演示文稿</vt:lpstr>
      <vt:lpstr>研究背景</vt:lpstr>
      <vt:lpstr>研究背景</vt:lpstr>
      <vt:lpstr>解决方案</vt:lpstr>
      <vt:lpstr>核心机制：InSe突触的光电特性</vt:lpstr>
      <vt:lpstr>敬请各位老师批评指正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fangzhou le</dc:creator>
  <cp:lastModifiedBy>微信用户</cp:lastModifiedBy>
  <cp:revision>63</cp:revision>
  <dcterms:created xsi:type="dcterms:W3CDTF">2026-04-09T01:16:00Z</dcterms:created>
  <dcterms:modified xsi:type="dcterms:W3CDTF">2026-06-10T11:14:46Z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2026-04-10T00:00:00Z</vt:filetime>
  </property>
  <property fmtid="{D5CDD505-2E9C-101B-9397-08002B2CF9AE}" pid="6" name="KSOProductBuildVer">
    <vt:lpwstr>2052-12.1.0.26895</vt:lpwstr>
  </property>
  <property fmtid="{D5CDD505-2E9C-101B-9397-08002B2CF9AE}" pid="7" name="ICV">
    <vt:lpwstr>AA202DA5F65B40D8B348003A44819FFB_13</vt:lpwstr>
  </property>
</Properties>
</file>