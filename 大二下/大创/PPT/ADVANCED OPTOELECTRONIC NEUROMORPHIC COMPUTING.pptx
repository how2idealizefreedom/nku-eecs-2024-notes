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4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4" r:id="rId4"/>
    <p:sldId id="259" r:id="rId5"/>
    <p:sldId id="260" r:id="rId6"/>
    <p:sldId id="276" r:id="rId7"/>
    <p:sldId id="275" r:id="rId8"/>
    <p:sldId id="262" r:id="rId9"/>
    <p:sldId id="267" r:id="rId10"/>
    <p:sldId id="270" r:id="rId11"/>
    <p:sldId id="277" r:id="rId12"/>
  </p:sldIdLst>
  <p:sldSz cx="4610100" cy="3460750"/>
  <p:notesSz cx="4610100" cy="34607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默认节" id="{AA1AEBF7-2FD8-4F30-8F0A-1D728DC7C787}">
          <p14:sldIdLst>
            <p14:sldId id="256"/>
            <p14:sldId id="258"/>
            <p14:sldId id="274"/>
            <p14:sldId id="259"/>
            <p14:sldId id="260"/>
            <p14:sldId id="276"/>
            <p14:sldId id="275"/>
            <p14:sldId id="262"/>
          </p14:sldIdLst>
        </p14:section>
        <p14:section name="无标题节" id="{06E2CCF4-C414-4CB2-ABCB-529E3822D2AC}">
          <p14:sldIdLst>
            <p14:sldId id="267"/>
            <p14:sldId id="270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195E"/>
    <a:srgbClr val="F1F1EF"/>
    <a:srgbClr val="CFD2D6"/>
    <a:srgbClr val="FFFFFF"/>
    <a:srgbClr val="060606"/>
    <a:srgbClr val="CED3D7"/>
    <a:srgbClr val="F2F1EF"/>
    <a:srgbClr val="A2A3A2"/>
    <a:srgbClr val="D2D3D7"/>
    <a:srgbClr val="0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81C39-9B41-4B0C-8C69-0B7536487111}" v="3" dt="2026-04-09T01:17:33.0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94660"/>
  </p:normalViewPr>
  <p:slideViewPr>
    <p:cSldViewPr>
      <p:cViewPr varScale="1">
        <p:scale>
          <a:sx n="178" d="100"/>
          <a:sy n="178" d="100"/>
        </p:scale>
        <p:origin x="987" y="7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6E02C-B2DF-451A-9950-32ACA06C325B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F59A-3440-4CE2-BDC3-D157033437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56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75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329B-5429-B09B-EB91-2CAEC3A8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6E19B0-48BB-0105-B3DA-2B2239BD7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0B6096-1E5A-8A22-2C8E-3EB3CCE14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EE358C-1FED-C92E-3574-0BEECF947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83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97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Microsoft YaHei"/>
                <a:cs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Microsoft YaHei"/>
                <a:cs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Microsoft YaHei"/>
                <a:cs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420110" cy="467995"/>
          </a:xfrm>
          <a:custGeom>
            <a:avLst/>
            <a:gdLst/>
            <a:ahLst/>
            <a:cxnLst/>
            <a:rect l="l" t="t" r="r" b="b"/>
            <a:pathLst>
              <a:path w="3420110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3420110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3420110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  <a:path w="3420110" h="467995">
                <a:moveTo>
                  <a:pt x="180002" y="0"/>
                </a:moveTo>
                <a:lnTo>
                  <a:pt x="360004" y="0"/>
                </a:lnTo>
              </a:path>
              <a:path w="3420110" h="467995">
                <a:moveTo>
                  <a:pt x="720008" y="311813"/>
                </a:moveTo>
                <a:lnTo>
                  <a:pt x="630007" y="155926"/>
                </a:lnTo>
                <a:lnTo>
                  <a:pt x="450005" y="155926"/>
                </a:lnTo>
                <a:lnTo>
                  <a:pt x="360004" y="311813"/>
                </a:lnTo>
                <a:lnTo>
                  <a:pt x="450005" y="467700"/>
                </a:lnTo>
                <a:lnTo>
                  <a:pt x="630007" y="467700"/>
                </a:lnTo>
                <a:lnTo>
                  <a:pt x="720008" y="311813"/>
                </a:lnTo>
              </a:path>
              <a:path w="3420110" h="467995">
                <a:moveTo>
                  <a:pt x="360004" y="0"/>
                </a:moveTo>
                <a:lnTo>
                  <a:pt x="450005" y="155937"/>
                </a:lnTo>
                <a:lnTo>
                  <a:pt x="630007" y="155937"/>
                </a:lnTo>
                <a:lnTo>
                  <a:pt x="720008" y="0"/>
                </a:lnTo>
              </a:path>
              <a:path w="3420110" h="467995">
                <a:moveTo>
                  <a:pt x="990012" y="155931"/>
                </a:moveTo>
                <a:lnTo>
                  <a:pt x="900011" y="45"/>
                </a:lnTo>
                <a:lnTo>
                  <a:pt x="720009" y="45"/>
                </a:lnTo>
                <a:lnTo>
                  <a:pt x="630008" y="155931"/>
                </a:lnTo>
                <a:lnTo>
                  <a:pt x="720009" y="311818"/>
                </a:lnTo>
                <a:lnTo>
                  <a:pt x="900011" y="311818"/>
                </a:lnTo>
                <a:lnTo>
                  <a:pt x="990012" y="155931"/>
                </a:lnTo>
              </a:path>
              <a:path w="3420110" h="467995">
                <a:moveTo>
                  <a:pt x="720009" y="0"/>
                </a:moveTo>
                <a:lnTo>
                  <a:pt x="900011" y="0"/>
                </a:lnTo>
              </a:path>
              <a:path w="3420110" h="467995">
                <a:moveTo>
                  <a:pt x="1260015" y="311813"/>
                </a:moveTo>
                <a:lnTo>
                  <a:pt x="1170014" y="155926"/>
                </a:lnTo>
                <a:lnTo>
                  <a:pt x="990012" y="155926"/>
                </a:lnTo>
                <a:lnTo>
                  <a:pt x="900011" y="311813"/>
                </a:lnTo>
                <a:lnTo>
                  <a:pt x="990012" y="467700"/>
                </a:lnTo>
                <a:lnTo>
                  <a:pt x="1170014" y="467700"/>
                </a:lnTo>
                <a:lnTo>
                  <a:pt x="1260015" y="311813"/>
                </a:lnTo>
              </a:path>
              <a:path w="3420110" h="467995">
                <a:moveTo>
                  <a:pt x="900011" y="0"/>
                </a:moveTo>
                <a:lnTo>
                  <a:pt x="990012" y="155937"/>
                </a:lnTo>
                <a:lnTo>
                  <a:pt x="1170014" y="155937"/>
                </a:lnTo>
                <a:lnTo>
                  <a:pt x="1260015" y="0"/>
                </a:lnTo>
              </a:path>
              <a:path w="3420110" h="467995">
                <a:moveTo>
                  <a:pt x="1530019" y="155931"/>
                </a:moveTo>
                <a:lnTo>
                  <a:pt x="1440018" y="45"/>
                </a:lnTo>
                <a:lnTo>
                  <a:pt x="1260016" y="45"/>
                </a:lnTo>
                <a:lnTo>
                  <a:pt x="1170015" y="155931"/>
                </a:lnTo>
                <a:lnTo>
                  <a:pt x="1260016" y="311818"/>
                </a:lnTo>
                <a:lnTo>
                  <a:pt x="1440018" y="311818"/>
                </a:lnTo>
                <a:lnTo>
                  <a:pt x="1530019" y="155931"/>
                </a:lnTo>
              </a:path>
              <a:path w="3420110" h="467995">
                <a:moveTo>
                  <a:pt x="1260016" y="0"/>
                </a:moveTo>
                <a:lnTo>
                  <a:pt x="1440018" y="0"/>
                </a:lnTo>
              </a:path>
              <a:path w="3420110" h="467995">
                <a:moveTo>
                  <a:pt x="1800022" y="311813"/>
                </a:moveTo>
                <a:lnTo>
                  <a:pt x="1710021" y="155926"/>
                </a:lnTo>
                <a:lnTo>
                  <a:pt x="1530019" y="155926"/>
                </a:lnTo>
                <a:lnTo>
                  <a:pt x="1440018" y="311813"/>
                </a:lnTo>
                <a:lnTo>
                  <a:pt x="1530019" y="467700"/>
                </a:lnTo>
                <a:lnTo>
                  <a:pt x="1710021" y="467700"/>
                </a:lnTo>
                <a:lnTo>
                  <a:pt x="1800022" y="311813"/>
                </a:lnTo>
              </a:path>
              <a:path w="3420110" h="467995">
                <a:moveTo>
                  <a:pt x="1440018" y="0"/>
                </a:moveTo>
                <a:lnTo>
                  <a:pt x="1530019" y="155937"/>
                </a:lnTo>
                <a:lnTo>
                  <a:pt x="1710021" y="155937"/>
                </a:lnTo>
                <a:lnTo>
                  <a:pt x="1800022" y="0"/>
                </a:lnTo>
              </a:path>
              <a:path w="3420110" h="467995">
                <a:moveTo>
                  <a:pt x="2070026" y="155931"/>
                </a:moveTo>
                <a:lnTo>
                  <a:pt x="1980025" y="45"/>
                </a:lnTo>
                <a:lnTo>
                  <a:pt x="1800023" y="45"/>
                </a:lnTo>
                <a:lnTo>
                  <a:pt x="1710022" y="155931"/>
                </a:lnTo>
                <a:lnTo>
                  <a:pt x="1800023" y="311818"/>
                </a:lnTo>
                <a:lnTo>
                  <a:pt x="1980025" y="311818"/>
                </a:lnTo>
                <a:lnTo>
                  <a:pt x="2070026" y="155931"/>
                </a:lnTo>
              </a:path>
              <a:path w="3420110" h="467995">
                <a:moveTo>
                  <a:pt x="1800023" y="0"/>
                </a:moveTo>
                <a:lnTo>
                  <a:pt x="1980025" y="0"/>
                </a:lnTo>
              </a:path>
              <a:path w="3420110" h="467995">
                <a:moveTo>
                  <a:pt x="2340029" y="311813"/>
                </a:moveTo>
                <a:lnTo>
                  <a:pt x="2250028" y="155926"/>
                </a:lnTo>
                <a:lnTo>
                  <a:pt x="2070026" y="155926"/>
                </a:lnTo>
                <a:lnTo>
                  <a:pt x="1980025" y="311813"/>
                </a:lnTo>
                <a:lnTo>
                  <a:pt x="2070026" y="467700"/>
                </a:lnTo>
                <a:lnTo>
                  <a:pt x="2250028" y="467700"/>
                </a:lnTo>
                <a:lnTo>
                  <a:pt x="2340029" y="311813"/>
                </a:lnTo>
              </a:path>
              <a:path w="3420110" h="467995">
                <a:moveTo>
                  <a:pt x="1980025" y="0"/>
                </a:moveTo>
                <a:lnTo>
                  <a:pt x="2070026" y="155937"/>
                </a:lnTo>
                <a:lnTo>
                  <a:pt x="2250028" y="155937"/>
                </a:lnTo>
                <a:lnTo>
                  <a:pt x="2340029" y="0"/>
                </a:lnTo>
              </a:path>
              <a:path w="3420110" h="467995">
                <a:moveTo>
                  <a:pt x="2610033" y="155931"/>
                </a:moveTo>
                <a:lnTo>
                  <a:pt x="2520032" y="45"/>
                </a:lnTo>
                <a:lnTo>
                  <a:pt x="2340029" y="45"/>
                </a:lnTo>
                <a:lnTo>
                  <a:pt x="2250028" y="155931"/>
                </a:lnTo>
                <a:lnTo>
                  <a:pt x="2340029" y="311818"/>
                </a:lnTo>
                <a:lnTo>
                  <a:pt x="2520032" y="311818"/>
                </a:lnTo>
                <a:lnTo>
                  <a:pt x="2610033" y="155931"/>
                </a:lnTo>
              </a:path>
              <a:path w="3420110" h="467995">
                <a:moveTo>
                  <a:pt x="2340029" y="0"/>
                </a:moveTo>
                <a:lnTo>
                  <a:pt x="2520032" y="0"/>
                </a:lnTo>
              </a:path>
              <a:path w="3420110" h="467995">
                <a:moveTo>
                  <a:pt x="2880036" y="311813"/>
                </a:moveTo>
                <a:lnTo>
                  <a:pt x="2790035" y="155926"/>
                </a:lnTo>
                <a:lnTo>
                  <a:pt x="2610033" y="155926"/>
                </a:lnTo>
                <a:lnTo>
                  <a:pt x="2520032" y="311813"/>
                </a:lnTo>
                <a:lnTo>
                  <a:pt x="2610033" y="467700"/>
                </a:lnTo>
                <a:lnTo>
                  <a:pt x="2790035" y="467700"/>
                </a:lnTo>
                <a:lnTo>
                  <a:pt x="2880036" y="311813"/>
                </a:lnTo>
              </a:path>
              <a:path w="3420110" h="467995">
                <a:moveTo>
                  <a:pt x="2520032" y="0"/>
                </a:moveTo>
                <a:lnTo>
                  <a:pt x="2610033" y="155937"/>
                </a:lnTo>
                <a:lnTo>
                  <a:pt x="2790035" y="155937"/>
                </a:lnTo>
                <a:lnTo>
                  <a:pt x="2880036" y="0"/>
                </a:lnTo>
              </a:path>
              <a:path w="3420110" h="467995">
                <a:moveTo>
                  <a:pt x="3150040" y="155931"/>
                </a:moveTo>
                <a:lnTo>
                  <a:pt x="3060038" y="45"/>
                </a:lnTo>
                <a:lnTo>
                  <a:pt x="2880037" y="45"/>
                </a:lnTo>
                <a:lnTo>
                  <a:pt x="2790035" y="155931"/>
                </a:lnTo>
                <a:lnTo>
                  <a:pt x="2880037" y="311818"/>
                </a:lnTo>
                <a:lnTo>
                  <a:pt x="3060038" y="311818"/>
                </a:lnTo>
                <a:lnTo>
                  <a:pt x="3150040" y="155931"/>
                </a:lnTo>
              </a:path>
              <a:path w="3420110" h="467995">
                <a:moveTo>
                  <a:pt x="2880037" y="0"/>
                </a:moveTo>
                <a:lnTo>
                  <a:pt x="3060038" y="0"/>
                </a:lnTo>
              </a:path>
              <a:path w="3420110" h="467995">
                <a:moveTo>
                  <a:pt x="3420043" y="311813"/>
                </a:moveTo>
                <a:lnTo>
                  <a:pt x="3330042" y="155926"/>
                </a:lnTo>
                <a:lnTo>
                  <a:pt x="3150040" y="155926"/>
                </a:lnTo>
                <a:lnTo>
                  <a:pt x="3060039" y="311813"/>
                </a:lnTo>
                <a:lnTo>
                  <a:pt x="3150040" y="467700"/>
                </a:lnTo>
                <a:lnTo>
                  <a:pt x="3330042" y="467700"/>
                </a:lnTo>
                <a:lnTo>
                  <a:pt x="3420043" y="311813"/>
                </a:lnTo>
              </a:path>
              <a:path w="3420110" h="467995">
                <a:moveTo>
                  <a:pt x="3060039" y="0"/>
                </a:moveTo>
                <a:lnTo>
                  <a:pt x="3150040" y="155937"/>
                </a:lnTo>
                <a:lnTo>
                  <a:pt x="3330042" y="155937"/>
                </a:lnTo>
                <a:lnTo>
                  <a:pt x="3420043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Microsoft YaHei"/>
                <a:cs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50215" cy="467995"/>
          </a:xfrm>
          <a:custGeom>
            <a:avLst/>
            <a:gdLst/>
            <a:ahLst/>
            <a:cxnLst/>
            <a:rect l="l" t="t" r="r" b="b"/>
            <a:pathLst>
              <a:path w="450215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450215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450215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0002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60004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000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00011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0016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40018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800023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980025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34002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520032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880037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060039" y="0"/>
            <a:ext cx="360045" cy="156210"/>
          </a:xfrm>
          <a:custGeom>
            <a:avLst/>
            <a:gdLst/>
            <a:ahLst/>
            <a:cxnLst/>
            <a:rect l="l" t="t" r="r" b="b"/>
            <a:pathLst>
              <a:path w="360045" h="15621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5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788"/>
                </a:lnTo>
                <a:lnTo>
                  <a:pt x="2303995" y="135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80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055" y="199857"/>
            <a:ext cx="3305175" cy="248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193" y="1231706"/>
            <a:ext cx="2495550" cy="116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3262" y="3325230"/>
            <a:ext cx="73660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003" y="3325230"/>
            <a:ext cx="672465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2559" y="3325230"/>
            <a:ext cx="28321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E087810-82E3-FBF8-1DE2-C010C8C1CD5E}"/>
              </a:ext>
            </a:extLst>
          </p:cNvPr>
          <p:cNvSpPr/>
          <p:nvPr/>
        </p:nvSpPr>
        <p:spPr>
          <a:xfrm>
            <a:off x="-6107" y="-13157"/>
            <a:ext cx="3600244" cy="63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7C5D2F-E9A6-A1EE-613C-B2029BF6E95A}"/>
              </a:ext>
            </a:extLst>
          </p:cNvPr>
          <p:cNvSpPr/>
          <p:nvPr/>
        </p:nvSpPr>
        <p:spPr>
          <a:xfrm>
            <a:off x="72802" y="84099"/>
            <a:ext cx="4464496" cy="331236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44910" y="2520700"/>
            <a:ext cx="2520280" cy="633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1103"/>
              </a:spcBef>
            </a:pPr>
            <a:r>
              <a:rPr sz="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2026</a:t>
            </a:r>
            <a:r>
              <a:rPr sz="800" spc="-12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 </a:t>
            </a:r>
            <a:r>
              <a:rPr sz="800" spc="15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年国家级大学生创新训练计划立项答辩</a:t>
            </a:r>
            <a:endParaRPr lang="en-US" sz="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  <a:p>
            <a:pPr algn="ctr">
              <a:spcBef>
                <a:spcPts val="1103"/>
              </a:spcBef>
            </a:pPr>
            <a:r>
              <a:rPr lang="zh-CN" altLang="en-US" sz="800" b="1" spc="-16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勒方</a:t>
            </a:r>
            <a:r>
              <a:rPr lang="zh-CN" altLang="en-US" sz="800" b="1" spc="-4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舟</a:t>
            </a:r>
            <a:r>
              <a:rPr lang="zh-CN" altLang="en-US" sz="800" b="1" spc="-16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、</a:t>
            </a:r>
            <a:r>
              <a:rPr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[姓名]、黄浩</a:t>
            </a:r>
            <a:r>
              <a:rPr sz="800" b="1" spc="-4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天</a:t>
            </a:r>
            <a:endParaRPr sz="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  <a:p>
            <a:pPr marR="35542" algn="ctr">
              <a:spcBef>
                <a:spcPts val="28"/>
              </a:spcBef>
              <a:tabLst>
                <a:tab pos="553951" algn="l"/>
              </a:tabLst>
            </a:pPr>
            <a:r>
              <a:rPr lang="en-US" sz="800" spc="-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   </a:t>
            </a:r>
          </a:p>
          <a:p>
            <a:pPr marR="35542" algn="ctr">
              <a:spcBef>
                <a:spcPts val="28"/>
              </a:spcBef>
              <a:tabLst>
                <a:tab pos="553951" algn="l"/>
              </a:tabLst>
            </a:pPr>
            <a:r>
              <a:rPr sz="8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指导教师</a:t>
            </a:r>
            <a:r>
              <a:rPr lang="en-US" sz="800" spc="-4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      </a:t>
            </a:r>
            <a:r>
              <a:rPr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陈家</a:t>
            </a:r>
            <a:r>
              <a:rPr sz="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欣</a:t>
            </a:r>
            <a:r>
              <a:rPr sz="8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sz="8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sz="7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副研究</a:t>
            </a:r>
            <a:r>
              <a:rPr sz="700" spc="-4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员</a:t>
            </a:r>
            <a:endParaRPr sz="7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3862" y="3170535"/>
            <a:ext cx="2164411" cy="117463"/>
          </a:xfrm>
          <a:prstGeom prst="rect">
            <a:avLst/>
          </a:prstGeom>
        </p:spPr>
        <p:txBody>
          <a:bodyPr vert="horz" wrap="square" lIns="0" tIns="9647" rIns="0" bIns="0" rtlCol="0">
            <a:spAutoFit/>
          </a:bodyPr>
          <a:lstStyle/>
          <a:p>
            <a:pPr marL="10155">
              <a:spcBef>
                <a:spcPts val="76"/>
              </a:spcBef>
              <a:tabLst>
                <a:tab pos="1333341" algn="l"/>
                <a:tab pos="1466877" algn="l"/>
              </a:tabLst>
            </a:pPr>
            <a:r>
              <a:rPr sz="64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南开大学电子信息与光学工程学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院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	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|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	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2026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年</a:t>
            </a:r>
            <a:r>
              <a:rPr lang="en-US" sz="700" spc="-9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4 </a:t>
            </a:r>
            <a:r>
              <a:rPr lang="zh-CN" altLang="en-US"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月</a:t>
            </a:r>
            <a:r>
              <a:rPr lang="en-US" sz="700" spc="-9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16</a:t>
            </a:r>
            <a:r>
              <a:rPr sz="700" spc="24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 </a:t>
            </a:r>
            <a:r>
              <a:rPr sz="70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日</a:t>
            </a:r>
            <a:endParaRPr sz="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2632DBD-9C35-02D1-1660-3B2E1FF1AD53}"/>
              </a:ext>
            </a:extLst>
          </p:cNvPr>
          <p:cNvGrpSpPr/>
          <p:nvPr/>
        </p:nvGrpSpPr>
        <p:grpSpPr>
          <a:xfrm>
            <a:off x="-185709" y="794271"/>
            <a:ext cx="4981096" cy="1584176"/>
            <a:chOff x="780338" y="369226"/>
            <a:chExt cx="4981096" cy="158417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DFCF2F1-3FF2-78B4-9E82-B851B09D0EE2}"/>
                </a:ext>
              </a:extLst>
            </p:cNvPr>
            <p:cNvSpPr/>
            <p:nvPr/>
          </p:nvSpPr>
          <p:spPr>
            <a:xfrm>
              <a:off x="1182654" y="461767"/>
              <a:ext cx="4176464" cy="143102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1000">
                  <a:srgbClr val="FFFFFF"/>
                </a:gs>
                <a:gs pos="11543">
                  <a:srgbClr val="FFFFFF"/>
                </a:gs>
                <a:gs pos="27251">
                  <a:srgbClr val="FFFFFF"/>
                </a:gs>
                <a:gs pos="20502">
                  <a:srgbClr val="FFFFFF"/>
                </a:gs>
                <a:gs pos="34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50800" cmpd="thinThick">
              <a:gradFill flip="none" rotWithShape="1">
                <a:gsLst>
                  <a:gs pos="0">
                    <a:schemeClr val="accent4">
                      <a:lumMod val="5000"/>
                      <a:lumOff val="95000"/>
                    </a:schemeClr>
                  </a:gs>
                  <a:gs pos="7400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609306"/>
                        <a:gd name="csY0" fmla="*/ 0 h 1512168"/>
                        <a:gd name="csX1" fmla="*/ 612379 w 4609306"/>
                        <a:gd name="csY1" fmla="*/ 0 h 1512168"/>
                        <a:gd name="csX2" fmla="*/ 1178665 w 4609306"/>
                        <a:gd name="csY2" fmla="*/ 0 h 1512168"/>
                        <a:gd name="csX3" fmla="*/ 1883231 w 4609306"/>
                        <a:gd name="csY3" fmla="*/ 0 h 1512168"/>
                        <a:gd name="csX4" fmla="*/ 2541703 w 4609306"/>
                        <a:gd name="csY4" fmla="*/ 0 h 1512168"/>
                        <a:gd name="csX5" fmla="*/ 3200175 w 4609306"/>
                        <a:gd name="csY5" fmla="*/ 0 h 1512168"/>
                        <a:gd name="csX6" fmla="*/ 3950834 w 4609306"/>
                        <a:gd name="csY6" fmla="*/ 0 h 1512168"/>
                        <a:gd name="csX7" fmla="*/ 4609306 w 4609306"/>
                        <a:gd name="csY7" fmla="*/ 0 h 1512168"/>
                        <a:gd name="csX8" fmla="*/ 4609306 w 4609306"/>
                        <a:gd name="csY8" fmla="*/ 458691 h 1512168"/>
                        <a:gd name="csX9" fmla="*/ 4609306 w 4609306"/>
                        <a:gd name="csY9" fmla="*/ 977869 h 1512168"/>
                        <a:gd name="csX10" fmla="*/ 4609306 w 4609306"/>
                        <a:gd name="csY10" fmla="*/ 1512168 h 1512168"/>
                        <a:gd name="csX11" fmla="*/ 3904741 w 4609306"/>
                        <a:gd name="csY11" fmla="*/ 1512168 h 1512168"/>
                        <a:gd name="csX12" fmla="*/ 3200175 w 4609306"/>
                        <a:gd name="csY12" fmla="*/ 1512168 h 1512168"/>
                        <a:gd name="csX13" fmla="*/ 2449517 w 4609306"/>
                        <a:gd name="csY13" fmla="*/ 1512168 h 1512168"/>
                        <a:gd name="csX14" fmla="*/ 1837138 w 4609306"/>
                        <a:gd name="csY14" fmla="*/ 1512168 h 1512168"/>
                        <a:gd name="csX15" fmla="*/ 1086479 w 4609306"/>
                        <a:gd name="csY15" fmla="*/ 1512168 h 1512168"/>
                        <a:gd name="csX16" fmla="*/ 0 w 4609306"/>
                        <a:gd name="csY16" fmla="*/ 1512168 h 1512168"/>
                        <a:gd name="csX17" fmla="*/ 0 w 4609306"/>
                        <a:gd name="csY17" fmla="*/ 1053477 h 1512168"/>
                        <a:gd name="csX18" fmla="*/ 0 w 4609306"/>
                        <a:gd name="csY18" fmla="*/ 534299 h 1512168"/>
                        <a:gd name="csX19" fmla="*/ 0 w 4609306"/>
                        <a:gd name="csY19" fmla="*/ 0 h 151216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</a:cxnLst>
                      <a:rect l="l" t="t" r="r" b="b"/>
                      <a:pathLst>
                        <a:path w="4609306" h="1512168" fill="none" extrusionOk="0">
                          <a:moveTo>
                            <a:pt x="0" y="0"/>
                          </a:moveTo>
                          <a:cubicBezTo>
                            <a:pt x="249113" y="27290"/>
                            <a:pt x="424093" y="-5997"/>
                            <a:pt x="612379" y="0"/>
                          </a:cubicBezTo>
                          <a:cubicBezTo>
                            <a:pt x="800665" y="5997"/>
                            <a:pt x="960543" y="24213"/>
                            <a:pt x="1178665" y="0"/>
                          </a:cubicBezTo>
                          <a:cubicBezTo>
                            <a:pt x="1396787" y="-24213"/>
                            <a:pt x="1536147" y="-30694"/>
                            <a:pt x="1883231" y="0"/>
                          </a:cubicBezTo>
                          <a:cubicBezTo>
                            <a:pt x="2230315" y="30694"/>
                            <a:pt x="2382473" y="28138"/>
                            <a:pt x="2541703" y="0"/>
                          </a:cubicBezTo>
                          <a:cubicBezTo>
                            <a:pt x="2700933" y="-28138"/>
                            <a:pt x="3035606" y="698"/>
                            <a:pt x="3200175" y="0"/>
                          </a:cubicBezTo>
                          <a:cubicBezTo>
                            <a:pt x="3364744" y="-698"/>
                            <a:pt x="3718735" y="28341"/>
                            <a:pt x="3950834" y="0"/>
                          </a:cubicBezTo>
                          <a:cubicBezTo>
                            <a:pt x="4182933" y="-28341"/>
                            <a:pt x="4302736" y="527"/>
                            <a:pt x="4609306" y="0"/>
                          </a:cubicBezTo>
                          <a:cubicBezTo>
                            <a:pt x="4616584" y="113537"/>
                            <a:pt x="4603963" y="232903"/>
                            <a:pt x="4609306" y="458691"/>
                          </a:cubicBezTo>
                          <a:cubicBezTo>
                            <a:pt x="4614649" y="684479"/>
                            <a:pt x="4611641" y="807584"/>
                            <a:pt x="4609306" y="977869"/>
                          </a:cubicBezTo>
                          <a:cubicBezTo>
                            <a:pt x="4606971" y="1148154"/>
                            <a:pt x="4602632" y="1311246"/>
                            <a:pt x="4609306" y="1512168"/>
                          </a:cubicBezTo>
                          <a:cubicBezTo>
                            <a:pt x="4432754" y="1539928"/>
                            <a:pt x="4187452" y="1498202"/>
                            <a:pt x="3904741" y="1512168"/>
                          </a:cubicBezTo>
                          <a:cubicBezTo>
                            <a:pt x="3622030" y="1526134"/>
                            <a:pt x="3370286" y="1536289"/>
                            <a:pt x="3200175" y="1512168"/>
                          </a:cubicBezTo>
                          <a:cubicBezTo>
                            <a:pt x="3030064" y="1488047"/>
                            <a:pt x="2718951" y="1496845"/>
                            <a:pt x="2449517" y="1512168"/>
                          </a:cubicBezTo>
                          <a:cubicBezTo>
                            <a:pt x="2180083" y="1527491"/>
                            <a:pt x="2032880" y="1525485"/>
                            <a:pt x="1837138" y="1512168"/>
                          </a:cubicBezTo>
                          <a:cubicBezTo>
                            <a:pt x="1641396" y="1498851"/>
                            <a:pt x="1241470" y="1539536"/>
                            <a:pt x="1086479" y="1512168"/>
                          </a:cubicBezTo>
                          <a:cubicBezTo>
                            <a:pt x="931488" y="1484800"/>
                            <a:pt x="362833" y="1541254"/>
                            <a:pt x="0" y="1512168"/>
                          </a:cubicBezTo>
                          <a:cubicBezTo>
                            <a:pt x="-21" y="1370398"/>
                            <a:pt x="6653" y="1227027"/>
                            <a:pt x="0" y="1053477"/>
                          </a:cubicBezTo>
                          <a:cubicBezTo>
                            <a:pt x="-6653" y="879927"/>
                            <a:pt x="4473" y="760332"/>
                            <a:pt x="0" y="534299"/>
                          </a:cubicBezTo>
                          <a:cubicBezTo>
                            <a:pt x="-4473" y="308266"/>
                            <a:pt x="-14752" y="180863"/>
                            <a:pt x="0" y="0"/>
                          </a:cubicBezTo>
                          <a:close/>
                        </a:path>
                        <a:path w="4609306" h="1512168" stroke="0" extrusionOk="0">
                          <a:moveTo>
                            <a:pt x="0" y="0"/>
                          </a:moveTo>
                          <a:cubicBezTo>
                            <a:pt x="264593" y="4521"/>
                            <a:pt x="309409" y="-6419"/>
                            <a:pt x="612379" y="0"/>
                          </a:cubicBezTo>
                          <a:cubicBezTo>
                            <a:pt x="915349" y="6419"/>
                            <a:pt x="967980" y="-19155"/>
                            <a:pt x="1132572" y="0"/>
                          </a:cubicBezTo>
                          <a:cubicBezTo>
                            <a:pt x="1297164" y="19155"/>
                            <a:pt x="1547738" y="-7505"/>
                            <a:pt x="1883231" y="0"/>
                          </a:cubicBezTo>
                          <a:cubicBezTo>
                            <a:pt x="2218724" y="7505"/>
                            <a:pt x="2325756" y="3799"/>
                            <a:pt x="2495610" y="0"/>
                          </a:cubicBezTo>
                          <a:cubicBezTo>
                            <a:pt x="2665464" y="-3799"/>
                            <a:pt x="2909302" y="-6224"/>
                            <a:pt x="3107989" y="0"/>
                          </a:cubicBezTo>
                          <a:cubicBezTo>
                            <a:pt x="3306676" y="6224"/>
                            <a:pt x="3677318" y="22624"/>
                            <a:pt x="3858648" y="0"/>
                          </a:cubicBezTo>
                          <a:cubicBezTo>
                            <a:pt x="4039978" y="-22624"/>
                            <a:pt x="4251229" y="-7373"/>
                            <a:pt x="4609306" y="0"/>
                          </a:cubicBezTo>
                          <a:cubicBezTo>
                            <a:pt x="4598430" y="222271"/>
                            <a:pt x="4588044" y="424618"/>
                            <a:pt x="4609306" y="534299"/>
                          </a:cubicBezTo>
                          <a:cubicBezTo>
                            <a:pt x="4630568" y="643980"/>
                            <a:pt x="4624992" y="845569"/>
                            <a:pt x="4609306" y="1008112"/>
                          </a:cubicBezTo>
                          <a:cubicBezTo>
                            <a:pt x="4593620" y="1170655"/>
                            <a:pt x="4633648" y="1319889"/>
                            <a:pt x="4609306" y="1512168"/>
                          </a:cubicBezTo>
                          <a:cubicBezTo>
                            <a:pt x="4350379" y="1497316"/>
                            <a:pt x="4188154" y="1516078"/>
                            <a:pt x="3950834" y="1512168"/>
                          </a:cubicBezTo>
                          <a:cubicBezTo>
                            <a:pt x="3713514" y="1508258"/>
                            <a:pt x="3578886" y="1486861"/>
                            <a:pt x="3338454" y="1512168"/>
                          </a:cubicBezTo>
                          <a:cubicBezTo>
                            <a:pt x="3098022" y="1537475"/>
                            <a:pt x="2894974" y="1494937"/>
                            <a:pt x="2587796" y="1512168"/>
                          </a:cubicBezTo>
                          <a:cubicBezTo>
                            <a:pt x="2280618" y="1529399"/>
                            <a:pt x="2021216" y="1498753"/>
                            <a:pt x="1837138" y="1512168"/>
                          </a:cubicBezTo>
                          <a:cubicBezTo>
                            <a:pt x="1653060" y="1525583"/>
                            <a:pt x="1432154" y="1514827"/>
                            <a:pt x="1270852" y="1512168"/>
                          </a:cubicBezTo>
                          <a:cubicBezTo>
                            <a:pt x="1109550" y="1509509"/>
                            <a:pt x="858545" y="1489778"/>
                            <a:pt x="612379" y="1512168"/>
                          </a:cubicBezTo>
                          <a:cubicBezTo>
                            <a:pt x="366213" y="1534558"/>
                            <a:pt x="150437" y="1484138"/>
                            <a:pt x="0" y="1512168"/>
                          </a:cubicBezTo>
                          <a:cubicBezTo>
                            <a:pt x="5882" y="1383805"/>
                            <a:pt x="2473" y="1217223"/>
                            <a:pt x="0" y="1008112"/>
                          </a:cubicBezTo>
                          <a:cubicBezTo>
                            <a:pt x="-2473" y="799001"/>
                            <a:pt x="14980" y="771138"/>
                            <a:pt x="0" y="534299"/>
                          </a:cubicBezTo>
                          <a:cubicBezTo>
                            <a:pt x="-14980" y="297460"/>
                            <a:pt x="-8295" y="253878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1377240" y="1406119"/>
              <a:ext cx="4053992" cy="360606"/>
            </a:xfrm>
            <a:prstGeom prst="rect">
              <a:avLst/>
            </a:prstGeom>
          </p:spPr>
          <p:txBody>
            <a:bodyPr vert="horz" wrap="square" lIns="0" tIns="9139" rIns="0" bIns="0" rtlCol="0">
              <a:spAutoFit/>
            </a:bodyPr>
            <a:lstStyle/>
            <a:p>
              <a:pPr marL="10155">
                <a:spcBef>
                  <a:spcPts val="72"/>
                </a:spcBef>
              </a:pPr>
              <a:r>
                <a:rPr lang="zh-CN" altLang="zh-CN" sz="11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二维硒化铟光电突触器件</a:t>
              </a:r>
              <a:endParaRPr lang="en-US" altLang="zh-CN" sz="11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0155">
                <a:spcBef>
                  <a:spcPts val="72"/>
                </a:spcBef>
              </a:pPr>
              <a:r>
                <a:rPr lang="zh-CN" altLang="zh-CN" sz="11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在极端光照目标检测中的应用研究 </a:t>
              </a:r>
              <a:endParaRPr sz="1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JhengHei UI"/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9801B77-E278-EE95-7146-2FF506A77EFF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2647" r="15431" b="13981"/>
            <a:stretch>
              <a:fillRect/>
            </a:stretch>
          </p:blipFill>
          <p:spPr>
            <a:xfrm>
              <a:off x="780338" y="369226"/>
              <a:ext cx="4981096" cy="1584176"/>
            </a:xfrm>
            <a:prstGeom prst="rect">
              <a:avLst/>
            </a:prstGeom>
            <a:noFill/>
            <a:effectLst/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>
            <a:extLst>
              <a:ext uri="{FF2B5EF4-FFF2-40B4-BE49-F238E27FC236}">
                <a16:creationId xmlns:a16="http://schemas.microsoft.com/office/drawing/2014/main" id="{B60102D5-1FAB-E27B-74D2-50F221EE6E72}"/>
              </a:ext>
            </a:extLst>
          </p:cNvPr>
          <p:cNvGrpSpPr/>
          <p:nvPr/>
        </p:nvGrpSpPr>
        <p:grpSpPr>
          <a:xfrm>
            <a:off x="1834769" y="2295426"/>
            <a:ext cx="2479746" cy="1217999"/>
            <a:chOff x="1787470" y="1638593"/>
            <a:chExt cx="2573581" cy="1216556"/>
          </a:xfrm>
        </p:grpSpPr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10F38E5E-59A4-B49F-42E7-3A1A7AD45738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43" b="4356"/>
            <a:stretch>
              <a:fillRect/>
            </a:stretch>
          </p:blipFill>
          <p:spPr>
            <a:xfrm>
              <a:off x="1787470" y="1638593"/>
              <a:ext cx="2447678" cy="1148330"/>
            </a:xfrm>
            <a:prstGeom prst="roundRect">
              <a:avLst/>
            </a:prstGeom>
          </p:spPr>
        </p:pic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F72143B-6507-315A-7CAE-29CC13F07479}"/>
                </a:ext>
              </a:extLst>
            </p:cNvPr>
            <p:cNvSpPr/>
            <p:nvPr/>
          </p:nvSpPr>
          <p:spPr>
            <a:xfrm>
              <a:off x="1868371" y="2711133"/>
              <a:ext cx="2492680" cy="144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/>
              <a:t>研究背景</a:t>
            </a:r>
            <a:endParaRPr spc="-5" dirty="0"/>
          </a:p>
        </p:txBody>
      </p:sp>
      <p:sp>
        <p:nvSpPr>
          <p:cNvPr id="10" name="object 10"/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D5248F36-8963-AEE2-9E33-8EA02F9FEEA4}"/>
              </a:ext>
            </a:extLst>
          </p:cNvPr>
          <p:cNvSpPr/>
          <p:nvPr/>
        </p:nvSpPr>
        <p:spPr>
          <a:xfrm>
            <a:off x="32927" y="1010295"/>
            <a:ext cx="4499109" cy="2448272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3EEE7C6-1D4C-8B5A-2303-6937EC546829}"/>
              </a:ext>
            </a:extLst>
          </p:cNvPr>
          <p:cNvGrpSpPr/>
          <p:nvPr/>
        </p:nvGrpSpPr>
        <p:grpSpPr>
          <a:xfrm>
            <a:off x="104281" y="1154311"/>
            <a:ext cx="1562130" cy="1927184"/>
            <a:chOff x="161604" y="1387469"/>
            <a:chExt cx="1562130" cy="1927184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4E10B267-F8AE-DAEA-219A-2B56842F933B}"/>
                </a:ext>
              </a:extLst>
            </p:cNvPr>
            <p:cNvGrpSpPr/>
            <p:nvPr/>
          </p:nvGrpSpPr>
          <p:grpSpPr>
            <a:xfrm>
              <a:off x="161604" y="1387469"/>
              <a:ext cx="1562130" cy="1927184"/>
              <a:chOff x="1705101" y="1655216"/>
              <a:chExt cx="1031575" cy="1116094"/>
            </a:xfrm>
          </p:grpSpPr>
          <p:sp>
            <p:nvSpPr>
              <p:cNvPr id="58" name="object 13">
                <a:extLst>
                  <a:ext uri="{FF2B5EF4-FFF2-40B4-BE49-F238E27FC236}">
                    <a16:creationId xmlns:a16="http://schemas.microsoft.com/office/drawing/2014/main" id="{C132E2E2-6BD9-ED0B-62B7-2EF6C1DFC43B}"/>
                  </a:ext>
                </a:extLst>
              </p:cNvPr>
              <p:cNvSpPr/>
              <p:nvPr/>
            </p:nvSpPr>
            <p:spPr>
              <a:xfrm>
                <a:off x="1737821" y="1728639"/>
                <a:ext cx="998855" cy="1042671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4">
                <a:extLst>
                  <a:ext uri="{FF2B5EF4-FFF2-40B4-BE49-F238E27FC236}">
                    <a16:creationId xmlns:a16="http://schemas.microsoft.com/office/drawing/2014/main" id="{2CBDCB21-17B1-EF99-D2E5-A60219D6FED7}"/>
                  </a:ext>
                </a:extLst>
              </p:cNvPr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15">
                <a:extLst>
                  <a:ext uri="{FF2B5EF4-FFF2-40B4-BE49-F238E27FC236}">
                    <a16:creationId xmlns:a16="http://schemas.microsoft.com/office/drawing/2014/main" id="{A3FD9F51-9E95-5622-AB93-448BA84342CF}"/>
                  </a:ext>
                </a:extLst>
              </p:cNvPr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E0877D0-181F-6867-0104-8B5ECC61E15E}"/>
                </a:ext>
              </a:extLst>
            </p:cNvPr>
            <p:cNvSpPr txBox="1"/>
            <p:nvPr/>
          </p:nvSpPr>
          <p:spPr>
            <a:xfrm>
              <a:off x="183054" y="1393359"/>
              <a:ext cx="12836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过曝：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高光区域细节完全丢失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颜色通道溢出，出现白色块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纹理细节模糊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9D21CAE6-7818-3C8F-20B9-D35EF492C9F7}"/>
                </a:ext>
              </a:extLst>
            </p:cNvPr>
            <p:cNvCxnSpPr/>
            <p:nvPr/>
          </p:nvCxnSpPr>
          <p:spPr>
            <a:xfrm>
              <a:off x="288826" y="2378447"/>
              <a:ext cx="1307687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7251EC7-A004-DDAB-B52C-19D0F39DAD73}"/>
                </a:ext>
              </a:extLst>
            </p:cNvPr>
            <p:cNvSpPr txBox="1"/>
            <p:nvPr/>
          </p:nvSpPr>
          <p:spPr>
            <a:xfrm>
              <a:off x="232602" y="2422964"/>
              <a:ext cx="13866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欠曝：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暗部噪声高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颜色偏暗失真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亮度提升后噪声放大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B37217F-365E-0BE7-CDDF-E1720BA9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" t="7046" r="1693" b="9909"/>
          <a:stretch>
            <a:fillRect/>
          </a:stretch>
        </p:blipFill>
        <p:spPr>
          <a:xfrm>
            <a:off x="1737765" y="1024193"/>
            <a:ext cx="2664892" cy="1249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06A7-B1DA-AE02-0FE9-A287FE4D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C2C4E03-CEE3-DB52-24CA-5A3AA5A657BA}"/>
              </a:ext>
            </a:extLst>
          </p:cNvPr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E8BD85-B7AA-A645-FFB5-31562C999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/>
              <a:t>研究背景</a:t>
            </a:r>
            <a:endParaRPr spc="-5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A2B3187-1EB0-00AC-9CA6-0C4034365DDC}"/>
              </a:ext>
            </a:extLst>
          </p:cNvPr>
          <p:cNvSpPr/>
          <p:nvPr/>
        </p:nvSpPr>
        <p:spPr>
          <a:xfrm>
            <a:off x="92562" y="639329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16D7DFED-DACE-4A39-3960-AB8A9CBADE12}"/>
              </a:ext>
            </a:extLst>
          </p:cNvPr>
          <p:cNvSpPr/>
          <p:nvPr/>
        </p:nvSpPr>
        <p:spPr>
          <a:xfrm>
            <a:off x="92562" y="1152858"/>
            <a:ext cx="4499109" cy="2088231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98C259F-3DE0-21E0-5A10-9853240747E0}"/>
              </a:ext>
            </a:extLst>
          </p:cNvPr>
          <p:cNvGrpSpPr/>
          <p:nvPr/>
        </p:nvGrpSpPr>
        <p:grpSpPr>
          <a:xfrm>
            <a:off x="190782" y="1298327"/>
            <a:ext cx="1181784" cy="1728192"/>
            <a:chOff x="595592" y="754950"/>
            <a:chExt cx="923328" cy="1512943"/>
          </a:xfrm>
        </p:grpSpPr>
        <p:grpSp>
          <p:nvGrpSpPr>
            <p:cNvPr id="6" name="object 5">
              <a:extLst>
                <a:ext uri="{FF2B5EF4-FFF2-40B4-BE49-F238E27FC236}">
                  <a16:creationId xmlns:a16="http://schemas.microsoft.com/office/drawing/2014/main" id="{F156E8B7-4E1C-57E7-BBE1-9CDB6FAF8862}"/>
                </a:ext>
              </a:extLst>
            </p:cNvPr>
            <p:cNvGrpSpPr/>
            <p:nvPr/>
          </p:nvGrpSpPr>
          <p:grpSpPr>
            <a:xfrm>
              <a:off x="911014" y="911410"/>
              <a:ext cx="582930" cy="204470"/>
              <a:chOff x="911014" y="911410"/>
              <a:chExt cx="582930" cy="204470"/>
            </a:xfrm>
          </p:grpSpPr>
          <p:sp>
            <p:nvSpPr>
              <p:cNvPr id="39" name="object 6">
                <a:extLst>
                  <a:ext uri="{FF2B5EF4-FFF2-40B4-BE49-F238E27FC236}">
                    <a16:creationId xmlns:a16="http://schemas.microsoft.com/office/drawing/2014/main" id="{FA87D82E-4742-5A92-4ED5-498458473154}"/>
                  </a:ext>
                </a:extLst>
              </p:cNvPr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7">
                <a:extLst>
                  <a:ext uri="{FF2B5EF4-FFF2-40B4-BE49-F238E27FC236}">
                    <a16:creationId xmlns:a16="http://schemas.microsoft.com/office/drawing/2014/main" id="{43A27C1C-70B4-1CC3-A15C-F3A2015771CC}"/>
                  </a:ext>
                </a:extLst>
              </p:cNvPr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E993D13A-8B4F-1F70-1C08-DF14988E2112}"/>
                </a:ext>
              </a:extLst>
            </p:cNvPr>
            <p:cNvSpPr txBox="1"/>
            <p:nvPr/>
          </p:nvSpPr>
          <p:spPr>
            <a:xfrm>
              <a:off x="885825" y="754950"/>
              <a:ext cx="633095" cy="3130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20" dirty="0">
                  <a:latin typeface="Microsoft YaHei"/>
                  <a:cs typeface="Microsoft YaHei"/>
                </a:rPr>
                <a:t>传统视觉链路</a:t>
              </a:r>
              <a:endParaRPr sz="800" dirty="0">
                <a:latin typeface="Microsoft YaHei"/>
                <a:cs typeface="Microsoft YaHei"/>
              </a:endParaRP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600" spc="-10" dirty="0">
                  <a:latin typeface="Georgia"/>
                  <a:cs typeface="Georgia"/>
                </a:rPr>
                <a:t>Sensor</a:t>
              </a:r>
              <a:endParaRPr sz="600" dirty="0">
                <a:latin typeface="Georgia"/>
                <a:cs typeface="Georgia"/>
              </a:endParaRPr>
            </a:p>
          </p:txBody>
        </p:sp>
        <p:grpSp>
          <p:nvGrpSpPr>
            <p:cNvPr id="8" name="object 9">
              <a:extLst>
                <a:ext uri="{FF2B5EF4-FFF2-40B4-BE49-F238E27FC236}">
                  <a16:creationId xmlns:a16="http://schemas.microsoft.com/office/drawing/2014/main" id="{1B4A63F5-76A1-42EA-A2AF-A0E7B13C845F}"/>
                </a:ext>
              </a:extLst>
            </p:cNvPr>
            <p:cNvGrpSpPr/>
            <p:nvPr/>
          </p:nvGrpSpPr>
          <p:grpSpPr>
            <a:xfrm>
              <a:off x="911014" y="1199414"/>
              <a:ext cx="582930" cy="204470"/>
              <a:chOff x="911014" y="1199414"/>
              <a:chExt cx="582930" cy="204470"/>
            </a:xfrm>
          </p:grpSpPr>
          <p:sp>
            <p:nvSpPr>
              <p:cNvPr id="37" name="object 10">
                <a:extLst>
                  <a:ext uri="{FF2B5EF4-FFF2-40B4-BE49-F238E27FC236}">
                    <a16:creationId xmlns:a16="http://schemas.microsoft.com/office/drawing/2014/main" id="{7CFD44BF-01C2-7BB0-A4CD-BA3D1B1C560D}"/>
                  </a:ext>
                </a:extLst>
              </p:cNvPr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11">
                <a:extLst>
                  <a:ext uri="{FF2B5EF4-FFF2-40B4-BE49-F238E27FC236}">
                    <a16:creationId xmlns:a16="http://schemas.microsoft.com/office/drawing/2014/main" id="{0AD6289A-C7AC-84D4-0CA2-45D3BB316014}"/>
                  </a:ext>
                </a:extLst>
              </p:cNvPr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3BE84A85-83A8-7E22-7C4A-447E980411D8}"/>
                </a:ext>
              </a:extLst>
            </p:cNvPr>
            <p:cNvSpPr txBox="1"/>
            <p:nvPr/>
          </p:nvSpPr>
          <p:spPr>
            <a:xfrm>
              <a:off x="1087691" y="1239283"/>
              <a:ext cx="22923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90" dirty="0">
                  <a:latin typeface="Georgia"/>
                  <a:cs typeface="Georgia"/>
                </a:rPr>
                <a:t>ADC</a:t>
              </a:r>
              <a:endParaRPr sz="600">
                <a:latin typeface="Georgia"/>
                <a:cs typeface="Georgia"/>
              </a:endParaRPr>
            </a:p>
          </p:txBody>
        </p:sp>
        <p:grpSp>
          <p:nvGrpSpPr>
            <p:cNvPr id="11" name="object 13">
              <a:extLst>
                <a:ext uri="{FF2B5EF4-FFF2-40B4-BE49-F238E27FC236}">
                  <a16:creationId xmlns:a16="http://schemas.microsoft.com/office/drawing/2014/main" id="{AB3D43A0-D864-6FB3-47E2-25AB945BCDDB}"/>
                </a:ext>
              </a:extLst>
            </p:cNvPr>
            <p:cNvGrpSpPr/>
            <p:nvPr/>
          </p:nvGrpSpPr>
          <p:grpSpPr>
            <a:xfrm>
              <a:off x="911014" y="1487419"/>
              <a:ext cx="582930" cy="492759"/>
              <a:chOff x="911014" y="1487419"/>
              <a:chExt cx="582930" cy="492759"/>
            </a:xfrm>
          </p:grpSpPr>
          <p:sp>
            <p:nvSpPr>
              <p:cNvPr id="33" name="object 14">
                <a:extLst>
                  <a:ext uri="{FF2B5EF4-FFF2-40B4-BE49-F238E27FC236}">
                    <a16:creationId xmlns:a16="http://schemas.microsoft.com/office/drawing/2014/main" id="{3C4B4978-3EB5-AE56-A823-F835938814D8}"/>
                  </a:ext>
                </a:extLst>
              </p:cNvPr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5">
                <a:extLst>
                  <a:ext uri="{FF2B5EF4-FFF2-40B4-BE49-F238E27FC236}">
                    <a16:creationId xmlns:a16="http://schemas.microsoft.com/office/drawing/2014/main" id="{A1739ACA-B2DE-C26D-6660-02E48EBD0D91}"/>
                  </a:ext>
                </a:extLst>
              </p:cNvPr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16">
                <a:extLst>
                  <a:ext uri="{FF2B5EF4-FFF2-40B4-BE49-F238E27FC236}">
                    <a16:creationId xmlns:a16="http://schemas.microsoft.com/office/drawing/2014/main" id="{55A8745B-F948-E2E2-6868-A38FCA134E0B}"/>
                  </a:ext>
                </a:extLst>
              </p:cNvPr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17">
                <a:extLst>
                  <a:ext uri="{FF2B5EF4-FFF2-40B4-BE49-F238E27FC236}">
                    <a16:creationId xmlns:a16="http://schemas.microsoft.com/office/drawing/2014/main" id="{C5290528-136D-472F-22E3-535220692C10}"/>
                  </a:ext>
                </a:extLst>
              </p:cNvPr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40F9AC45-097F-A3D6-AC3C-EB85CA4F2A5D}"/>
                </a:ext>
              </a:extLst>
            </p:cNvPr>
            <p:cNvSpPr txBox="1"/>
            <p:nvPr/>
          </p:nvSpPr>
          <p:spPr>
            <a:xfrm>
              <a:off x="995794" y="1519166"/>
              <a:ext cx="413384" cy="4121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0005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/>
                  <a:cs typeface="Georgia"/>
                </a:rPr>
                <a:t>Memory</a:t>
              </a:r>
              <a:endParaRPr sz="600">
                <a:latin typeface="Georgia"/>
                <a:cs typeface="Georgia"/>
              </a:endParaRPr>
            </a:p>
            <a:p>
              <a:pPr>
                <a:lnSpc>
                  <a:spcPct val="100000"/>
                </a:lnSpc>
              </a:pPr>
              <a:endParaRPr sz="600">
                <a:latin typeface="Georgia"/>
                <a:cs typeface="Georgia"/>
              </a:endParaRPr>
            </a:p>
            <a:p>
              <a:pPr>
                <a:lnSpc>
                  <a:spcPct val="100000"/>
                </a:lnSpc>
                <a:spcBef>
                  <a:spcPts val="245"/>
                </a:spcBef>
              </a:pPr>
              <a:endParaRPr sz="600">
                <a:latin typeface="Georgia"/>
                <a:cs typeface="Georgia"/>
              </a:endParaRPr>
            </a:p>
            <a:p>
              <a:pPr marL="12700">
                <a:lnSpc>
                  <a:spcPct val="100000"/>
                </a:lnSpc>
              </a:pPr>
              <a:r>
                <a:rPr sz="600" spc="35" dirty="0">
                  <a:latin typeface="Georgia"/>
                  <a:cs typeface="Georgia"/>
                </a:rPr>
                <a:t>Processor</a:t>
              </a:r>
              <a:endParaRPr sz="600">
                <a:latin typeface="Georgia"/>
                <a:cs typeface="Georgia"/>
              </a:endParaRPr>
            </a:p>
          </p:txBody>
        </p:sp>
        <p:grpSp>
          <p:nvGrpSpPr>
            <p:cNvPr id="13" name="object 19">
              <a:extLst>
                <a:ext uri="{FF2B5EF4-FFF2-40B4-BE49-F238E27FC236}">
                  <a16:creationId xmlns:a16="http://schemas.microsoft.com/office/drawing/2014/main" id="{1949A267-6701-E9C1-0994-35FC84818CAB}"/>
                </a:ext>
              </a:extLst>
            </p:cNvPr>
            <p:cNvGrpSpPr/>
            <p:nvPr/>
          </p:nvGrpSpPr>
          <p:grpSpPr>
            <a:xfrm>
              <a:off x="911014" y="2063423"/>
              <a:ext cx="582930" cy="204470"/>
              <a:chOff x="911014" y="2063423"/>
              <a:chExt cx="582930" cy="204470"/>
            </a:xfrm>
          </p:grpSpPr>
          <p:sp>
            <p:nvSpPr>
              <p:cNvPr id="31" name="object 20">
                <a:extLst>
                  <a:ext uri="{FF2B5EF4-FFF2-40B4-BE49-F238E27FC236}">
                    <a16:creationId xmlns:a16="http://schemas.microsoft.com/office/drawing/2014/main" id="{13B7BDAD-FF4D-6565-2A43-B1B681CB0DD3}"/>
                  </a:ext>
                </a:extLst>
              </p:cNvPr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D4100125-3C5C-0DC9-7C09-50D9232FC4D6}"/>
                  </a:ext>
                </a:extLst>
              </p:cNvPr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22">
              <a:extLst>
                <a:ext uri="{FF2B5EF4-FFF2-40B4-BE49-F238E27FC236}">
                  <a16:creationId xmlns:a16="http://schemas.microsoft.com/office/drawing/2014/main" id="{266E1CA2-2353-49F1-A359-E879455C182F}"/>
                </a:ext>
              </a:extLst>
            </p:cNvPr>
            <p:cNvSpPr txBox="1"/>
            <p:nvPr/>
          </p:nvSpPr>
          <p:spPr>
            <a:xfrm>
              <a:off x="982243" y="2096305"/>
              <a:ext cx="44005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/>
                  <a:cs typeface="Georgia"/>
                </a:rPr>
                <a:t>Algorithm</a:t>
              </a:r>
              <a:endParaRPr sz="600">
                <a:latin typeface="Georgia"/>
                <a:cs typeface="Georgia"/>
              </a:endParaRPr>
            </a:p>
          </p:txBody>
        </p:sp>
        <p:grpSp>
          <p:nvGrpSpPr>
            <p:cNvPr id="15" name="object 23">
              <a:extLst>
                <a:ext uri="{FF2B5EF4-FFF2-40B4-BE49-F238E27FC236}">
                  <a16:creationId xmlns:a16="http://schemas.microsoft.com/office/drawing/2014/main" id="{547FF4C0-8E4B-72F8-6C06-A5F5C5CED3B0}"/>
                </a:ext>
              </a:extLst>
            </p:cNvPr>
            <p:cNvGrpSpPr/>
            <p:nvPr/>
          </p:nvGrpSpPr>
          <p:grpSpPr>
            <a:xfrm>
              <a:off x="1175877" y="1115751"/>
              <a:ext cx="52705" cy="948055"/>
              <a:chOff x="1175877" y="1115751"/>
              <a:chExt cx="52705" cy="948055"/>
            </a:xfrm>
          </p:grpSpPr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30A9F21D-565E-ADAC-96C1-1BB1432ACD2F}"/>
                  </a:ext>
                </a:extLst>
              </p:cNvPr>
              <p:cNvSpPr/>
              <p:nvPr/>
            </p:nvSpPr>
            <p:spPr>
              <a:xfrm>
                <a:off x="1202194" y="1115751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DE38EA14-DBBF-E596-7307-9B457584152E}"/>
                  </a:ext>
                </a:extLst>
              </p:cNvPr>
              <p:cNvSpPr/>
              <p:nvPr/>
            </p:nvSpPr>
            <p:spPr>
              <a:xfrm>
                <a:off x="1175877" y="1146792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BAB2AE74-D412-841F-46E3-4BF984061FE0}"/>
                  </a:ext>
                </a:extLst>
              </p:cNvPr>
              <p:cNvSpPr/>
              <p:nvPr/>
            </p:nvSpPr>
            <p:spPr>
              <a:xfrm>
                <a:off x="1202194" y="1403756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4154E06D-B9FD-DB7D-ADD6-3B8BEB1AAFFB}"/>
                  </a:ext>
                </a:extLst>
              </p:cNvPr>
              <p:cNvSpPr/>
              <p:nvPr/>
            </p:nvSpPr>
            <p:spPr>
              <a:xfrm>
                <a:off x="1175877" y="1434797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8">
                <a:extLst>
                  <a:ext uri="{FF2B5EF4-FFF2-40B4-BE49-F238E27FC236}">
                    <a16:creationId xmlns:a16="http://schemas.microsoft.com/office/drawing/2014/main" id="{80C45D63-2B67-C69B-FB92-7C67CB7911C1}"/>
                  </a:ext>
                </a:extLst>
              </p:cNvPr>
              <p:cNvSpPr/>
              <p:nvPr/>
            </p:nvSpPr>
            <p:spPr>
              <a:xfrm>
                <a:off x="1202194" y="1691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3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6540EADD-D466-2054-45DE-ED33D3BEBA32}"/>
                  </a:ext>
                </a:extLst>
              </p:cNvPr>
              <p:cNvSpPr/>
              <p:nvPr/>
            </p:nvSpPr>
            <p:spPr>
              <a:xfrm>
                <a:off x="1175877" y="1722796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30">
                <a:extLst>
                  <a:ext uri="{FF2B5EF4-FFF2-40B4-BE49-F238E27FC236}">
                    <a16:creationId xmlns:a16="http://schemas.microsoft.com/office/drawing/2014/main" id="{769EF348-E122-F7C0-C7F2-F9A7CB024340}"/>
                  </a:ext>
                </a:extLst>
              </p:cNvPr>
              <p:cNvSpPr/>
              <p:nvPr/>
            </p:nvSpPr>
            <p:spPr>
              <a:xfrm>
                <a:off x="1202194" y="1979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1">
                <a:extLst>
                  <a:ext uri="{FF2B5EF4-FFF2-40B4-BE49-F238E27FC236}">
                    <a16:creationId xmlns:a16="http://schemas.microsoft.com/office/drawing/2014/main" id="{05AC43ED-6F88-76AD-A99C-054644EF0EB7}"/>
                  </a:ext>
                </a:extLst>
              </p:cNvPr>
              <p:cNvSpPr/>
              <p:nvPr/>
            </p:nvSpPr>
            <p:spPr>
              <a:xfrm>
                <a:off x="1175877" y="2010801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32">
              <a:extLst>
                <a:ext uri="{FF2B5EF4-FFF2-40B4-BE49-F238E27FC236}">
                  <a16:creationId xmlns:a16="http://schemas.microsoft.com/office/drawing/2014/main" id="{B3CA91BD-3750-7727-1740-C05515F2D7A4}"/>
                </a:ext>
              </a:extLst>
            </p:cNvPr>
            <p:cNvSpPr/>
            <p:nvPr/>
          </p:nvSpPr>
          <p:spPr>
            <a:xfrm>
              <a:off x="770190" y="1013587"/>
              <a:ext cx="72390" cy="1152525"/>
            </a:xfrm>
            <a:custGeom>
              <a:avLst/>
              <a:gdLst/>
              <a:ahLst/>
              <a:cxnLst/>
              <a:rect l="l" t="t" r="r" b="b"/>
              <a:pathLst>
                <a:path w="72390" h="1152525">
                  <a:moveTo>
                    <a:pt x="71999" y="0"/>
                  </a:moveTo>
                  <a:lnTo>
                    <a:pt x="0" y="0"/>
                  </a:lnTo>
                  <a:lnTo>
                    <a:pt x="0" y="1152013"/>
                  </a:lnTo>
                  <a:lnTo>
                    <a:pt x="71999" y="1152013"/>
                  </a:lnTo>
                </a:path>
              </a:pathLst>
            </a:custGeom>
            <a:ln w="12652">
              <a:solidFill>
                <a:srgbClr val="B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3">
              <a:extLst>
                <a:ext uri="{FF2B5EF4-FFF2-40B4-BE49-F238E27FC236}">
                  <a16:creationId xmlns:a16="http://schemas.microsoft.com/office/drawing/2014/main" id="{6ADEAB68-B37B-72A9-C130-5D6D8D73DAB3}"/>
                </a:ext>
              </a:extLst>
            </p:cNvPr>
            <p:cNvSpPr txBox="1"/>
            <p:nvPr/>
          </p:nvSpPr>
          <p:spPr>
            <a:xfrm>
              <a:off x="595592" y="1340020"/>
              <a:ext cx="125730" cy="499745"/>
            </a:xfrm>
            <a:prstGeom prst="rect">
              <a:avLst/>
            </a:prstGeom>
          </p:spPr>
          <p:txBody>
            <a:bodyPr vert="vert270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600" spc="-20" dirty="0">
                  <a:solidFill>
                    <a:srgbClr val="B20000"/>
                  </a:solidFill>
                  <a:latin typeface="Microsoft YaHei"/>
                  <a:cs typeface="Microsoft YaHei"/>
                </a:rPr>
                <a:t>冯∙诺依曼瓶颈</a:t>
              </a:r>
              <a:endParaRPr sz="600">
                <a:latin typeface="Microsoft YaHei"/>
                <a:cs typeface="Microsoft YaHei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934E8063-FF86-1B80-2C02-8AB8AE64C9BB}"/>
              </a:ext>
            </a:extLst>
          </p:cNvPr>
          <p:cNvSpPr txBox="1"/>
          <p:nvPr/>
        </p:nvSpPr>
        <p:spPr>
          <a:xfrm>
            <a:off x="1842260" y="1442343"/>
            <a:ext cx="259228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能耗高：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绝大部分能量都消耗在数据的移动过程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900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r>
              <a:rPr lang="zh-CN" altLang="en-US" sz="900" b="1" dirty="0"/>
              <a:t>延迟高：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虽然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技术可解决过曝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欠曝问题，但其核心是对多张不同曝光的图像进行融合。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高质量的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重建通常需要处理数十兆字节的数据。</a:t>
            </a:r>
            <a:endParaRPr lang="zh-CN" altLang="en-US" sz="9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43" name="右大括号 42">
            <a:extLst>
              <a:ext uri="{FF2B5EF4-FFF2-40B4-BE49-F238E27FC236}">
                <a16:creationId xmlns:a16="http://schemas.microsoft.com/office/drawing/2014/main" id="{4E36535D-8F18-B9F0-189D-8054DEEBE8DE}"/>
              </a:ext>
            </a:extLst>
          </p:cNvPr>
          <p:cNvSpPr/>
          <p:nvPr/>
        </p:nvSpPr>
        <p:spPr>
          <a:xfrm>
            <a:off x="1427462" y="1514352"/>
            <a:ext cx="59212" cy="11795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44557EC-E53B-7059-3541-E4D7BCD36F9C}"/>
              </a:ext>
            </a:extLst>
          </p:cNvPr>
          <p:cNvCxnSpPr>
            <a:cxnSpLocks/>
            <a:stCxn id="43" idx="1"/>
          </p:cNvCxnSpPr>
          <p:nvPr/>
        </p:nvCxnSpPr>
        <p:spPr>
          <a:xfrm flipV="1">
            <a:off x="1486674" y="1593761"/>
            <a:ext cx="412617" cy="510372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17CC6E1-2481-D4D3-850F-3A9C0A3054EC}"/>
              </a:ext>
            </a:extLst>
          </p:cNvPr>
          <p:cNvCxnSpPr/>
          <p:nvPr/>
        </p:nvCxnSpPr>
        <p:spPr>
          <a:xfrm>
            <a:off x="1918406" y="1613467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CC03468-AB62-02E1-175C-846CD6F12BD0}"/>
              </a:ext>
            </a:extLst>
          </p:cNvPr>
          <p:cNvCxnSpPr>
            <a:cxnSpLocks/>
          </p:cNvCxnSpPr>
          <p:nvPr/>
        </p:nvCxnSpPr>
        <p:spPr>
          <a:xfrm flipV="1">
            <a:off x="1372566" y="2422967"/>
            <a:ext cx="500436" cy="48729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6495D6B-1D20-1208-D94D-B794738F36D5}"/>
              </a:ext>
            </a:extLst>
          </p:cNvPr>
          <p:cNvCxnSpPr/>
          <p:nvPr/>
        </p:nvCxnSpPr>
        <p:spPr>
          <a:xfrm>
            <a:off x="1910216" y="2433971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658911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24745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spc="-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spc="-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D6416FB5-B266-8FFF-DCCC-A442EE493EEB}"/>
              </a:ext>
            </a:extLst>
          </p:cNvPr>
          <p:cNvGrpSpPr/>
          <p:nvPr/>
        </p:nvGrpSpPr>
        <p:grpSpPr>
          <a:xfrm>
            <a:off x="2193657" y="1400321"/>
            <a:ext cx="2223408" cy="514350"/>
            <a:chOff x="2157039" y="1279071"/>
            <a:chExt cx="2223408" cy="514350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0C9A7B6-9789-C713-BCB4-11DAA8ED81BF}"/>
                </a:ext>
              </a:extLst>
            </p:cNvPr>
            <p:cNvGrpSpPr/>
            <p:nvPr/>
          </p:nvGrpSpPr>
          <p:grpSpPr>
            <a:xfrm>
              <a:off x="2157039" y="1279071"/>
              <a:ext cx="867410" cy="514350"/>
              <a:chOff x="2246789" y="1301756"/>
              <a:chExt cx="867410" cy="514350"/>
            </a:xfrm>
          </p:grpSpPr>
          <p:grpSp>
            <p:nvGrpSpPr>
              <p:cNvPr id="35" name="object 35"/>
              <p:cNvGrpSpPr/>
              <p:nvPr/>
            </p:nvGrpSpPr>
            <p:grpSpPr>
              <a:xfrm>
                <a:off x="2246789" y="1301756"/>
                <a:ext cx="867410" cy="514350"/>
                <a:chOff x="2568525" y="1044509"/>
                <a:chExt cx="867410" cy="514350"/>
              </a:xfrm>
            </p:grpSpPr>
            <p:sp>
              <p:nvSpPr>
                <p:cNvPr id="36" name="object 36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8" name="object 38"/>
              <p:cNvSpPr txBox="1"/>
              <p:nvPr/>
            </p:nvSpPr>
            <p:spPr>
              <a:xfrm>
                <a:off x="2364937" y="1411929"/>
                <a:ext cx="631190" cy="29400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73025" marR="65405" algn="ctr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dirty="0">
                    <a:latin typeface="Georgia"/>
                    <a:cs typeface="Georgia"/>
                  </a:rPr>
                  <a:t>InSe</a:t>
                </a:r>
                <a:r>
                  <a:rPr sz="600" spc="229" dirty="0">
                    <a:latin typeface="Georgia"/>
                    <a:cs typeface="Georgia"/>
                  </a:rPr>
                  <a:t> </a:t>
                </a:r>
                <a:r>
                  <a:rPr sz="600" spc="45" dirty="0">
                    <a:latin typeface="Georgia"/>
                    <a:cs typeface="Georgia"/>
                  </a:rPr>
                  <a:t>Synap-</a:t>
                </a:r>
                <a:r>
                  <a:rPr sz="600" spc="500" dirty="0">
                    <a:latin typeface="Georgia"/>
                    <a:cs typeface="Georgia"/>
                  </a:rPr>
                  <a:t> </a:t>
                </a:r>
                <a:r>
                  <a:rPr sz="600" spc="50" dirty="0">
                    <a:latin typeface="Georgia"/>
                    <a:cs typeface="Georgia"/>
                  </a:rPr>
                  <a:t>tic</a:t>
                </a:r>
                <a:r>
                  <a:rPr sz="600" spc="55" dirty="0">
                    <a:latin typeface="Georgia"/>
                    <a:cs typeface="Georgia"/>
                  </a:rPr>
                  <a:t> </a:t>
                </a:r>
                <a:r>
                  <a:rPr sz="600" spc="-10" dirty="0">
                    <a:latin typeface="Georgia"/>
                    <a:cs typeface="Georgia"/>
                  </a:rPr>
                  <a:t>Sensor</a:t>
                </a:r>
                <a:endParaRPr sz="600" dirty="0">
                  <a:latin typeface="Georgia"/>
                  <a:cs typeface="Georgia"/>
                </a:endParaRPr>
              </a:p>
              <a:p>
                <a:pPr algn="ctr">
                  <a:lnSpc>
                    <a:spcPts val="675"/>
                  </a:lnSpc>
                </a:pPr>
                <a:r>
                  <a:rPr sz="600" spc="60" dirty="0">
                    <a:latin typeface="Georgia"/>
                    <a:cs typeface="Georgia"/>
                  </a:rPr>
                  <a:t>(</a:t>
                </a:r>
                <a:r>
                  <a:rPr sz="600" spc="30" dirty="0">
                    <a:latin typeface="Microsoft YaHei"/>
                    <a:cs typeface="Microsoft YaHei"/>
                  </a:rPr>
                  <a:t>感知 </a:t>
                </a:r>
                <a:r>
                  <a:rPr sz="600" spc="110" dirty="0">
                    <a:latin typeface="Georgia"/>
                    <a:cs typeface="Georgia"/>
                  </a:rPr>
                  <a:t>+ </a:t>
                </a:r>
                <a:r>
                  <a:rPr sz="600" spc="40" dirty="0">
                    <a:latin typeface="Microsoft YaHei"/>
                    <a:cs typeface="Microsoft YaHei"/>
                  </a:rPr>
                  <a:t>预处理</a:t>
                </a:r>
                <a:r>
                  <a:rPr sz="600" spc="10" dirty="0">
                    <a:latin typeface="Georgia"/>
                    <a:cs typeface="Georgia"/>
                  </a:rPr>
                  <a:t>)</a:t>
                </a:r>
                <a:endParaRPr sz="600" dirty="0">
                  <a:latin typeface="Georgia"/>
                  <a:cs typeface="Georgia"/>
                </a:endParaRPr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ED26077F-CD17-A190-3530-45B1C505CE0B}"/>
                </a:ext>
              </a:extLst>
            </p:cNvPr>
            <p:cNvGrpSpPr/>
            <p:nvPr/>
          </p:nvGrpSpPr>
          <p:grpSpPr>
            <a:xfrm>
              <a:off x="3495257" y="1404675"/>
              <a:ext cx="885190" cy="268182"/>
              <a:chOff x="2238122" y="2299744"/>
              <a:chExt cx="885190" cy="268182"/>
            </a:xfrm>
          </p:grpSpPr>
          <p:grpSp>
            <p:nvGrpSpPr>
              <p:cNvPr id="39" name="object 39"/>
              <p:cNvGrpSpPr/>
              <p:nvPr/>
            </p:nvGrpSpPr>
            <p:grpSpPr>
              <a:xfrm>
                <a:off x="2238122" y="2299744"/>
                <a:ext cx="885190" cy="268182"/>
                <a:chOff x="2559844" y="2029461"/>
                <a:chExt cx="885190" cy="268182"/>
              </a:xfrm>
            </p:grpSpPr>
            <p:sp>
              <p:nvSpPr>
                <p:cNvPr id="40" name="object 40"/>
                <p:cNvSpPr/>
                <p:nvPr/>
              </p:nvSpPr>
              <p:spPr>
                <a:xfrm>
                  <a:off x="2559844" y="2034118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2559844" y="2029461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2" name="object 42"/>
              <p:cNvSpPr txBox="1"/>
              <p:nvPr/>
            </p:nvSpPr>
            <p:spPr>
              <a:xfrm>
                <a:off x="2276024" y="2320601"/>
                <a:ext cx="808990" cy="205104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60655" marR="5080" indent="-148590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spc="45" dirty="0">
                    <a:latin typeface="Georgia"/>
                    <a:cs typeface="Georgia"/>
                  </a:rPr>
                  <a:t>Eﬀicient</a:t>
                </a:r>
                <a:r>
                  <a:rPr sz="600" spc="140" dirty="0">
                    <a:latin typeface="Georgia"/>
                    <a:cs typeface="Georgia"/>
                  </a:rPr>
                  <a:t> </a:t>
                </a:r>
                <a:r>
                  <a:rPr sz="600" spc="50" dirty="0">
                    <a:latin typeface="Georgia"/>
                    <a:cs typeface="Georgia"/>
                  </a:rPr>
                  <a:t>Algorithm</a:t>
                </a:r>
                <a:r>
                  <a:rPr sz="600" spc="65" dirty="0">
                    <a:latin typeface="Georgia"/>
                    <a:cs typeface="Georgia"/>
                  </a:rPr>
                  <a:t> (YOLOv8n)</a:t>
                </a:r>
                <a:endParaRPr sz="600" dirty="0">
                  <a:latin typeface="Georgia"/>
                  <a:cs typeface="Georgia"/>
                </a:endParaRPr>
              </a:p>
            </p:txBody>
          </p:sp>
        </p:grpSp>
        <p:grpSp>
          <p:nvGrpSpPr>
            <p:cNvPr id="43" name="object 43"/>
            <p:cNvGrpSpPr/>
            <p:nvPr/>
          </p:nvGrpSpPr>
          <p:grpSpPr>
            <a:xfrm rot="16200000">
              <a:off x="3222706" y="1300843"/>
              <a:ext cx="74295" cy="470807"/>
              <a:chOff x="2965270" y="1558654"/>
              <a:chExt cx="74295" cy="470807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3002216" y="1558654"/>
                <a:ext cx="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h="424814">
                    <a:moveTo>
                      <a:pt x="0" y="0"/>
                    </a:moveTo>
                    <a:lnTo>
                      <a:pt x="0" y="424221"/>
                    </a:lnTo>
                  </a:path>
                </a:pathLst>
              </a:custGeom>
              <a:ln w="18979">
                <a:solidFill>
                  <a:srgbClr val="701A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2965270" y="1955166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46" name="object 46"/>
          <p:cNvSpPr txBox="1"/>
          <p:nvPr/>
        </p:nvSpPr>
        <p:spPr>
          <a:xfrm>
            <a:off x="2344844" y="1239377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Microsoft YaHei"/>
                <a:cs typeface="Microsoft YaHei"/>
              </a:rPr>
              <a:t>自适应调控</a:t>
            </a:r>
            <a:endParaRPr sz="600" dirty="0">
              <a:latin typeface="Microsoft YaHei"/>
              <a:cs typeface="Microsoft YaHe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73202" y="1249938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Microsoft YaHei"/>
                <a:cs typeface="Microsoft YaHei"/>
              </a:rPr>
              <a:t>低冗余输入</a:t>
            </a:r>
            <a:endParaRPr sz="600" dirty="0">
              <a:latin typeface="Microsoft YaHei"/>
              <a:cs typeface="Microsoft YaHe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89026" y="1223809"/>
            <a:ext cx="0" cy="1440180"/>
          </a:xfrm>
          <a:custGeom>
            <a:avLst/>
            <a:gdLst/>
            <a:ahLst/>
            <a:cxnLst/>
            <a:rect l="l" t="t" r="r" b="b"/>
            <a:pathLst>
              <a:path h="1440180">
                <a:moveTo>
                  <a:pt x="0" y="0"/>
                </a:moveTo>
                <a:lnTo>
                  <a:pt x="0" y="1440017"/>
                </a:lnTo>
              </a:path>
            </a:pathLst>
          </a:custGeom>
          <a:ln w="5060">
            <a:solidFill>
              <a:srgbClr val="D8D8D8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0">
            <a:extLst>
              <a:ext uri="{FF2B5EF4-FFF2-40B4-BE49-F238E27FC236}">
                <a16:creationId xmlns:a16="http://schemas.microsoft.com/office/drawing/2014/main" id="{FE3921BA-FE00-4700-DF6C-25A33D7E7A1D}"/>
              </a:ext>
            </a:extLst>
          </p:cNvPr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利用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二维材料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（</a:t>
            </a:r>
            <a:r>
              <a:rPr lang="en-US" altLang="zh-CN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InSe 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）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光电特性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，通过模仿人眼视网膜细胞的电位工作机制，实现了类似人眼的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视觉适应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功能，以传感器对光强的自主适应代替</a:t>
            </a:r>
            <a:r>
              <a:rPr lang="en-US" altLang="zh-CN" sz="9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还原图像的计算。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6F46238-BE49-CE46-5AFA-AF80CFFF4C49}"/>
              </a:ext>
            </a:extLst>
          </p:cNvPr>
          <p:cNvSpPr txBox="1"/>
          <p:nvPr/>
        </p:nvSpPr>
        <p:spPr>
          <a:xfrm>
            <a:off x="108952" y="954303"/>
            <a:ext cx="19442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视觉适应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根据环境光照的强弱，调整视网膜对光的敏感度。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BD06BEF1-1DEE-49B2-48DE-8C3B6C4E80AA}"/>
              </a:ext>
            </a:extLst>
          </p:cNvPr>
          <p:cNvGrpSpPr/>
          <p:nvPr/>
        </p:nvGrpSpPr>
        <p:grpSpPr>
          <a:xfrm>
            <a:off x="2181577" y="2267407"/>
            <a:ext cx="2281283" cy="944068"/>
            <a:chOff x="2195715" y="2125529"/>
            <a:chExt cx="2281283" cy="1008112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952F2AF9-9E9B-F7EC-5969-AA85F74615D3}"/>
                </a:ext>
              </a:extLst>
            </p:cNvPr>
            <p:cNvGrpSpPr/>
            <p:nvPr/>
          </p:nvGrpSpPr>
          <p:grpSpPr>
            <a:xfrm>
              <a:off x="2195715" y="2262261"/>
              <a:ext cx="2262557" cy="613629"/>
              <a:chOff x="2141648" y="2136803"/>
              <a:chExt cx="2262557" cy="613629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F415E36B-C398-0BBB-72F2-7800E2BDAE6F}"/>
                  </a:ext>
                </a:extLst>
              </p:cNvPr>
              <p:cNvGrpSpPr/>
              <p:nvPr/>
            </p:nvGrpSpPr>
            <p:grpSpPr>
              <a:xfrm>
                <a:off x="2558936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74" name="object 37">
                  <a:extLst>
                    <a:ext uri="{FF2B5EF4-FFF2-40B4-BE49-F238E27FC236}">
                      <a16:creationId xmlns:a16="http://schemas.microsoft.com/office/drawing/2014/main" id="{7FFAEC23-FBF1-0FB9-D5BA-4B282C7F84DE}"/>
                    </a:ext>
                  </a:extLst>
                </p:cNvPr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49E8A07-1D0F-1F00-E7A7-C07261F560AB}"/>
                    </a:ext>
                  </a:extLst>
                </p:cNvPr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光电突触</a:t>
                  </a:r>
                </a:p>
              </p:txBody>
            </p:sp>
          </p:grpSp>
          <p:grpSp>
            <p:nvGrpSpPr>
              <p:cNvPr id="82" name="object 43">
                <a:extLst>
                  <a:ext uri="{FF2B5EF4-FFF2-40B4-BE49-F238E27FC236}">
                    <a16:creationId xmlns:a16="http://schemas.microsoft.com/office/drawing/2014/main" id="{879298E3-42D6-B31C-7DCC-4D023B320625}"/>
                  </a:ext>
                </a:extLst>
              </p:cNvPr>
              <p:cNvGrpSpPr/>
              <p:nvPr/>
            </p:nvGrpSpPr>
            <p:grpSpPr>
              <a:xfrm rot="16200000">
                <a:off x="3268334" y="2512488"/>
                <a:ext cx="78537" cy="283327"/>
                <a:chOff x="2965270" y="1558654"/>
                <a:chExt cx="74295" cy="470807"/>
              </a:xfrm>
            </p:grpSpPr>
            <p:sp>
              <p:nvSpPr>
                <p:cNvPr id="83" name="object 44">
                  <a:extLst>
                    <a:ext uri="{FF2B5EF4-FFF2-40B4-BE49-F238E27FC236}">
                      <a16:creationId xmlns:a16="http://schemas.microsoft.com/office/drawing/2014/main" id="{3E7F40AC-213C-B38E-F129-9FBC7B5A1921}"/>
                    </a:ext>
                  </a:extLst>
                </p:cNvPr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4" name="object 45">
                  <a:extLst>
                    <a:ext uri="{FF2B5EF4-FFF2-40B4-BE49-F238E27FC236}">
                      <a16:creationId xmlns:a16="http://schemas.microsoft.com/office/drawing/2014/main" id="{7D74F33E-7F61-3D72-C718-DEF6A3D2F09A}"/>
                    </a:ext>
                  </a:extLst>
                </p:cNvPr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581F9E82-CE98-EAF5-F6F6-146D0929A18E}"/>
                  </a:ext>
                </a:extLst>
              </p:cNvPr>
              <p:cNvGrpSpPr/>
              <p:nvPr/>
            </p:nvGrpSpPr>
            <p:grpSpPr>
              <a:xfrm>
                <a:off x="3453169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86" name="object 37">
                  <a:extLst>
                    <a:ext uri="{FF2B5EF4-FFF2-40B4-BE49-F238E27FC236}">
                      <a16:creationId xmlns:a16="http://schemas.microsoft.com/office/drawing/2014/main" id="{3FEB4720-7EF5-B17A-48E4-47CC63929A77}"/>
                    </a:ext>
                  </a:extLst>
                </p:cNvPr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A101915C-0D92-8C60-16B3-438736A01260}"/>
                    </a:ext>
                  </a:extLst>
                </p:cNvPr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 电信号</a:t>
                  </a:r>
                </a:p>
              </p:txBody>
            </p:sp>
          </p:grp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F1FCC90E-1D60-3EDA-2E91-C546FA2347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33314" y="2306439"/>
                <a:ext cx="925623" cy="0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7E9D8C64-C47E-8B2E-C72F-0179C36D8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3314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C832584C-6B8A-D995-F05C-48B228BC0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8937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99" name="object 45">
                <a:extLst>
                  <a:ext uri="{FF2B5EF4-FFF2-40B4-BE49-F238E27FC236}">
                    <a16:creationId xmlns:a16="http://schemas.microsoft.com/office/drawing/2014/main" id="{30A3B603-E503-82F3-9DFA-E8BC3DF49F9C}"/>
                  </a:ext>
                </a:extLst>
              </p:cNvPr>
              <p:cNvSpPr/>
              <p:nvPr/>
            </p:nvSpPr>
            <p:spPr>
              <a:xfrm>
                <a:off x="2796166" y="2469389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2B38A52-B46B-A5CC-BA43-DDEBADA793FE}"/>
                  </a:ext>
                </a:extLst>
              </p:cNvPr>
              <p:cNvSpPr txBox="1"/>
              <p:nvPr/>
            </p:nvSpPr>
            <p:spPr>
              <a:xfrm>
                <a:off x="2953121" y="2136803"/>
                <a:ext cx="64807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调节阈值电位</a:t>
                </a:r>
              </a:p>
            </p:txBody>
          </p:sp>
          <p:grpSp>
            <p:nvGrpSpPr>
              <p:cNvPr id="102" name="object 43">
                <a:extLst>
                  <a:ext uri="{FF2B5EF4-FFF2-40B4-BE49-F238E27FC236}">
                    <a16:creationId xmlns:a16="http://schemas.microsoft.com/office/drawing/2014/main" id="{5A6567E9-3D8F-42C6-8FB6-27A0F29CEC44}"/>
                  </a:ext>
                </a:extLst>
              </p:cNvPr>
              <p:cNvGrpSpPr/>
              <p:nvPr/>
            </p:nvGrpSpPr>
            <p:grpSpPr>
              <a:xfrm rot="16200000">
                <a:off x="4162567" y="2524711"/>
                <a:ext cx="78537" cy="283327"/>
                <a:chOff x="2965270" y="1558654"/>
                <a:chExt cx="74295" cy="470807"/>
              </a:xfrm>
            </p:grpSpPr>
            <p:sp>
              <p:nvSpPr>
                <p:cNvPr id="103" name="object 44">
                  <a:extLst>
                    <a:ext uri="{FF2B5EF4-FFF2-40B4-BE49-F238E27FC236}">
                      <a16:creationId xmlns:a16="http://schemas.microsoft.com/office/drawing/2014/main" id="{7DA19702-656F-57D5-C101-25B7A16FF842}"/>
                    </a:ext>
                  </a:extLst>
                </p:cNvPr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4" name="object 45">
                  <a:extLst>
                    <a:ext uri="{FF2B5EF4-FFF2-40B4-BE49-F238E27FC236}">
                      <a16:creationId xmlns:a16="http://schemas.microsoft.com/office/drawing/2014/main" id="{353BB23D-5ECF-AA1C-C4C5-C8D491AA241C}"/>
                    </a:ext>
                  </a:extLst>
                </p:cNvPr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6EC0A06-A6C6-D9A4-A44F-4446FB6725B3}"/>
                  </a:ext>
                </a:extLst>
              </p:cNvPr>
              <p:cNvSpPr txBox="1"/>
              <p:nvPr/>
            </p:nvSpPr>
            <p:spPr>
              <a:xfrm>
                <a:off x="4031627" y="2506536"/>
                <a:ext cx="37257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输出</a:t>
                </a:r>
              </a:p>
            </p:txBody>
          </p:sp>
          <p:grpSp>
            <p:nvGrpSpPr>
              <p:cNvPr id="106" name="object 43">
                <a:extLst>
                  <a:ext uri="{FF2B5EF4-FFF2-40B4-BE49-F238E27FC236}">
                    <a16:creationId xmlns:a16="http://schemas.microsoft.com/office/drawing/2014/main" id="{8E18C6F8-C148-83A4-D19A-6C4B8F2FF3A5}"/>
                  </a:ext>
                </a:extLst>
              </p:cNvPr>
              <p:cNvGrpSpPr/>
              <p:nvPr/>
            </p:nvGrpSpPr>
            <p:grpSpPr>
              <a:xfrm rot="16200000">
                <a:off x="2410188" y="2541481"/>
                <a:ext cx="71443" cy="218245"/>
                <a:chOff x="2965270" y="1558654"/>
                <a:chExt cx="74295" cy="470807"/>
              </a:xfrm>
            </p:grpSpPr>
            <p:sp>
              <p:nvSpPr>
                <p:cNvPr id="107" name="object 44">
                  <a:extLst>
                    <a:ext uri="{FF2B5EF4-FFF2-40B4-BE49-F238E27FC236}">
                      <a16:creationId xmlns:a16="http://schemas.microsoft.com/office/drawing/2014/main" id="{FFAED56B-067D-B85E-C9B0-E4AB55C84EE3}"/>
                    </a:ext>
                  </a:extLst>
                </p:cNvPr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8" name="object 45">
                  <a:extLst>
                    <a:ext uri="{FF2B5EF4-FFF2-40B4-BE49-F238E27FC236}">
                      <a16:creationId xmlns:a16="http://schemas.microsoft.com/office/drawing/2014/main" id="{843E53B5-F5EB-8F2E-8633-12CC0604933C}"/>
                    </a:ext>
                  </a:extLst>
                </p:cNvPr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FBC05A3A-541A-8E4A-676A-F46C6D73BFBC}"/>
                  </a:ext>
                </a:extLst>
              </p:cNvPr>
              <p:cNvSpPr txBox="1"/>
              <p:nvPr/>
            </p:nvSpPr>
            <p:spPr>
              <a:xfrm>
                <a:off x="2141648" y="2465540"/>
                <a:ext cx="45577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光输入</a:t>
                </a:r>
              </a:p>
            </p:txBody>
          </p:sp>
        </p:grp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7FD5DBA6-D620-E1A5-C60A-1567312E7E96}"/>
                </a:ext>
              </a:extLst>
            </p:cNvPr>
            <p:cNvSpPr/>
            <p:nvPr/>
          </p:nvSpPr>
          <p:spPr>
            <a:xfrm>
              <a:off x="2207423" y="2125529"/>
              <a:ext cx="2269575" cy="1008112"/>
            </a:xfrm>
            <a:prstGeom prst="rect">
              <a:avLst/>
            </a:prstGeom>
            <a:noFill/>
            <a:ln w="6350" cap="flat" cmpd="sng" algn="ctr">
              <a:solidFill>
                <a:schemeClr val="accent4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EAFEA0F2-0A98-5CF0-11A2-EA5A41A02E38}"/>
              </a:ext>
            </a:extLst>
          </p:cNvPr>
          <p:cNvCxnSpPr>
            <a:cxnSpLocks/>
          </p:cNvCxnSpPr>
          <p:nvPr/>
        </p:nvCxnSpPr>
        <p:spPr>
          <a:xfrm>
            <a:off x="2672520" y="1916722"/>
            <a:ext cx="475739" cy="341914"/>
          </a:xfrm>
          <a:prstGeom prst="line">
            <a:avLst/>
          </a:prstGeom>
          <a:ln w="6350">
            <a:solidFill>
              <a:srgbClr val="701A5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1183E8EB-D413-97E5-17ED-3466DA7F0211}"/>
              </a:ext>
            </a:extLst>
          </p:cNvPr>
          <p:cNvGrpSpPr/>
          <p:nvPr/>
        </p:nvGrpSpPr>
        <p:grpSpPr>
          <a:xfrm>
            <a:off x="136304" y="1427968"/>
            <a:ext cx="1779883" cy="1897237"/>
            <a:chOff x="53326" y="1525925"/>
            <a:chExt cx="1779883" cy="1897237"/>
          </a:xfrm>
        </p:grpSpPr>
        <p:sp>
          <p:nvSpPr>
            <p:cNvPr id="50" name="object 50"/>
            <p:cNvSpPr txBox="1"/>
            <p:nvPr/>
          </p:nvSpPr>
          <p:spPr>
            <a:xfrm>
              <a:off x="151828" y="2485574"/>
              <a:ext cx="506095" cy="167005"/>
            </a:xfrm>
            <a:prstGeom prst="rect">
              <a:avLst/>
            </a:prstGeom>
          </p:spPr>
          <p:txBody>
            <a:bodyPr vert="horz" wrap="square" lIns="0" tIns="698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55"/>
                </a:spcBef>
              </a:pPr>
              <a:r>
                <a:rPr sz="1000" b="1" spc="-10" dirty="0">
                  <a:solidFill>
                    <a:srgbClr val="FFFFFF"/>
                  </a:solidFill>
                  <a:latin typeface="Microsoft YaHei"/>
                  <a:cs typeface="Microsoft YaHei"/>
                </a:rPr>
                <a:t>核心逻辑</a:t>
              </a:r>
              <a:endParaRPr sz="1000">
                <a:latin typeface="Microsoft YaHei"/>
                <a:cs typeface="Microsoft YaHei"/>
              </a:endParaRPr>
            </a:p>
          </p:txBody>
        </p:sp>
        <p:pic>
          <p:nvPicPr>
            <p:cNvPr id="124" name="图片 123">
              <a:extLst>
                <a:ext uri="{FF2B5EF4-FFF2-40B4-BE49-F238E27FC236}">
                  <a16:creationId xmlns:a16="http://schemas.microsoft.com/office/drawing/2014/main" id="{7FFE5795-8F2D-D967-BF8D-26A626FCA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2" t="3277"/>
            <a:stretch>
              <a:fillRect/>
            </a:stretch>
          </p:blipFill>
          <p:spPr>
            <a:xfrm>
              <a:off x="53326" y="1525925"/>
              <a:ext cx="1779883" cy="939089"/>
            </a:xfrm>
            <a:prstGeom prst="rect">
              <a:avLst/>
            </a:prstGeom>
          </p:spPr>
        </p:pic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126ACA0D-13E5-D20F-2D47-811614D0C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48" y="2517035"/>
              <a:ext cx="1662320" cy="906127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：InSe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突触的光电特性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55F443B-2BD8-3107-6366-0D9ECA82DBBB}"/>
              </a:ext>
            </a:extLst>
          </p:cNvPr>
          <p:cNvGrpSpPr/>
          <p:nvPr/>
        </p:nvGrpSpPr>
        <p:grpSpPr>
          <a:xfrm>
            <a:off x="1695459" y="615717"/>
            <a:ext cx="1057805" cy="517781"/>
            <a:chOff x="1800894" y="1270832"/>
            <a:chExt cx="1035563" cy="511510"/>
          </a:xfrm>
        </p:grpSpPr>
        <p:sp>
          <p:nvSpPr>
            <p:cNvPr id="57" name="object 13">
              <a:extLst>
                <a:ext uri="{FF2B5EF4-FFF2-40B4-BE49-F238E27FC236}">
                  <a16:creationId xmlns:a16="http://schemas.microsoft.com/office/drawing/2014/main" id="{E8D8E492-9430-B369-E343-B7EFBEF0BD35}"/>
                </a:ext>
              </a:extLst>
            </p:cNvPr>
            <p:cNvSpPr/>
            <p:nvPr/>
          </p:nvSpPr>
          <p:spPr>
            <a:xfrm>
              <a:off x="1837602" y="130355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>
              <a:extLst>
                <a:ext uri="{FF2B5EF4-FFF2-40B4-BE49-F238E27FC236}">
                  <a16:creationId xmlns:a16="http://schemas.microsoft.com/office/drawing/2014/main" id="{FEFB44F0-7BC7-E027-B467-A9F4745BFAAF}"/>
                </a:ext>
              </a:extLst>
            </p:cNvPr>
            <p:cNvSpPr/>
            <p:nvPr/>
          </p:nvSpPr>
          <p:spPr>
            <a:xfrm>
              <a:off x="1804882" y="127083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>
              <a:extLst>
                <a:ext uri="{FF2B5EF4-FFF2-40B4-BE49-F238E27FC236}">
                  <a16:creationId xmlns:a16="http://schemas.microsoft.com/office/drawing/2014/main" id="{4172A9CA-C1F2-86EB-5735-E13B5F448C73}"/>
                </a:ext>
              </a:extLst>
            </p:cNvPr>
            <p:cNvSpPr/>
            <p:nvPr/>
          </p:nvSpPr>
          <p:spPr>
            <a:xfrm>
              <a:off x="1804882" y="127083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ln w="10122">
              <a:solidFill>
                <a:srgbClr val="701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>
              <a:extLst>
                <a:ext uri="{FF2B5EF4-FFF2-40B4-BE49-F238E27FC236}">
                  <a16:creationId xmlns:a16="http://schemas.microsoft.com/office/drawing/2014/main" id="{77E93805-EB37-ACEA-3965-891AEC2DEE59}"/>
                </a:ext>
              </a:extLst>
            </p:cNvPr>
            <p:cNvSpPr txBox="1"/>
            <p:nvPr/>
          </p:nvSpPr>
          <p:spPr>
            <a:xfrm>
              <a:off x="1800894" y="1284584"/>
              <a:ext cx="980827" cy="450764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0" dirty="0">
                  <a:solidFill>
                    <a:schemeClr val="tx1"/>
                  </a:solidFill>
                  <a:latin typeface="Microsoft YaHei"/>
                  <a:cs typeface="Microsoft YaHei"/>
                </a:rPr>
                <a:t>功能层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Microsoft YaHei"/>
                </a:rPr>
                <a:t>软硬协同设计与感内计算架构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1B5DB0A-FD1F-D9DB-6B7E-EB68B5BFF67D}"/>
              </a:ext>
            </a:extLst>
          </p:cNvPr>
          <p:cNvGrpSpPr/>
          <p:nvPr/>
        </p:nvGrpSpPr>
        <p:grpSpPr>
          <a:xfrm>
            <a:off x="2919924" y="611271"/>
            <a:ext cx="1109528" cy="493057"/>
            <a:chOff x="3022938" y="1233542"/>
            <a:chExt cx="1080120" cy="553085"/>
          </a:xfrm>
        </p:grpSpPr>
        <p:sp>
          <p:nvSpPr>
            <p:cNvPr id="55" name="object 20">
              <a:extLst>
                <a:ext uri="{FF2B5EF4-FFF2-40B4-BE49-F238E27FC236}">
                  <a16:creationId xmlns:a16="http://schemas.microsoft.com/office/drawing/2014/main" id="{B109E451-0987-8055-E7EB-09059EA0A7E2}"/>
                </a:ext>
              </a:extLst>
            </p:cNvPr>
            <p:cNvSpPr/>
            <p:nvPr/>
          </p:nvSpPr>
          <p:spPr>
            <a:xfrm>
              <a:off x="3071483" y="1233542"/>
              <a:ext cx="998855" cy="553085"/>
            </a:xfrm>
            <a:custGeom>
              <a:avLst/>
              <a:gdLst/>
              <a:ahLst/>
              <a:cxnLst/>
              <a:rect l="l" t="t" r="r" b="b"/>
              <a:pathLst>
                <a:path w="998854" h="553085">
                  <a:moveTo>
                    <a:pt x="960337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514890"/>
                  </a:lnTo>
                  <a:lnTo>
                    <a:pt x="2982" y="529665"/>
                  </a:lnTo>
                  <a:lnTo>
                    <a:pt x="11117" y="541731"/>
                  </a:lnTo>
                  <a:lnTo>
                    <a:pt x="23182" y="549865"/>
                  </a:lnTo>
                  <a:lnTo>
                    <a:pt x="37958" y="552848"/>
                  </a:lnTo>
                  <a:lnTo>
                    <a:pt x="960337" y="552848"/>
                  </a:lnTo>
                  <a:lnTo>
                    <a:pt x="975112" y="549865"/>
                  </a:lnTo>
                  <a:lnTo>
                    <a:pt x="987177" y="541731"/>
                  </a:lnTo>
                  <a:lnTo>
                    <a:pt x="995312" y="529665"/>
                  </a:lnTo>
                  <a:lnTo>
                    <a:pt x="998295" y="51489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ln w="10122">
              <a:solidFill>
                <a:srgbClr val="701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1">
              <a:extLst>
                <a:ext uri="{FF2B5EF4-FFF2-40B4-BE49-F238E27FC236}">
                  <a16:creationId xmlns:a16="http://schemas.microsoft.com/office/drawing/2014/main" id="{DAF7A4D7-CDB1-9118-57F8-E491A549E4CE}"/>
                </a:ext>
              </a:extLst>
            </p:cNvPr>
            <p:cNvSpPr txBox="1"/>
            <p:nvPr/>
          </p:nvSpPr>
          <p:spPr>
            <a:xfrm>
              <a:off x="3022938" y="1250493"/>
              <a:ext cx="1080120" cy="327654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marL="69215"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5" dirty="0">
                  <a:solidFill>
                    <a:schemeClr val="tx1"/>
                  </a:solidFill>
                  <a:latin typeface="Microsoft YaHei"/>
                  <a:cs typeface="Microsoft YaHei"/>
                </a:rPr>
                <a:t>应用层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Microsoft YaHei"/>
                  <a:cs typeface="Microsoft YaHei"/>
                </a:rPr>
                <a:t>目标检测与轻量化演示</a:t>
              </a:r>
              <a:endParaRPr lang="zh-CN" altLang="en-US" sz="800" dirty="0">
                <a:latin typeface="Microsoft YaHei"/>
                <a:cs typeface="Microsoft YaHei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710678-4843-8DF2-F3FB-EFB0A09F7271}"/>
              </a:ext>
            </a:extLst>
          </p:cNvPr>
          <p:cNvGrpSpPr/>
          <p:nvPr/>
        </p:nvGrpSpPr>
        <p:grpSpPr>
          <a:xfrm>
            <a:off x="1435690" y="832048"/>
            <a:ext cx="237758" cy="45720"/>
            <a:chOff x="1435690" y="832048"/>
            <a:chExt cx="237758" cy="45720"/>
          </a:xfrm>
        </p:grpSpPr>
        <p:sp>
          <p:nvSpPr>
            <p:cNvPr id="47" name="object 23">
              <a:extLst>
                <a:ext uri="{FF2B5EF4-FFF2-40B4-BE49-F238E27FC236}">
                  <a16:creationId xmlns:a16="http://schemas.microsoft.com/office/drawing/2014/main" id="{56880482-2C22-E0E5-9B0C-9E297435D7AD}"/>
                </a:ext>
              </a:extLst>
            </p:cNvPr>
            <p:cNvSpPr/>
            <p:nvPr/>
          </p:nvSpPr>
          <p:spPr>
            <a:xfrm>
              <a:off x="1435690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4">
              <a:extLst>
                <a:ext uri="{FF2B5EF4-FFF2-40B4-BE49-F238E27FC236}">
                  <a16:creationId xmlns:a16="http://schemas.microsoft.com/office/drawing/2014/main" id="{20EDA6B4-5E9E-2E20-42D0-404DDFCFED7E}"/>
                </a:ext>
              </a:extLst>
            </p:cNvPr>
            <p:cNvSpPr/>
            <p:nvPr/>
          </p:nvSpPr>
          <p:spPr>
            <a:xfrm>
              <a:off x="1613123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>
              <a:extLst>
                <a:ext uri="{FF2B5EF4-FFF2-40B4-BE49-F238E27FC236}">
                  <a16:creationId xmlns:a16="http://schemas.microsoft.com/office/drawing/2014/main" id="{B103D031-53C3-BB90-7C26-3A818078860B}"/>
                </a:ext>
              </a:extLst>
            </p:cNvPr>
            <p:cNvSpPr/>
            <p:nvPr/>
          </p:nvSpPr>
          <p:spPr>
            <a:xfrm>
              <a:off x="1613123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26">
            <a:extLst>
              <a:ext uri="{FF2B5EF4-FFF2-40B4-BE49-F238E27FC236}">
                <a16:creationId xmlns:a16="http://schemas.microsoft.com/office/drawing/2014/main" id="{0B787A8E-6E4C-3FA0-C189-42229C75A2D2}"/>
              </a:ext>
            </a:extLst>
          </p:cNvPr>
          <p:cNvSpPr/>
          <p:nvPr/>
        </p:nvSpPr>
        <p:spPr>
          <a:xfrm>
            <a:off x="2702290" y="854852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703" y="0"/>
                </a:lnTo>
              </a:path>
            </a:pathLst>
          </a:custGeom>
          <a:ln w="15183">
            <a:solidFill>
              <a:srgbClr val="9B5E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7">
            <a:extLst>
              <a:ext uri="{FF2B5EF4-FFF2-40B4-BE49-F238E27FC236}">
                <a16:creationId xmlns:a16="http://schemas.microsoft.com/office/drawing/2014/main" id="{3A2A041E-88FE-03C8-A1FE-FBE051538DD9}"/>
              </a:ext>
            </a:extLst>
          </p:cNvPr>
          <p:cNvSpPr/>
          <p:nvPr/>
        </p:nvSpPr>
        <p:spPr>
          <a:xfrm>
            <a:off x="2879719" y="832048"/>
            <a:ext cx="60325" cy="45720"/>
          </a:xfrm>
          <a:custGeom>
            <a:avLst/>
            <a:gdLst/>
            <a:ahLst/>
            <a:cxnLst/>
            <a:rect l="l" t="t" r="r" b="b"/>
            <a:pathLst>
              <a:path w="60325" h="45719">
                <a:moveTo>
                  <a:pt x="0" y="0"/>
                </a:moveTo>
                <a:lnTo>
                  <a:pt x="20070" y="22803"/>
                </a:lnTo>
                <a:lnTo>
                  <a:pt x="0" y="45607"/>
                </a:lnTo>
                <a:lnTo>
                  <a:pt x="60145" y="22803"/>
                </a:lnTo>
                <a:lnTo>
                  <a:pt x="0" y="0"/>
                </a:lnTo>
                <a:close/>
              </a:path>
            </a:pathLst>
          </a:custGeom>
          <a:solidFill>
            <a:srgbClr val="9B5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8">
            <a:extLst>
              <a:ext uri="{FF2B5EF4-FFF2-40B4-BE49-F238E27FC236}">
                <a16:creationId xmlns:a16="http://schemas.microsoft.com/office/drawing/2014/main" id="{877AD934-F589-419F-0A8D-76E6BB350B49}"/>
              </a:ext>
            </a:extLst>
          </p:cNvPr>
          <p:cNvSpPr/>
          <p:nvPr/>
        </p:nvSpPr>
        <p:spPr>
          <a:xfrm>
            <a:off x="2879719" y="832048"/>
            <a:ext cx="60325" cy="45720"/>
          </a:xfrm>
          <a:custGeom>
            <a:avLst/>
            <a:gdLst/>
            <a:ahLst/>
            <a:cxnLst/>
            <a:rect l="l" t="t" r="r" b="b"/>
            <a:pathLst>
              <a:path w="60325" h="45719">
                <a:moveTo>
                  <a:pt x="60145" y="22803"/>
                </a:moveTo>
                <a:lnTo>
                  <a:pt x="0" y="0"/>
                </a:lnTo>
                <a:lnTo>
                  <a:pt x="20070" y="22803"/>
                </a:lnTo>
                <a:lnTo>
                  <a:pt x="0" y="45607"/>
                </a:lnTo>
                <a:lnTo>
                  <a:pt x="60145" y="22803"/>
                </a:lnTo>
                <a:close/>
              </a:path>
            </a:pathLst>
          </a:custGeom>
          <a:ln w="15183">
            <a:solidFill>
              <a:srgbClr val="9B5E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F22789CB-D188-BD42-2899-BBC173A625EA}"/>
              </a:ext>
            </a:extLst>
          </p:cNvPr>
          <p:cNvGrpSpPr/>
          <p:nvPr/>
        </p:nvGrpSpPr>
        <p:grpSpPr>
          <a:xfrm>
            <a:off x="-26676" y="1153559"/>
            <a:ext cx="1433169" cy="2104705"/>
            <a:chOff x="-657049" y="684290"/>
            <a:chExt cx="2430879" cy="4015416"/>
          </a:xfrm>
        </p:grpSpPr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D5F69B6F-FA78-04B4-0B9B-5B39C979B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28" t="39835"/>
            <a:stretch>
              <a:fillRect/>
            </a:stretch>
          </p:blipFill>
          <p:spPr>
            <a:xfrm>
              <a:off x="-657049" y="2951246"/>
              <a:ext cx="2360397" cy="1748460"/>
            </a:xfrm>
            <a:prstGeom prst="rect">
              <a:avLst/>
            </a:prstGeom>
          </p:spPr>
        </p:pic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745A9959-D870-0AF8-D476-00CA667FB80F}"/>
                </a:ext>
              </a:extLst>
            </p:cNvPr>
            <p:cNvGrpSpPr/>
            <p:nvPr/>
          </p:nvGrpSpPr>
          <p:grpSpPr>
            <a:xfrm>
              <a:off x="-631043" y="684290"/>
              <a:ext cx="2404873" cy="2143901"/>
              <a:chOff x="-104121" y="571461"/>
              <a:chExt cx="1974537" cy="1916591"/>
            </a:xfrm>
          </p:grpSpPr>
          <p:pic>
            <p:nvPicPr>
              <p:cNvPr id="64" name="object 10">
                <a:extLst>
                  <a:ext uri="{FF2B5EF4-FFF2-40B4-BE49-F238E27FC236}">
                    <a16:creationId xmlns:a16="http://schemas.microsoft.com/office/drawing/2014/main" id="{D36B8421-C86B-81C5-05B2-33C574A1EC39}"/>
                  </a:ext>
                </a:extLst>
              </p:cNvPr>
              <p:cNvPicPr/>
              <p:nvPr/>
            </p:nvPicPr>
            <p:blipFill>
              <a:blip r:embed="rId4" cstate="print"/>
              <a:srcRect l="1077" t="13958" r="48836" b="15540"/>
              <a:stretch>
                <a:fillRect/>
              </a:stretch>
            </p:blipFill>
            <p:spPr>
              <a:xfrm>
                <a:off x="-104121" y="571461"/>
                <a:ext cx="1960521" cy="1916591"/>
              </a:xfrm>
              <a:prstGeom prst="rect">
                <a:avLst/>
              </a:prstGeom>
            </p:spPr>
          </p:pic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1776393C-1D79-3F8C-4D18-FEFCBEACD7D0}"/>
                  </a:ext>
                </a:extLst>
              </p:cNvPr>
              <p:cNvSpPr/>
              <p:nvPr/>
            </p:nvSpPr>
            <p:spPr>
              <a:xfrm>
                <a:off x="1824697" y="684999"/>
                <a:ext cx="45719" cy="1296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F4259448-42A2-C0FE-9762-418BDA5AE0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55" y="2443353"/>
            <a:ext cx="1465909" cy="8655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1F5F74-2869-572F-6FC1-8EC00BB967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069" y="2374391"/>
            <a:ext cx="1540080" cy="1003479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9E6C27E7-64C2-9329-FFAB-7B6242457C78}"/>
              </a:ext>
            </a:extLst>
          </p:cNvPr>
          <p:cNvSpPr/>
          <p:nvPr/>
        </p:nvSpPr>
        <p:spPr>
          <a:xfrm>
            <a:off x="351149" y="613876"/>
            <a:ext cx="1024243" cy="478790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硬件物理层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spc="-15" dirty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突触</a:t>
            </a:r>
            <a:r>
              <a:rPr kumimoji="0" lang="zh-CN" altLang="en-US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制备与光电验证</a:t>
            </a: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327FE64-60BB-5FA2-E7D9-2D566DE90BE8}"/>
              </a:ext>
            </a:extLst>
          </p:cNvPr>
          <p:cNvGrpSpPr/>
          <p:nvPr/>
        </p:nvGrpSpPr>
        <p:grpSpPr>
          <a:xfrm>
            <a:off x="1432961" y="1211167"/>
            <a:ext cx="2063907" cy="969655"/>
            <a:chOff x="302889" y="1140665"/>
            <a:chExt cx="2063907" cy="969655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F05FD62-A7FB-05A6-7FB0-09341F3E3861}"/>
                </a:ext>
              </a:extLst>
            </p:cNvPr>
            <p:cNvGrpSpPr/>
            <p:nvPr/>
          </p:nvGrpSpPr>
          <p:grpSpPr>
            <a:xfrm>
              <a:off x="302889" y="1415842"/>
              <a:ext cx="648072" cy="237111"/>
              <a:chOff x="1732955" y="1449519"/>
              <a:chExt cx="648072" cy="23711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C0CA1E11-3974-E290-0A11-AB0565F9C0C2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A0B6474-8F13-C41F-60AA-A1AA98888119}"/>
                  </a:ext>
                </a:extLst>
              </p:cNvPr>
              <p:cNvSpPr txBox="1"/>
              <p:nvPr/>
            </p:nvSpPr>
            <p:spPr>
              <a:xfrm>
                <a:off x="1780429" y="1472409"/>
                <a:ext cx="55312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高光电导</a:t>
                </a:r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275F33B-CD2E-1D70-4B72-1084CB7B29A0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950961" y="1534398"/>
              <a:ext cx="1070926" cy="108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014C5E1-F178-5CFB-729C-B870B7D7ECE6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934816" y="1942614"/>
              <a:ext cx="1087071" cy="131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5B1146C-AE3F-3C48-C463-6EBEA39D8398}"/>
                </a:ext>
              </a:extLst>
            </p:cNvPr>
            <p:cNvGrpSpPr/>
            <p:nvPr/>
          </p:nvGrpSpPr>
          <p:grpSpPr>
            <a:xfrm>
              <a:off x="302889" y="1804114"/>
              <a:ext cx="648072" cy="276999"/>
              <a:chOff x="1732955" y="1429574"/>
              <a:chExt cx="648072" cy="276999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9768AC0B-0C2D-560A-7506-EB4453986803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CA39A90-E0AA-EB1B-5A3A-3D41AF90894D}"/>
                  </a:ext>
                </a:extLst>
              </p:cNvPr>
              <p:cNvSpPr txBox="1"/>
              <p:nvPr/>
            </p:nvSpPr>
            <p:spPr>
              <a:xfrm>
                <a:off x="1764284" y="1429574"/>
                <a:ext cx="6005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缺陷诱导的电荷俘获</a:t>
                </a: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07A3DB3-EE34-FD6E-1D3A-845D0B000C1C}"/>
                </a:ext>
              </a:extLst>
            </p:cNvPr>
            <p:cNvGrpSpPr/>
            <p:nvPr/>
          </p:nvGrpSpPr>
          <p:grpSpPr>
            <a:xfrm>
              <a:off x="1487071" y="1833321"/>
              <a:ext cx="703393" cy="276999"/>
              <a:chOff x="1732955" y="1436761"/>
              <a:chExt cx="703393" cy="276999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16863D65-6568-CB3D-7B9C-B43C60252851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445B9EC-ABA5-703A-94B5-F82145DBCB6E}"/>
                  </a:ext>
                </a:extLst>
              </p:cNvPr>
              <p:cNvSpPr txBox="1"/>
              <p:nvPr/>
            </p:nvSpPr>
            <p:spPr>
              <a:xfrm>
                <a:off x="1758478" y="1436761"/>
                <a:ext cx="6778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短时程可塑性    （ </a:t>
                </a:r>
                <a:r>
                  <a:rPr lang="en-US" altLang="zh-CN" sz="600" dirty="0"/>
                  <a:t>STP</a:t>
                </a:r>
                <a:r>
                  <a:rPr lang="zh-CN" altLang="en-US" sz="600" dirty="0"/>
                  <a:t>）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3B11445-BB92-7869-A87E-05231D94D5A5}"/>
                </a:ext>
              </a:extLst>
            </p:cNvPr>
            <p:cNvGrpSpPr/>
            <p:nvPr/>
          </p:nvGrpSpPr>
          <p:grpSpPr>
            <a:xfrm>
              <a:off x="1071535" y="1478347"/>
              <a:ext cx="244640" cy="504056"/>
              <a:chOff x="1045745" y="1478346"/>
              <a:chExt cx="244640" cy="504056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E0FBC467-7789-D6DA-E554-615A2C43F98C}"/>
                  </a:ext>
                </a:extLst>
              </p:cNvPr>
              <p:cNvSpPr/>
              <p:nvPr/>
            </p:nvSpPr>
            <p:spPr>
              <a:xfrm>
                <a:off x="1074361" y="1478346"/>
                <a:ext cx="216024" cy="504056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3730E57-1C2A-30DC-22D1-1F6E7D089EB5}"/>
                  </a:ext>
                </a:extLst>
              </p:cNvPr>
              <p:cNvSpPr txBox="1"/>
              <p:nvPr/>
            </p:nvSpPr>
            <p:spPr>
              <a:xfrm>
                <a:off x="1045745" y="1572420"/>
                <a:ext cx="2160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/>
                  <a:t>对应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590EB1E-5922-0E20-2ED9-8E581AAEFA72}"/>
                </a:ext>
              </a:extLst>
            </p:cNvPr>
            <p:cNvGrpSpPr/>
            <p:nvPr/>
          </p:nvGrpSpPr>
          <p:grpSpPr>
            <a:xfrm>
              <a:off x="1472545" y="1402226"/>
              <a:ext cx="678560" cy="276999"/>
              <a:chOff x="1732955" y="1435903"/>
              <a:chExt cx="678560" cy="276999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E45F206A-7CF2-90FD-3503-61236375A4CA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CA4844-DFC5-74DC-1F71-37D3C4BACDE1}"/>
                  </a:ext>
                </a:extLst>
              </p:cNvPr>
              <p:cNvSpPr txBox="1"/>
              <p:nvPr/>
            </p:nvSpPr>
            <p:spPr>
              <a:xfrm>
                <a:off x="1733645" y="1435903"/>
                <a:ext cx="6778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兴奋性突触后电流（</a:t>
                </a:r>
                <a:r>
                  <a:rPr lang="en-US" altLang="zh-CN" sz="600" dirty="0"/>
                  <a:t>EPSC</a:t>
                </a:r>
                <a:r>
                  <a:rPr lang="zh-CN" altLang="en-US" sz="600" dirty="0"/>
                  <a:t>）</a:t>
                </a:r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C3B21FF-293E-5646-993B-8C33F524B30C}"/>
                </a:ext>
              </a:extLst>
            </p:cNvPr>
            <p:cNvSpPr txBox="1"/>
            <p:nvPr/>
          </p:nvSpPr>
          <p:spPr>
            <a:xfrm>
              <a:off x="329141" y="1140665"/>
              <a:ext cx="595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光电性质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87611C3-8C46-2106-4887-738E977EB995}"/>
                </a:ext>
              </a:extLst>
            </p:cNvPr>
            <p:cNvSpPr txBox="1"/>
            <p:nvPr/>
          </p:nvSpPr>
          <p:spPr>
            <a:xfrm>
              <a:off x="1497436" y="1140665"/>
              <a:ext cx="8693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神经功能</a:t>
              </a:r>
            </a:p>
          </p:txBody>
        </p: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E4A95AB9-097B-CE38-3084-32BDC5D2F7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" t="43191" r="67315" b="12213"/>
          <a:stretch>
            <a:fillRect/>
          </a:stretch>
        </p:blipFill>
        <p:spPr>
          <a:xfrm>
            <a:off x="3321027" y="1153559"/>
            <a:ext cx="1350858" cy="1101101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63253F37-35C3-7D9A-D1ED-A7567DBB0787}"/>
              </a:ext>
            </a:extLst>
          </p:cNvPr>
          <p:cNvSpPr txBox="1"/>
          <p:nvPr/>
        </p:nvSpPr>
        <p:spPr>
          <a:xfrm>
            <a:off x="215016" y="3198778"/>
            <a:ext cx="10081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/>
              <a:t>突触模型及响应特性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F707-1405-59A7-7E74-BADBED5A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02B2C7-BD26-41BF-3702-506B4FD6D9F7}"/>
              </a:ext>
            </a:extLst>
          </p:cNvPr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1C75935-D481-07C6-C741-166950010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感内计算算法实现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A357FEBC-C3DE-F1EA-1EFD-00D1F51C1A3D}"/>
              </a:ext>
            </a:extLst>
          </p:cNvPr>
          <p:cNvGrpSpPr/>
          <p:nvPr/>
        </p:nvGrpSpPr>
        <p:grpSpPr>
          <a:xfrm>
            <a:off x="36620" y="1275113"/>
            <a:ext cx="1355082" cy="2107157"/>
            <a:chOff x="2992340" y="1161661"/>
            <a:chExt cx="1355082" cy="2107157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A4B8413D-A7A2-7811-82B1-D24AC4C54598}"/>
                </a:ext>
              </a:extLst>
            </p:cNvPr>
            <p:cNvGrpSpPr/>
            <p:nvPr/>
          </p:nvGrpSpPr>
          <p:grpSpPr>
            <a:xfrm>
              <a:off x="2992340" y="1161661"/>
              <a:ext cx="1355082" cy="2107157"/>
              <a:chOff x="306742" y="1435141"/>
              <a:chExt cx="1355082" cy="2147920"/>
            </a:xfrm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377FDA2E-1217-29D4-E3F8-7A0584DF3687}"/>
                  </a:ext>
                </a:extLst>
              </p:cNvPr>
              <p:cNvGrpSpPr/>
              <p:nvPr/>
            </p:nvGrpSpPr>
            <p:grpSpPr>
              <a:xfrm>
                <a:off x="565237" y="1435141"/>
                <a:ext cx="1096587" cy="2147920"/>
                <a:chOff x="576858" y="1253276"/>
                <a:chExt cx="1096587" cy="2147920"/>
              </a:xfrm>
            </p:grpSpPr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ABC6B32C-AEBB-26C7-9FB5-8201CD3AD460}"/>
                    </a:ext>
                  </a:extLst>
                </p:cNvPr>
                <p:cNvGrpSpPr/>
                <p:nvPr/>
              </p:nvGrpSpPr>
              <p:grpSpPr>
                <a:xfrm>
                  <a:off x="576858" y="1253276"/>
                  <a:ext cx="1066425" cy="2061275"/>
                  <a:chOff x="576858" y="1253276"/>
                  <a:chExt cx="1066425" cy="2061275"/>
                </a:xfrm>
              </p:grpSpPr>
              <p:grpSp>
                <p:nvGrpSpPr>
                  <p:cNvPr id="21" name="组合 20">
                    <a:extLst>
                      <a:ext uri="{FF2B5EF4-FFF2-40B4-BE49-F238E27FC236}">
                        <a16:creationId xmlns:a16="http://schemas.microsoft.com/office/drawing/2014/main" id="{1EF43383-0319-0776-7562-F1FB1017EC7D}"/>
                      </a:ext>
                    </a:extLst>
                  </p:cNvPr>
                  <p:cNvGrpSpPr/>
                  <p:nvPr/>
                </p:nvGrpSpPr>
                <p:grpSpPr>
                  <a:xfrm>
                    <a:off x="665881" y="1253276"/>
                    <a:ext cx="974082" cy="1973597"/>
                    <a:chOff x="432842" y="1171926"/>
                    <a:chExt cx="1020309" cy="2034885"/>
                  </a:xfrm>
                </p:grpSpPr>
                <p:pic>
                  <p:nvPicPr>
                    <p:cNvPr id="12" name="图片 11">
                      <a:extLst>
                        <a:ext uri="{FF2B5EF4-FFF2-40B4-BE49-F238E27FC236}">
                          <a16:creationId xmlns:a16="http://schemas.microsoft.com/office/drawing/2014/main" id="{00630FF8-1E3A-D464-5EB4-31082575874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028" t="17293" r="76840" b="1785"/>
                    <a:stretch>
                      <a:fillRect/>
                    </a:stretch>
                  </p:blipFill>
                  <p:spPr>
                    <a:xfrm>
                      <a:off x="432842" y="1171926"/>
                      <a:ext cx="1020309" cy="203488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0" name="矩形 19">
                      <a:extLst>
                        <a:ext uri="{FF2B5EF4-FFF2-40B4-BE49-F238E27FC236}">
                          <a16:creationId xmlns:a16="http://schemas.microsoft.com/office/drawing/2014/main" id="{A756E146-2719-C0DF-6885-6FE31020F2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0802" y="2954513"/>
                      <a:ext cx="272349" cy="216022"/>
                    </a:xfrm>
                    <a:prstGeom prst="rect">
                      <a:avLst/>
                    </a:prstGeom>
                    <a:solidFill>
                      <a:srgbClr val="F2F1E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E7988A0F-A541-9ABB-9EBA-D7F1A348351C}"/>
                      </a:ext>
                    </a:extLst>
                  </p:cNvPr>
                  <p:cNvSpPr/>
                  <p:nvPr/>
                </p:nvSpPr>
                <p:spPr>
                  <a:xfrm>
                    <a:off x="724459" y="2999766"/>
                    <a:ext cx="918824" cy="209516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54BF9E38-2140-8BA4-CB80-8730F8BA18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52922" y="2954511"/>
                    <a:ext cx="0" cy="360040"/>
                  </a:xfrm>
                  <a:prstGeom prst="line">
                    <a:avLst/>
                  </a:prstGeom>
                  <a:ln>
                    <a:solidFill>
                      <a:srgbClr val="06060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AE2AFA7B-A3EB-5D68-18DA-CD76405498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6858" y="3098527"/>
                    <a:ext cx="726071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F8FE15AA-539E-8DBF-0B1D-6B6EBC8033F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76858" y="1370335"/>
                    <a:ext cx="0" cy="1728192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箭头连接符 66">
                    <a:extLst>
                      <a:ext uri="{FF2B5EF4-FFF2-40B4-BE49-F238E27FC236}">
                        <a16:creationId xmlns:a16="http://schemas.microsoft.com/office/drawing/2014/main" id="{2D8CD17C-2AE2-C0B8-BEEF-4D980C218E09}"/>
                      </a:ext>
                    </a:extLst>
                  </p:cNvPr>
                  <p:cNvCxnSpPr/>
                  <p:nvPr/>
                </p:nvCxnSpPr>
                <p:spPr>
                  <a:xfrm>
                    <a:off x="576858" y="1370335"/>
                    <a:ext cx="14760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矩形 69">
                    <a:extLst>
                      <a:ext uri="{FF2B5EF4-FFF2-40B4-BE49-F238E27FC236}">
                        <a16:creationId xmlns:a16="http://schemas.microsoft.com/office/drawing/2014/main" id="{3A8E2A7E-D1BA-EB6E-2710-4F9632145F8A}"/>
                      </a:ext>
                    </a:extLst>
                  </p:cNvPr>
                  <p:cNvSpPr/>
                  <p:nvPr/>
                </p:nvSpPr>
                <p:spPr>
                  <a:xfrm>
                    <a:off x="665882" y="3116826"/>
                    <a:ext cx="974081" cy="92986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" name="矩形 75">
                    <a:extLst>
                      <a:ext uri="{FF2B5EF4-FFF2-40B4-BE49-F238E27FC236}">
                        <a16:creationId xmlns:a16="http://schemas.microsoft.com/office/drawing/2014/main" id="{82946C10-6459-CD04-FA4D-3F86D754C15A}"/>
                      </a:ext>
                    </a:extLst>
                  </p:cNvPr>
                  <p:cNvSpPr/>
                  <p:nvPr/>
                </p:nvSpPr>
                <p:spPr>
                  <a:xfrm>
                    <a:off x="1157360" y="3070255"/>
                    <a:ext cx="482604" cy="86644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E0E8105B-7E6E-7D20-E69B-106EFE3BFEFF}"/>
                    </a:ext>
                  </a:extLst>
                </p:cNvPr>
                <p:cNvSpPr/>
                <p:nvPr/>
              </p:nvSpPr>
              <p:spPr>
                <a:xfrm>
                  <a:off x="648866" y="3191690"/>
                  <a:ext cx="1024579" cy="2095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134ADFB-7215-6876-BF16-CFF4D47EEADD}"/>
                  </a:ext>
                </a:extLst>
              </p:cNvPr>
              <p:cNvSpPr txBox="1"/>
              <p:nvPr/>
            </p:nvSpPr>
            <p:spPr>
              <a:xfrm>
                <a:off x="306742" y="2067317"/>
                <a:ext cx="276999" cy="72008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sz="600" dirty="0"/>
                  <a:t>反馈调节源极电压</a:t>
                </a:r>
              </a:p>
            </p:txBody>
          </p:sp>
        </p:grp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B2912499-31E8-2522-58C7-B71B35AF9F9F}"/>
                </a:ext>
              </a:extLst>
            </p:cNvPr>
            <p:cNvSpPr/>
            <p:nvPr/>
          </p:nvSpPr>
          <p:spPr>
            <a:xfrm>
              <a:off x="3529186" y="1317829"/>
              <a:ext cx="738265" cy="83201"/>
            </a:xfrm>
            <a:prstGeom prst="rect">
              <a:avLst/>
            </a:prstGeom>
            <a:solidFill>
              <a:srgbClr val="CED3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92B4BCEE-B64C-AEF4-17C9-82F96D747446}"/>
                </a:ext>
              </a:extLst>
            </p:cNvPr>
            <p:cNvSpPr/>
            <p:nvPr/>
          </p:nvSpPr>
          <p:spPr>
            <a:xfrm>
              <a:off x="3955884" y="1486632"/>
              <a:ext cx="150408" cy="58290"/>
            </a:xfrm>
            <a:prstGeom prst="rect">
              <a:avLst/>
            </a:prstGeom>
            <a:solidFill>
              <a:srgbClr val="F1F1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95CC9B-E216-A696-1F51-C41E6E92CD26}"/>
              </a:ext>
            </a:extLst>
          </p:cNvPr>
          <p:cNvSpPr/>
          <p:nvPr/>
        </p:nvSpPr>
        <p:spPr>
          <a:xfrm>
            <a:off x="1678095" y="551459"/>
            <a:ext cx="1201269" cy="546911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0A2B9B-0EC8-C379-2428-62F8372F0E31}"/>
              </a:ext>
            </a:extLst>
          </p:cNvPr>
          <p:cNvSpPr txBox="1"/>
          <p:nvPr/>
        </p:nvSpPr>
        <p:spPr>
          <a:xfrm>
            <a:off x="428119" y="3196212"/>
            <a:ext cx="8407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zh-CN" sz="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Control Loop</a:t>
            </a:r>
            <a:endParaRPr lang="zh-CN" altLang="en-US" sz="700" dirty="0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2243163-0E0B-E2D3-3CDD-899EE810C241}"/>
              </a:ext>
            </a:extLst>
          </p:cNvPr>
          <p:cNvGrpSpPr/>
          <p:nvPr/>
        </p:nvGrpSpPr>
        <p:grpSpPr>
          <a:xfrm>
            <a:off x="290479" y="561768"/>
            <a:ext cx="4027235" cy="608656"/>
            <a:chOff x="304074" y="633047"/>
            <a:chExt cx="3840402" cy="519096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A0C06015-9B7D-F2ED-4520-7596C1E7E5F9}"/>
                </a:ext>
              </a:extLst>
            </p:cNvPr>
            <p:cNvGrpSpPr/>
            <p:nvPr/>
          </p:nvGrpSpPr>
          <p:grpSpPr>
            <a:xfrm>
              <a:off x="304074" y="640633"/>
              <a:ext cx="1031575" cy="511510"/>
              <a:chOff x="538277" y="1270832"/>
              <a:chExt cx="1031575" cy="511510"/>
            </a:xfrm>
          </p:grpSpPr>
          <p:sp>
            <p:nvSpPr>
              <p:cNvPr id="61" name="object 7">
                <a:extLst>
                  <a:ext uri="{FF2B5EF4-FFF2-40B4-BE49-F238E27FC236}">
                    <a16:creationId xmlns:a16="http://schemas.microsoft.com/office/drawing/2014/main" id="{B8D42639-8074-1D19-6A0F-341B33B8940F}"/>
                  </a:ext>
                </a:extLst>
              </p:cNvPr>
              <p:cNvSpPr/>
              <p:nvPr/>
            </p:nvSpPr>
            <p:spPr>
              <a:xfrm>
                <a:off x="570997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8">
                <a:extLst>
                  <a:ext uri="{FF2B5EF4-FFF2-40B4-BE49-F238E27FC236}">
                    <a16:creationId xmlns:a16="http://schemas.microsoft.com/office/drawing/2014/main" id="{1AB3CF51-FE14-E57D-E674-A5884AAAE5A6}"/>
                  </a:ext>
                </a:extLst>
              </p:cNvPr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7F3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9">
                <a:extLst>
                  <a:ext uri="{FF2B5EF4-FFF2-40B4-BE49-F238E27FC236}">
                    <a16:creationId xmlns:a16="http://schemas.microsoft.com/office/drawing/2014/main" id="{BDBCEEA7-EC69-2B43-2229-A881DDDD0CBF}"/>
                  </a:ext>
                </a:extLst>
              </p:cNvPr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1">
                <a:extLst>
                  <a:ext uri="{FF2B5EF4-FFF2-40B4-BE49-F238E27FC236}">
                    <a16:creationId xmlns:a16="http://schemas.microsoft.com/office/drawing/2014/main" id="{BE7A0FFF-3BDF-31E1-CC71-A915B7DF79E0}"/>
                  </a:ext>
                </a:extLst>
              </p:cNvPr>
              <p:cNvSpPr txBox="1"/>
              <p:nvPr/>
            </p:nvSpPr>
            <p:spPr>
              <a:xfrm>
                <a:off x="576158" y="1323335"/>
                <a:ext cx="916970" cy="279442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Microsoft YaHei"/>
                    <a:cs typeface="Microsoft YaHei"/>
                  </a:rPr>
                  <a:t>硬件物理层</a:t>
                </a:r>
                <a:endParaRPr sz="1050" dirty="0">
                  <a:solidFill>
                    <a:schemeClr val="tx1"/>
                  </a:solidFill>
                  <a:latin typeface="Microsoft YaHei"/>
                  <a:cs typeface="Microsoft YaHei"/>
                </a:endParaRPr>
              </a:p>
              <a:p>
                <a:pPr algn="ctr">
                  <a:lnSpc>
                    <a:spcPct val="100000"/>
                  </a:lnSpc>
                  <a:spcBef>
                    <a:spcPts val="145"/>
                  </a:spcBef>
                </a:pPr>
                <a:r>
                  <a:rPr lang="zh-CN" altLang="en-US" sz="800" spc="-15" dirty="0">
                    <a:latin typeface="华文楷体" panose="02010600040101010101" pitchFamily="2" charset="-122"/>
                    <a:ea typeface="华文楷体" panose="02010600040101010101" pitchFamily="2" charset="-122"/>
                    <a:cs typeface="Microsoft YaHei"/>
                  </a:rPr>
                  <a:t>突触制备与光电验证</a:t>
                </a:r>
                <a:endParaRPr sz="950" dirty="0">
                  <a:latin typeface="华文楷体" panose="02010600040101010101" pitchFamily="2" charset="-122"/>
                  <a:ea typeface="华文楷体" panose="02010600040101010101" pitchFamily="2" charset="-122"/>
                  <a:cs typeface="Microsoft YaHei"/>
                </a:endParaRPr>
              </a:p>
            </p:txBody>
          </p:sp>
        </p:grpSp>
        <p:sp>
          <p:nvSpPr>
            <p:cNvPr id="60" name="object 16">
              <a:extLst>
                <a:ext uri="{FF2B5EF4-FFF2-40B4-BE49-F238E27FC236}">
                  <a16:creationId xmlns:a16="http://schemas.microsoft.com/office/drawing/2014/main" id="{19FD60D1-62B7-5388-67AD-7E0FE97AE5E3}"/>
                </a:ext>
              </a:extLst>
            </p:cNvPr>
            <p:cNvSpPr txBox="1"/>
            <p:nvPr/>
          </p:nvSpPr>
          <p:spPr>
            <a:xfrm>
              <a:off x="1677569" y="647416"/>
              <a:ext cx="1032459" cy="419987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0" dirty="0">
                  <a:solidFill>
                    <a:schemeClr val="tx1"/>
                  </a:solidFill>
                  <a:latin typeface="Microsoft YaHei"/>
                  <a:cs typeface="Microsoft YaHei"/>
                </a:rPr>
                <a:t>功能层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700" spc="-15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软硬协同设计与感内计算架构</a:t>
              </a: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084EC476-C4FD-38E0-3EB1-2F6871F33873}"/>
                </a:ext>
              </a:extLst>
            </p:cNvPr>
            <p:cNvGrpSpPr/>
            <p:nvPr/>
          </p:nvGrpSpPr>
          <p:grpSpPr>
            <a:xfrm>
              <a:off x="3034948" y="633047"/>
              <a:ext cx="1109528" cy="493057"/>
              <a:chOff x="3134914" y="1257969"/>
              <a:chExt cx="1080120" cy="553085"/>
            </a:xfrm>
          </p:grpSpPr>
          <p:sp>
            <p:nvSpPr>
              <p:cNvPr id="55" name="object 20">
                <a:extLst>
                  <a:ext uri="{FF2B5EF4-FFF2-40B4-BE49-F238E27FC236}">
                    <a16:creationId xmlns:a16="http://schemas.microsoft.com/office/drawing/2014/main" id="{2CED9935-7B5F-CCB4-D462-A67649C25191}"/>
                  </a:ext>
                </a:extLst>
              </p:cNvPr>
              <p:cNvSpPr/>
              <p:nvPr/>
            </p:nvSpPr>
            <p:spPr>
              <a:xfrm>
                <a:off x="3179655" y="1257969"/>
                <a:ext cx="998855" cy="553085"/>
              </a:xfrm>
              <a:custGeom>
                <a:avLst/>
                <a:gdLst/>
                <a:ahLst/>
                <a:cxnLst/>
                <a:rect l="l" t="t" r="r" b="b"/>
                <a:pathLst>
                  <a:path w="998854" h="553085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2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514890"/>
                    </a:lnTo>
                    <a:lnTo>
                      <a:pt x="2982" y="529665"/>
                    </a:lnTo>
                    <a:lnTo>
                      <a:pt x="11117" y="541731"/>
                    </a:lnTo>
                    <a:lnTo>
                      <a:pt x="23182" y="549865"/>
                    </a:lnTo>
                    <a:lnTo>
                      <a:pt x="37958" y="552848"/>
                    </a:lnTo>
                    <a:lnTo>
                      <a:pt x="960337" y="552848"/>
                    </a:lnTo>
                    <a:lnTo>
                      <a:pt x="975112" y="549865"/>
                    </a:lnTo>
                    <a:lnTo>
                      <a:pt x="987177" y="541731"/>
                    </a:lnTo>
                    <a:lnTo>
                      <a:pt x="995312" y="529665"/>
                    </a:lnTo>
                    <a:lnTo>
                      <a:pt x="998295" y="51489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21">
                <a:extLst>
                  <a:ext uri="{FF2B5EF4-FFF2-40B4-BE49-F238E27FC236}">
                    <a16:creationId xmlns:a16="http://schemas.microsoft.com/office/drawing/2014/main" id="{82ADA46D-FE60-9F67-1F76-8FE67E9F9B9C}"/>
                  </a:ext>
                </a:extLst>
              </p:cNvPr>
              <p:cNvSpPr txBox="1"/>
              <p:nvPr/>
            </p:nvSpPr>
            <p:spPr>
              <a:xfrm>
                <a:off x="3134914" y="1290249"/>
                <a:ext cx="1080120" cy="367545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marL="69215"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5" dirty="0">
                    <a:solidFill>
                      <a:schemeClr val="tx1"/>
                    </a:solidFill>
                    <a:latin typeface="Microsoft YaHei"/>
                    <a:cs typeface="Microsoft YaHei"/>
                  </a:rPr>
                  <a:t>应用层</a:t>
                </a:r>
                <a:endParaRPr sz="1050" dirty="0">
                  <a:solidFill>
                    <a:schemeClr val="tx1"/>
                  </a:solidFill>
                  <a:latin typeface="Microsoft YaHei"/>
                  <a:cs typeface="Microsoft YaHei"/>
                </a:endParaRPr>
              </a:p>
              <a:p>
                <a:pPr marL="12700"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z="800" spc="-15" dirty="0">
                    <a:latin typeface="华文楷体" panose="02010600040101010101" pitchFamily="2" charset="-122"/>
                    <a:ea typeface="华文楷体" panose="02010600040101010101" pitchFamily="2" charset="-122"/>
                    <a:cs typeface="Microsoft YaHei"/>
                  </a:rPr>
                  <a:t>目标检测与轻量化演示</a:t>
                </a:r>
                <a:endParaRPr lang="zh-CN" altLang="en-US" sz="800" dirty="0">
                  <a:latin typeface="华文楷体" panose="02010600040101010101" pitchFamily="2" charset="-122"/>
                  <a:ea typeface="华文楷体" panose="02010600040101010101" pitchFamily="2" charset="-122"/>
                  <a:cs typeface="Microsoft YaHei"/>
                </a:endParaRPr>
              </a:p>
            </p:txBody>
          </p:sp>
        </p:grpSp>
        <p:sp>
          <p:nvSpPr>
            <p:cNvPr id="47" name="object 23">
              <a:extLst>
                <a:ext uri="{FF2B5EF4-FFF2-40B4-BE49-F238E27FC236}">
                  <a16:creationId xmlns:a16="http://schemas.microsoft.com/office/drawing/2014/main" id="{0590EB09-0383-50FD-0B5B-81A18908AE93}"/>
                </a:ext>
              </a:extLst>
            </p:cNvPr>
            <p:cNvSpPr/>
            <p:nvPr/>
          </p:nvSpPr>
          <p:spPr>
            <a:xfrm>
              <a:off x="1335649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4">
              <a:extLst>
                <a:ext uri="{FF2B5EF4-FFF2-40B4-BE49-F238E27FC236}">
                  <a16:creationId xmlns:a16="http://schemas.microsoft.com/office/drawing/2014/main" id="{FDEE12F6-DF2A-5811-D9B0-EBE403778252}"/>
                </a:ext>
              </a:extLst>
            </p:cNvPr>
            <p:cNvSpPr/>
            <p:nvPr/>
          </p:nvSpPr>
          <p:spPr>
            <a:xfrm>
              <a:off x="1512297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>
              <a:extLst>
                <a:ext uri="{FF2B5EF4-FFF2-40B4-BE49-F238E27FC236}">
                  <a16:creationId xmlns:a16="http://schemas.microsoft.com/office/drawing/2014/main" id="{BA642E1C-9B2C-1D37-85F7-C920BAF6D6FB}"/>
                </a:ext>
              </a:extLst>
            </p:cNvPr>
            <p:cNvSpPr/>
            <p:nvPr/>
          </p:nvSpPr>
          <p:spPr>
            <a:xfrm>
              <a:off x="1512297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6">
              <a:extLst>
                <a:ext uri="{FF2B5EF4-FFF2-40B4-BE49-F238E27FC236}">
                  <a16:creationId xmlns:a16="http://schemas.microsoft.com/office/drawing/2014/main" id="{DEE39F38-5784-DA7C-A7FF-977CFF37034F}"/>
                </a:ext>
              </a:extLst>
            </p:cNvPr>
            <p:cNvSpPr/>
            <p:nvPr/>
          </p:nvSpPr>
          <p:spPr>
            <a:xfrm>
              <a:off x="2812726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3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7">
              <a:extLst>
                <a:ext uri="{FF2B5EF4-FFF2-40B4-BE49-F238E27FC236}">
                  <a16:creationId xmlns:a16="http://schemas.microsoft.com/office/drawing/2014/main" id="{59D1EA1E-8B8B-A5D3-6A89-00CBD3B723CF}"/>
                </a:ext>
              </a:extLst>
            </p:cNvPr>
            <p:cNvSpPr/>
            <p:nvPr/>
          </p:nvSpPr>
          <p:spPr>
            <a:xfrm>
              <a:off x="2984601" y="838312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8">
              <a:extLst>
                <a:ext uri="{FF2B5EF4-FFF2-40B4-BE49-F238E27FC236}">
                  <a16:creationId xmlns:a16="http://schemas.microsoft.com/office/drawing/2014/main" id="{3E7238A5-736C-B014-8E29-5D950D382BF4}"/>
                </a:ext>
              </a:extLst>
            </p:cNvPr>
            <p:cNvSpPr/>
            <p:nvPr/>
          </p:nvSpPr>
          <p:spPr>
            <a:xfrm>
              <a:off x="2986138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A9082DA-13FB-3D4A-597A-E3B8BEF62001}"/>
              </a:ext>
            </a:extLst>
          </p:cNvPr>
          <p:cNvSpPr txBox="1"/>
          <p:nvPr/>
        </p:nvSpPr>
        <p:spPr>
          <a:xfrm>
            <a:off x="2374984" y="2517772"/>
            <a:ext cx="1296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700" dirty="0">
                <a:solidFill>
                  <a:schemeClr val="tx1"/>
                </a:solidFill>
                <a:latin typeface="Arial" panose="020B0604020202020204" pitchFamily="34" charset="0"/>
              </a:rPr>
              <a:t>Data Pipeline</a:t>
            </a:r>
            <a:endParaRPr lang="zh-CN" altLang="en-US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35E53C-411F-70D6-5422-42A609A69406}"/>
              </a:ext>
            </a:extLst>
          </p:cNvPr>
          <p:cNvSpPr txBox="1"/>
          <p:nvPr/>
        </p:nvSpPr>
        <p:spPr>
          <a:xfrm>
            <a:off x="1678095" y="2810495"/>
            <a:ext cx="242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环境感知与灵敏度调节闭环 (Control Loop)</a:t>
            </a:r>
            <a:endParaRPr kumimoji="0" lang="zh-CN" altLang="zh-CN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endParaRPr kumimoji="0" lang="en-US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2</a:t>
            </a:r>
            <a:r>
              <a:rPr kumimoji="0" lang="zh-CN" altLang="en-US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图像获取与重建数据流 (Data Pipeline)</a:t>
            </a:r>
            <a:endParaRPr lang="zh-CN" altLang="en-US" sz="600" dirty="0"/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0EF38A80-D1FC-AA61-F4AC-FA47C84F41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242" y="1228415"/>
            <a:ext cx="3089293" cy="144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72214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467B-BCF6-8F84-E24F-23C2AD0C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3926CF-F863-2713-79C3-E94E56CA6165}"/>
              </a:ext>
            </a:extLst>
          </p:cNvPr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707D65-2C4E-774A-2428-98030F61C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结果验证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识别系统的训练与验证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4FDDA6EA-E2AE-11A9-0156-ABB48F9E0455}"/>
              </a:ext>
            </a:extLst>
          </p:cNvPr>
          <p:cNvGrpSpPr/>
          <p:nvPr/>
        </p:nvGrpSpPr>
        <p:grpSpPr>
          <a:xfrm>
            <a:off x="432842" y="615717"/>
            <a:ext cx="3845832" cy="517781"/>
            <a:chOff x="432842" y="686102"/>
            <a:chExt cx="3845832" cy="517781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1C7A34D-AEAA-8218-7367-38ADA77849E6}"/>
                </a:ext>
              </a:extLst>
            </p:cNvPr>
            <p:cNvGrpSpPr/>
            <p:nvPr/>
          </p:nvGrpSpPr>
          <p:grpSpPr>
            <a:xfrm>
              <a:off x="432842" y="686103"/>
              <a:ext cx="1031575" cy="511510"/>
              <a:chOff x="538277" y="1270832"/>
              <a:chExt cx="1031575" cy="511510"/>
            </a:xfrm>
          </p:grpSpPr>
          <p:sp>
            <p:nvSpPr>
              <p:cNvPr id="61" name="object 7">
                <a:extLst>
                  <a:ext uri="{FF2B5EF4-FFF2-40B4-BE49-F238E27FC236}">
                    <a16:creationId xmlns:a16="http://schemas.microsoft.com/office/drawing/2014/main" id="{85BCA2CE-2ACC-F235-9B47-FBBACD3ACF22}"/>
                  </a:ext>
                </a:extLst>
              </p:cNvPr>
              <p:cNvSpPr/>
              <p:nvPr/>
            </p:nvSpPr>
            <p:spPr>
              <a:xfrm>
                <a:off x="570997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8">
                <a:extLst>
                  <a:ext uri="{FF2B5EF4-FFF2-40B4-BE49-F238E27FC236}">
                    <a16:creationId xmlns:a16="http://schemas.microsoft.com/office/drawing/2014/main" id="{9DB41711-67E8-8AFE-2FAB-D97772381D4F}"/>
                  </a:ext>
                </a:extLst>
              </p:cNvPr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7F3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9">
                <a:extLst>
                  <a:ext uri="{FF2B5EF4-FFF2-40B4-BE49-F238E27FC236}">
                    <a16:creationId xmlns:a16="http://schemas.microsoft.com/office/drawing/2014/main" id="{E941BD93-3643-B158-706C-B1DC32A10FA8}"/>
                  </a:ext>
                </a:extLst>
              </p:cNvPr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1">
                <a:extLst>
                  <a:ext uri="{FF2B5EF4-FFF2-40B4-BE49-F238E27FC236}">
                    <a16:creationId xmlns:a16="http://schemas.microsoft.com/office/drawing/2014/main" id="{4C14A0CB-A41A-9017-B52F-57F000E59506}"/>
                  </a:ext>
                </a:extLst>
              </p:cNvPr>
              <p:cNvSpPr txBox="1"/>
              <p:nvPr/>
            </p:nvSpPr>
            <p:spPr>
              <a:xfrm>
                <a:off x="576158" y="1323335"/>
                <a:ext cx="916970" cy="327654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Microsoft YaHei"/>
                    <a:cs typeface="Microsoft YaHei"/>
                  </a:rPr>
                  <a:t>硬件物理层</a:t>
                </a:r>
                <a:endParaRPr sz="1050" dirty="0">
                  <a:solidFill>
                    <a:schemeClr val="tx1"/>
                  </a:solidFill>
                  <a:latin typeface="Microsoft YaHei"/>
                  <a:cs typeface="Microsoft YaHei"/>
                </a:endParaRPr>
              </a:p>
              <a:p>
                <a:pPr algn="ctr">
                  <a:lnSpc>
                    <a:spcPct val="100000"/>
                  </a:lnSpc>
                  <a:spcBef>
                    <a:spcPts val="145"/>
                  </a:spcBef>
                </a:pPr>
                <a:r>
                  <a:rPr lang="zh-CN" altLang="en-US" sz="800" spc="-15" dirty="0">
                    <a:latin typeface="Microsoft YaHei"/>
                    <a:cs typeface="Microsoft YaHei"/>
                  </a:rPr>
                  <a:t>器件制备与光电验证</a:t>
                </a:r>
                <a:endParaRPr sz="950" dirty="0">
                  <a:latin typeface="Microsoft YaHei"/>
                  <a:cs typeface="Microsoft YaHei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11EA1D0C-3E89-A590-EB25-11EBFEFA8E67}"/>
                </a:ext>
              </a:extLst>
            </p:cNvPr>
            <p:cNvGrpSpPr/>
            <p:nvPr/>
          </p:nvGrpSpPr>
          <p:grpSpPr>
            <a:xfrm>
              <a:off x="1695459" y="686102"/>
              <a:ext cx="1057805" cy="517781"/>
              <a:chOff x="1800894" y="1270832"/>
              <a:chExt cx="1035563" cy="511510"/>
            </a:xfrm>
          </p:grpSpPr>
          <p:sp>
            <p:nvSpPr>
              <p:cNvPr id="57" name="object 13">
                <a:extLst>
                  <a:ext uri="{FF2B5EF4-FFF2-40B4-BE49-F238E27FC236}">
                    <a16:creationId xmlns:a16="http://schemas.microsoft.com/office/drawing/2014/main" id="{86E2AA5E-5D8A-ABB9-E41A-B7BE0309A1B0}"/>
                  </a:ext>
                </a:extLst>
              </p:cNvPr>
              <p:cNvSpPr/>
              <p:nvPr/>
            </p:nvSpPr>
            <p:spPr>
              <a:xfrm>
                <a:off x="1837602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14">
                <a:extLst>
                  <a:ext uri="{FF2B5EF4-FFF2-40B4-BE49-F238E27FC236}">
                    <a16:creationId xmlns:a16="http://schemas.microsoft.com/office/drawing/2014/main" id="{6A72FB5A-B388-E7C5-73BB-2D77A1D21706}"/>
                  </a:ext>
                </a:extLst>
              </p:cNvPr>
              <p:cNvSpPr/>
              <p:nvPr/>
            </p:nvSpPr>
            <p:spPr>
              <a:xfrm>
                <a:off x="1804882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5">
                <a:extLst>
                  <a:ext uri="{FF2B5EF4-FFF2-40B4-BE49-F238E27FC236}">
                    <a16:creationId xmlns:a16="http://schemas.microsoft.com/office/drawing/2014/main" id="{CC7ED827-FE18-8DFC-628E-F641421ACF56}"/>
                  </a:ext>
                </a:extLst>
              </p:cNvPr>
              <p:cNvSpPr/>
              <p:nvPr/>
            </p:nvSpPr>
            <p:spPr>
              <a:xfrm>
                <a:off x="1804882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16">
                <a:extLst>
                  <a:ext uri="{FF2B5EF4-FFF2-40B4-BE49-F238E27FC236}">
                    <a16:creationId xmlns:a16="http://schemas.microsoft.com/office/drawing/2014/main" id="{6C07220D-917F-9F80-3707-A7F424CA7E2B}"/>
                  </a:ext>
                </a:extLst>
              </p:cNvPr>
              <p:cNvSpPr txBox="1"/>
              <p:nvPr/>
            </p:nvSpPr>
            <p:spPr>
              <a:xfrm>
                <a:off x="1800894" y="1284584"/>
                <a:ext cx="980827" cy="450764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Microsoft YaHei"/>
                    <a:cs typeface="Microsoft YaHei"/>
                  </a:rPr>
                  <a:t>功能层</a:t>
                </a:r>
                <a:endParaRPr sz="1050" dirty="0">
                  <a:solidFill>
                    <a:schemeClr val="tx1"/>
                  </a:solidFill>
                  <a:latin typeface="Microsoft YaHei"/>
                  <a:cs typeface="Microsoft YaHei"/>
                </a:endParaRPr>
              </a:p>
              <a:p>
                <a:pPr marL="12700"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z="800" spc="-15" dirty="0">
                    <a:latin typeface="Microsoft YaHei"/>
                  </a:rPr>
                  <a:t>软硬协同设计与感内计算架构</a:t>
                </a:r>
              </a:p>
            </p:txBody>
          </p:sp>
        </p:grpSp>
        <p:sp>
          <p:nvSpPr>
            <p:cNvPr id="56" name="object 21">
              <a:extLst>
                <a:ext uri="{FF2B5EF4-FFF2-40B4-BE49-F238E27FC236}">
                  <a16:creationId xmlns:a16="http://schemas.microsoft.com/office/drawing/2014/main" id="{3F7C7B3C-DCA7-BB01-0DD3-61BB22F6487C}"/>
                </a:ext>
              </a:extLst>
            </p:cNvPr>
            <p:cNvSpPr txBox="1"/>
            <p:nvPr/>
          </p:nvSpPr>
          <p:spPr>
            <a:xfrm>
              <a:off x="3169146" y="738086"/>
              <a:ext cx="1109528" cy="292093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marL="69215"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5" dirty="0">
                  <a:solidFill>
                    <a:schemeClr val="tx1"/>
                  </a:solidFill>
                  <a:latin typeface="Microsoft YaHei"/>
                  <a:cs typeface="Microsoft YaHei"/>
                </a:rPr>
                <a:t>应用层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Microsoft YaHei"/>
                  <a:cs typeface="Microsoft YaHei"/>
                </a:rPr>
                <a:t>目标检测与轻量化演示</a:t>
              </a:r>
              <a:endParaRPr lang="zh-CN" altLang="en-US" sz="800" dirty="0">
                <a:latin typeface="Microsoft YaHei"/>
                <a:cs typeface="Microsoft YaHei"/>
              </a:endParaRPr>
            </a:p>
          </p:txBody>
        </p:sp>
        <p:sp>
          <p:nvSpPr>
            <p:cNvPr id="47" name="object 23">
              <a:extLst>
                <a:ext uri="{FF2B5EF4-FFF2-40B4-BE49-F238E27FC236}">
                  <a16:creationId xmlns:a16="http://schemas.microsoft.com/office/drawing/2014/main" id="{3E357918-147A-6AC0-8CAC-6AC212DA56E0}"/>
                </a:ext>
              </a:extLst>
            </p:cNvPr>
            <p:cNvSpPr/>
            <p:nvPr/>
          </p:nvSpPr>
          <p:spPr>
            <a:xfrm>
              <a:off x="1435690" y="925237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4">
              <a:extLst>
                <a:ext uri="{FF2B5EF4-FFF2-40B4-BE49-F238E27FC236}">
                  <a16:creationId xmlns:a16="http://schemas.microsoft.com/office/drawing/2014/main" id="{383F4DFD-C247-2D58-DC0D-2CE182DF4CFD}"/>
                </a:ext>
              </a:extLst>
            </p:cNvPr>
            <p:cNvSpPr/>
            <p:nvPr/>
          </p:nvSpPr>
          <p:spPr>
            <a:xfrm>
              <a:off x="1613123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>
              <a:extLst>
                <a:ext uri="{FF2B5EF4-FFF2-40B4-BE49-F238E27FC236}">
                  <a16:creationId xmlns:a16="http://schemas.microsoft.com/office/drawing/2014/main" id="{29D3CC78-03E2-E58A-A774-B96AD07ACA8E}"/>
                </a:ext>
              </a:extLst>
            </p:cNvPr>
            <p:cNvSpPr/>
            <p:nvPr/>
          </p:nvSpPr>
          <p:spPr>
            <a:xfrm>
              <a:off x="1613123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6">
              <a:extLst>
                <a:ext uri="{FF2B5EF4-FFF2-40B4-BE49-F238E27FC236}">
                  <a16:creationId xmlns:a16="http://schemas.microsoft.com/office/drawing/2014/main" id="{FB1310D2-4009-4BED-8062-84C774CE7581}"/>
                </a:ext>
              </a:extLst>
            </p:cNvPr>
            <p:cNvSpPr/>
            <p:nvPr/>
          </p:nvSpPr>
          <p:spPr>
            <a:xfrm>
              <a:off x="2812726" y="928168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3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7">
              <a:extLst>
                <a:ext uri="{FF2B5EF4-FFF2-40B4-BE49-F238E27FC236}">
                  <a16:creationId xmlns:a16="http://schemas.microsoft.com/office/drawing/2014/main" id="{1EC4B60B-F997-468C-4C1D-C28A7CD0271D}"/>
                </a:ext>
              </a:extLst>
            </p:cNvPr>
            <p:cNvSpPr/>
            <p:nvPr/>
          </p:nvSpPr>
          <p:spPr>
            <a:xfrm>
              <a:off x="3000252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8">
              <a:extLst>
                <a:ext uri="{FF2B5EF4-FFF2-40B4-BE49-F238E27FC236}">
                  <a16:creationId xmlns:a16="http://schemas.microsoft.com/office/drawing/2014/main" id="{5E19326A-71EC-D55E-7D50-F0DB1A3D0F64}"/>
                </a:ext>
              </a:extLst>
            </p:cNvPr>
            <p:cNvSpPr/>
            <p:nvPr/>
          </p:nvSpPr>
          <p:spPr>
            <a:xfrm>
              <a:off x="2993468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03369E1-158D-FF9D-3145-641B1F909C54}"/>
              </a:ext>
            </a:extLst>
          </p:cNvPr>
          <p:cNvSpPr/>
          <p:nvPr/>
        </p:nvSpPr>
        <p:spPr>
          <a:xfrm>
            <a:off x="3132210" y="577805"/>
            <a:ext cx="1201269" cy="546911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11245072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242" y="202397"/>
            <a:ext cx="2576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创新点一：应用驱动的器件研究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1242" y="650255"/>
            <a:ext cx="4244281" cy="5720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325" marR="121285" indent="-683260" algn="just">
              <a:lnSpc>
                <a:spcPct val="150000"/>
              </a:lnSpc>
              <a:spcBef>
                <a:spcPts val="95"/>
              </a:spcBef>
            </a:pPr>
            <a:r>
              <a:rPr b="1" spc="-20" dirty="0">
                <a:solidFill>
                  <a:srgbClr val="701A5E"/>
                </a:solidFill>
                <a:latin typeface="Microsoft YaHei"/>
                <a:cs typeface="Microsoft YaHei"/>
              </a:rPr>
              <a:t>跨越鸿沟 </a:t>
            </a:r>
            <a:r>
              <a:rPr sz="1000" spc="-25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从单一的“器件物理特性测试”转向明确的视觉</a:t>
            </a:r>
            <a:r>
              <a:rPr sz="1000" spc="-125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应用场</a:t>
            </a:r>
            <a:r>
              <a:rPr lang="zh-CN" altLang="en-US" sz="1000" spc="-125" dirty="0">
                <a:latin typeface="华文楷体" panose="02010600040101010101" pitchFamily="2" charset="-122"/>
                <a:ea typeface="华文楷体" panose="02010600040101010101" pitchFamily="2" charset="-122"/>
              </a:rPr>
              <a:t>景</a:t>
            </a:r>
            <a:endParaRPr sz="1000" spc="-12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95325" marR="5080" indent="-683260">
              <a:lnSpc>
                <a:spcPct val="150000"/>
              </a:lnSpc>
              <a:spcBef>
                <a:spcPts val="310"/>
              </a:spcBef>
            </a:pPr>
            <a:r>
              <a:rPr b="1" spc="50" dirty="0">
                <a:solidFill>
                  <a:srgbClr val="701A5E"/>
                </a:solidFill>
                <a:latin typeface="Microsoft YaHei"/>
                <a:cs typeface="Microsoft YaHei"/>
              </a:rPr>
              <a:t>目标导向 </a:t>
            </a:r>
            <a:r>
              <a:rPr sz="900" spc="-25" dirty="0">
                <a:latin typeface="华文楷体" panose="02010600040101010101" pitchFamily="2" charset="-122"/>
                <a:ea typeface="华文楷体" panose="02010600040101010101" pitchFamily="2" charset="-122"/>
              </a:rPr>
              <a:t>针对行人、标志物等特定</a:t>
            </a:r>
            <a:r>
              <a:rPr sz="900" spc="-35" dirty="0">
                <a:latin typeface="华文楷体" panose="02010600040101010101" pitchFamily="2" charset="-122"/>
                <a:ea typeface="华文楷体" panose="02010600040101010101" pitchFamily="2" charset="-122"/>
              </a:rPr>
              <a:t>目标，验证 </a:t>
            </a:r>
            <a:r>
              <a:rPr sz="900" b="1" i="1" spc="145" dirty="0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InSe</a:t>
            </a:r>
            <a:r>
              <a:rPr sz="900" b="1" i="1" spc="105" dirty="0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sz="900" spc="-3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作为前端</a:t>
            </a:r>
            <a:r>
              <a:rPr sz="900" spc="-25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预处理单元的潜力</a:t>
            </a:r>
            <a:endParaRPr spc="-25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9714"/>
            <a:ext cx="4608017" cy="106680"/>
            <a:chOff x="0" y="3349714"/>
            <a:chExt cx="4608017" cy="106680"/>
          </a:xfrm>
        </p:grpSpPr>
        <p:sp>
          <p:nvSpPr>
            <p:cNvPr id="14" name="object 14"/>
            <p:cNvSpPr/>
            <p:nvPr/>
          </p:nvSpPr>
          <p:spPr>
            <a:xfrm>
              <a:off x="0" y="3349714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337"/>
                  </a:lnTo>
                  <a:lnTo>
                    <a:pt x="1535976" y="10633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80D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9714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337"/>
                  </a:lnTo>
                  <a:lnTo>
                    <a:pt x="1535976" y="10633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413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9714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337"/>
                  </a:lnTo>
                  <a:lnTo>
                    <a:pt x="1535976" y="10633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01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2005863" y="3344840"/>
            <a:ext cx="690880" cy="20534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algn="l">
              <a:spcBef>
                <a:spcPts val="170"/>
              </a:spcBef>
            </a:pPr>
            <a:r>
              <a:rPr lang="zh-CN" altLang="en-US" sz="400" spc="-16" dirty="0">
                <a:latin typeface="方正姚体" panose="02010601030101010101" pitchFamily="2" charset="-122"/>
                <a:ea typeface="方正姚体" panose="02010601030101010101" pitchFamily="2" charset="-122"/>
              </a:rPr>
              <a:t>勒方</a:t>
            </a:r>
            <a:r>
              <a:rPr lang="zh-CN" altLang="en-US" sz="400" spc="-40" dirty="0">
                <a:latin typeface="方正姚体" panose="02010601030101010101" pitchFamily="2" charset="-122"/>
                <a:ea typeface="方正姚体" panose="02010601030101010101" pitchFamily="2" charset="-122"/>
              </a:rPr>
              <a:t>舟</a:t>
            </a:r>
            <a:r>
              <a:rPr lang="zh-CN" altLang="en-US" sz="400" spc="-16" dirty="0">
                <a:latin typeface="方正姚体" panose="02010601030101010101" pitchFamily="2" charset="-122"/>
                <a:ea typeface="方正姚体" panose="02010601030101010101" pitchFamily="2" charset="-122"/>
                <a:cs typeface="SimSun"/>
              </a:rPr>
              <a:t>、[姓名]、黄浩</a:t>
            </a:r>
            <a:r>
              <a:rPr lang="zh-CN" altLang="en-US" sz="400" spc="-48" dirty="0">
                <a:latin typeface="方正姚体" panose="02010601030101010101" pitchFamily="2" charset="-122"/>
                <a:ea typeface="方正姚体" panose="02010601030101010101" pitchFamily="2" charset="-122"/>
                <a:cs typeface="SimSun"/>
              </a:rPr>
              <a:t>天</a:t>
            </a: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endParaRPr spc="75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3C22F81-6D05-1BF5-FAD5-951F88F29A8F}"/>
              </a:ext>
            </a:extLst>
          </p:cNvPr>
          <p:cNvSpPr txBox="1">
            <a:spLocks/>
          </p:cNvSpPr>
          <p:nvPr/>
        </p:nvSpPr>
        <p:spPr>
          <a:xfrm>
            <a:off x="31242" y="1653975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 eaLnBrk="1" hangingPunct="1">
              <a:defRPr sz="1400" b="1" i="0">
                <a:solidFill>
                  <a:schemeClr val="bg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zh-CN" altLang="en-US" dirty="0"/>
              <a:t>创新点二：感内计算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与前端滤波器</a:t>
            </a: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0F6F05FF-F89C-B6B4-0B31-386E5C925428}"/>
              </a:ext>
            </a:extLst>
          </p:cNvPr>
          <p:cNvSpPr/>
          <p:nvPr/>
        </p:nvSpPr>
        <p:spPr>
          <a:xfrm>
            <a:off x="2096" y="1507927"/>
            <a:ext cx="4608004" cy="384523"/>
          </a:xfrm>
          <a:custGeom>
            <a:avLst/>
            <a:gdLst>
              <a:gd name="csX0" fmla="*/ 4608004 w 4608004"/>
              <a:gd name="csY0" fmla="*/ 135788 h 506717"/>
              <a:gd name="csX1" fmla="*/ 4607992 w 4608004"/>
              <a:gd name="csY1" fmla="*/ 0 h 506717"/>
              <a:gd name="csX2" fmla="*/ 2309359 w 4608004"/>
              <a:gd name="csY2" fmla="*/ 131395 h 506717"/>
              <a:gd name="csX3" fmla="*/ 2303996 w 4608004"/>
              <a:gd name="csY3" fmla="*/ 135788 h 506717"/>
              <a:gd name="csX4" fmla="*/ 0 w 4608004"/>
              <a:gd name="csY4" fmla="*/ 135788 h 506717"/>
              <a:gd name="csX5" fmla="*/ 0 w 4608004"/>
              <a:gd name="csY5" fmla="*/ 506717 h 506717"/>
              <a:gd name="csX6" fmla="*/ 4608004 w 4608004"/>
              <a:gd name="csY6" fmla="*/ 506717 h 506717"/>
              <a:gd name="csX7" fmla="*/ 4608004 w 4608004"/>
              <a:gd name="csY7" fmla="*/ 135788 h 506717"/>
              <a:gd name="csX0" fmla="*/ 4608004 w 4608004"/>
              <a:gd name="csY0" fmla="*/ 13594 h 384523"/>
              <a:gd name="csX1" fmla="*/ 4602629 w 4608004"/>
              <a:gd name="csY1" fmla="*/ 9201 h 384523"/>
              <a:gd name="csX2" fmla="*/ 2309359 w 4608004"/>
              <a:gd name="csY2" fmla="*/ 9201 h 384523"/>
              <a:gd name="csX3" fmla="*/ 2303996 w 4608004"/>
              <a:gd name="csY3" fmla="*/ 13594 h 384523"/>
              <a:gd name="csX4" fmla="*/ 0 w 4608004"/>
              <a:gd name="csY4" fmla="*/ 13594 h 384523"/>
              <a:gd name="csX5" fmla="*/ 0 w 4608004"/>
              <a:gd name="csY5" fmla="*/ 384523 h 384523"/>
              <a:gd name="csX6" fmla="*/ 4608004 w 4608004"/>
              <a:gd name="csY6" fmla="*/ 384523 h 384523"/>
              <a:gd name="csX7" fmla="*/ 4608004 w 4608004"/>
              <a:gd name="csY7" fmla="*/ 13594 h 38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608004" h="384523">
                <a:moveTo>
                  <a:pt x="4608004" y="13594"/>
                </a:moveTo>
                <a:cubicBezTo>
                  <a:pt x="4608000" y="-31669"/>
                  <a:pt x="4602633" y="54464"/>
                  <a:pt x="4602629" y="9201"/>
                </a:cubicBezTo>
                <a:lnTo>
                  <a:pt x="2309359" y="9201"/>
                </a:lnTo>
                <a:lnTo>
                  <a:pt x="2303996" y="13594"/>
                </a:lnTo>
                <a:lnTo>
                  <a:pt x="0" y="13594"/>
                </a:lnTo>
                <a:lnTo>
                  <a:pt x="0" y="384523"/>
                </a:lnTo>
                <a:lnTo>
                  <a:pt x="4608004" y="384523"/>
                </a:lnTo>
                <a:lnTo>
                  <a:pt x="4608004" y="13594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7B41E85D-4FC0-653E-E4BA-AF2AE007BCAF}"/>
              </a:ext>
            </a:extLst>
          </p:cNvPr>
          <p:cNvSpPr txBox="1">
            <a:spLocks/>
          </p:cNvSpPr>
          <p:nvPr/>
        </p:nvSpPr>
        <p:spPr>
          <a:xfrm>
            <a:off x="31242" y="1582336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 eaLnBrk="1" hangingPunct="1">
              <a:defRPr sz="1400" b="1" i="0">
                <a:solidFill>
                  <a:schemeClr val="bg1"/>
                </a:solidFill>
                <a:latin typeface="Microsoft YaHei"/>
                <a:ea typeface="+mj-ea"/>
                <a:cs typeface="Microsoft YaHei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创新点二：感内计算与前端滤波器</a:t>
            </a:r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EAF33823-653E-5062-4547-56DD0AC9DE21}"/>
              </a:ext>
            </a:extLst>
          </p:cNvPr>
          <p:cNvSpPr/>
          <p:nvPr/>
        </p:nvSpPr>
        <p:spPr>
          <a:xfrm>
            <a:off x="31242" y="2027842"/>
            <a:ext cx="4406265" cy="212090"/>
          </a:xfrm>
          <a:custGeom>
            <a:avLst/>
            <a:gdLst/>
            <a:ahLst/>
            <a:cxnLst/>
            <a:rect l="l" t="t" r="r" b="b"/>
            <a:pathLst>
              <a:path w="4406265" h="212090">
                <a:moveTo>
                  <a:pt x="435519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679"/>
                </a:lnTo>
                <a:lnTo>
                  <a:pt x="4405996" y="211679"/>
                </a:lnTo>
                <a:lnTo>
                  <a:pt x="4405996" y="50800"/>
                </a:lnTo>
                <a:lnTo>
                  <a:pt x="4401987" y="31075"/>
                </a:lnTo>
                <a:lnTo>
                  <a:pt x="4391073" y="14922"/>
                </a:lnTo>
                <a:lnTo>
                  <a:pt x="4374920" y="4008"/>
                </a:lnTo>
                <a:lnTo>
                  <a:pt x="4355195" y="0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EC043C3A-30C3-69F0-B65C-A28A7344BBC3}"/>
              </a:ext>
            </a:extLst>
          </p:cNvPr>
          <p:cNvSpPr txBox="1"/>
          <p:nvPr/>
        </p:nvSpPr>
        <p:spPr>
          <a:xfrm>
            <a:off x="31242" y="2033771"/>
            <a:ext cx="1974214" cy="200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200" b="1" spc="-25" dirty="0">
                <a:solidFill>
                  <a:srgbClr val="FFFFFF"/>
                </a:solidFill>
                <a:latin typeface="Microsoft YaHei"/>
                <a:cs typeface="Microsoft YaHei"/>
              </a:rPr>
              <a:t>核心逻辑：利用器件本征响应</a:t>
            </a:r>
            <a:endParaRPr sz="1200" dirty="0">
              <a:latin typeface="Microsoft YaHei"/>
              <a:cs typeface="Microsoft YaHei"/>
            </a:endParaRPr>
          </a:p>
        </p:txBody>
      </p:sp>
      <p:grpSp>
        <p:nvGrpSpPr>
          <p:cNvPr id="44" name="object 7">
            <a:extLst>
              <a:ext uri="{FF2B5EF4-FFF2-40B4-BE49-F238E27FC236}">
                <a16:creationId xmlns:a16="http://schemas.microsoft.com/office/drawing/2014/main" id="{18E927FF-8936-C004-1F02-18044E244DA0}"/>
              </a:ext>
            </a:extLst>
          </p:cNvPr>
          <p:cNvGrpSpPr/>
          <p:nvPr/>
        </p:nvGrpSpPr>
        <p:grpSpPr>
          <a:xfrm>
            <a:off x="31242" y="2234431"/>
            <a:ext cx="4406265" cy="500210"/>
            <a:chOff x="101027" y="1451191"/>
            <a:chExt cx="4406265" cy="500210"/>
          </a:xfrm>
        </p:grpSpPr>
        <p:pic>
          <p:nvPicPr>
            <p:cNvPr id="45" name="object 8">
              <a:extLst>
                <a:ext uri="{FF2B5EF4-FFF2-40B4-BE49-F238E27FC236}">
                  <a16:creationId xmlns:a16="http://schemas.microsoft.com/office/drawing/2014/main" id="{85B46A44-4055-91B8-3ED7-11E9C1350F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27" y="1451191"/>
              <a:ext cx="4405996" cy="50609"/>
            </a:xfrm>
            <a:prstGeom prst="rect">
              <a:avLst/>
            </a:prstGeom>
          </p:spPr>
        </p:pic>
        <p:sp>
          <p:nvSpPr>
            <p:cNvPr id="46" name="object 10">
              <a:extLst>
                <a:ext uri="{FF2B5EF4-FFF2-40B4-BE49-F238E27FC236}">
                  <a16:creationId xmlns:a16="http://schemas.microsoft.com/office/drawing/2014/main" id="{A5B59F28-F8CF-7BE9-ECCC-5245641F473B}"/>
                </a:ext>
              </a:extLst>
            </p:cNvPr>
            <p:cNvSpPr/>
            <p:nvPr/>
          </p:nvSpPr>
          <p:spPr>
            <a:xfrm>
              <a:off x="101027" y="1495471"/>
              <a:ext cx="4406265" cy="455930"/>
            </a:xfrm>
            <a:custGeom>
              <a:avLst/>
              <a:gdLst/>
              <a:ahLst/>
              <a:cxnLst/>
              <a:rect l="l" t="t" r="r" b="b"/>
              <a:pathLst>
                <a:path w="4406265" h="455930">
                  <a:moveTo>
                    <a:pt x="4405996" y="0"/>
                  </a:moveTo>
                  <a:lnTo>
                    <a:pt x="0" y="0"/>
                  </a:lnTo>
                  <a:lnTo>
                    <a:pt x="0" y="404867"/>
                  </a:lnTo>
                  <a:lnTo>
                    <a:pt x="4008" y="424592"/>
                  </a:lnTo>
                  <a:lnTo>
                    <a:pt x="14922" y="440745"/>
                  </a:lnTo>
                  <a:lnTo>
                    <a:pt x="31075" y="451659"/>
                  </a:lnTo>
                  <a:lnTo>
                    <a:pt x="50800" y="455667"/>
                  </a:lnTo>
                  <a:lnTo>
                    <a:pt x="4355195" y="455667"/>
                  </a:lnTo>
                  <a:lnTo>
                    <a:pt x="4374920" y="451659"/>
                  </a:lnTo>
                  <a:lnTo>
                    <a:pt x="4391073" y="440745"/>
                  </a:lnTo>
                  <a:lnTo>
                    <a:pt x="4401987" y="424592"/>
                  </a:lnTo>
                  <a:lnTo>
                    <a:pt x="4405996" y="404867"/>
                  </a:lnTo>
                  <a:lnTo>
                    <a:pt x="4405996" y="0"/>
                  </a:lnTo>
                  <a:close/>
                </a:path>
              </a:pathLst>
            </a:custGeom>
            <a:solidFill>
              <a:srgbClr val="F0E8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11">
            <a:extLst>
              <a:ext uri="{FF2B5EF4-FFF2-40B4-BE49-F238E27FC236}">
                <a16:creationId xmlns:a16="http://schemas.microsoft.com/office/drawing/2014/main" id="{4F4F9CCD-043A-DE8A-46D2-46AC9B0EA1A2}"/>
              </a:ext>
            </a:extLst>
          </p:cNvPr>
          <p:cNvSpPr txBox="1"/>
          <p:nvPr/>
        </p:nvSpPr>
        <p:spPr>
          <a:xfrm>
            <a:off x="31242" y="2234431"/>
            <a:ext cx="4531360" cy="78547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7350" indent="-156845">
              <a:lnSpc>
                <a:spcPct val="100000"/>
              </a:lnSpc>
              <a:spcBef>
                <a:spcPts val="405"/>
              </a:spcBef>
              <a:buClr>
                <a:srgbClr val="701A5E"/>
              </a:buClr>
              <a:buSzPct val="66666"/>
              <a:buFont typeface="Georgia"/>
              <a:buChar char="•"/>
              <a:tabLst>
                <a:tab pos="387350" algn="l"/>
              </a:tabLst>
            </a:pPr>
            <a:r>
              <a:rPr sz="1200" b="1" spc="2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负光电导 </a:t>
            </a:r>
            <a:r>
              <a:rPr sz="1200" dirty="0">
                <a:latin typeface="华文楷体" panose="02010600040101010101" pitchFamily="2" charset="-122"/>
                <a:ea typeface="华文楷体" panose="02010600040101010101" pitchFamily="2" charset="-122"/>
                <a:cs typeface="Georgia"/>
              </a:rPr>
              <a:t>(NPC)</a:t>
            </a:r>
            <a:r>
              <a:rPr sz="1200" spc="-2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：抑制强背景噪声（过曝抑制</a:t>
            </a:r>
            <a:r>
              <a:rPr sz="1200" spc="-61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）</a:t>
            </a:r>
            <a:r>
              <a:rPr sz="1200" spc="-5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。</a:t>
            </a:r>
            <a:endParaRPr sz="1200" dirty="0"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  <a:p>
            <a:pPr marL="387350" indent="-156845">
              <a:lnSpc>
                <a:spcPct val="100000"/>
              </a:lnSpc>
              <a:spcBef>
                <a:spcPts val="300"/>
              </a:spcBef>
              <a:buClr>
                <a:srgbClr val="701A5E"/>
              </a:buClr>
              <a:buSzPct val="66666"/>
              <a:buFont typeface="Georgia"/>
              <a:buChar char="•"/>
              <a:tabLst>
                <a:tab pos="387350" algn="l"/>
              </a:tabLst>
            </a:pPr>
            <a:r>
              <a:rPr sz="1200" b="1" spc="4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正光电导 </a:t>
            </a:r>
            <a:r>
              <a:rPr sz="1200" dirty="0">
                <a:latin typeface="华文楷体" panose="02010600040101010101" pitchFamily="2" charset="-122"/>
                <a:ea typeface="华文楷体" panose="02010600040101010101" pitchFamily="2" charset="-122"/>
                <a:cs typeface="Georgia"/>
              </a:rPr>
              <a:t>(PPC)</a:t>
            </a:r>
            <a:r>
              <a:rPr sz="1200" spc="-2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：增强微弱目标信号（弱光增强</a:t>
            </a:r>
            <a:r>
              <a:rPr sz="1200" spc="-61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）</a:t>
            </a:r>
            <a:r>
              <a:rPr sz="1200" spc="-5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。</a:t>
            </a:r>
            <a:endParaRPr sz="1200" dirty="0"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  <a:p>
            <a:pPr marL="1972945" marR="166370" indent="-1948180">
              <a:lnSpc>
                <a:spcPct val="100000"/>
              </a:lnSpc>
              <a:spcBef>
                <a:spcPts val="1055"/>
              </a:spcBef>
            </a:pPr>
            <a:r>
              <a:rPr sz="1200" spc="-20" dirty="0">
                <a:latin typeface="Microsoft YaHei"/>
                <a:cs typeface="Microsoft YaHei"/>
              </a:rPr>
              <a:t>“</a:t>
            </a:r>
            <a:r>
              <a:rPr sz="1200" spc="-20" dirty="0" err="1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感知阶段完成初步图像优化</a:t>
            </a:r>
            <a:r>
              <a:rPr lang="zh-CN" altLang="en-US" sz="1200" spc="-20" dirty="0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，</a:t>
            </a:r>
            <a:r>
              <a:rPr sz="1200" spc="-20" dirty="0" err="1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减轻后续</a:t>
            </a:r>
            <a:r>
              <a:rPr sz="1200" spc="-20" dirty="0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 </a:t>
            </a:r>
            <a:r>
              <a:rPr sz="1050" dirty="0">
                <a:latin typeface="Adobe Ming Std L" panose="02020300000000000000" pitchFamily="18" charset="-128"/>
                <a:ea typeface="Adobe Ming Std L" panose="02020300000000000000" pitchFamily="18" charset="-128"/>
                <a:cs typeface="Georgia"/>
              </a:rPr>
              <a:t>YOLO</a:t>
            </a:r>
            <a:r>
              <a:rPr lang="en-US" sz="1050" dirty="0">
                <a:latin typeface="Adobe Ming Std L" panose="02020300000000000000" pitchFamily="18" charset="-128"/>
                <a:ea typeface="Adobe Ming Std L" panose="02020300000000000000" pitchFamily="18" charset="-128"/>
                <a:cs typeface="Georgia"/>
              </a:rPr>
              <a:t> </a:t>
            </a:r>
            <a:r>
              <a:rPr sz="1050" dirty="0">
                <a:latin typeface="Adobe Ming Std L" panose="02020300000000000000" pitchFamily="18" charset="-128"/>
                <a:ea typeface="Adobe Ming Std L" panose="02020300000000000000" pitchFamily="18" charset="-128"/>
                <a:cs typeface="Georgia"/>
              </a:rPr>
              <a:t>v8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Georgia"/>
              </a:rPr>
              <a:t> </a:t>
            </a:r>
            <a:r>
              <a:rPr sz="1200" spc="-35" dirty="0" err="1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算法</a:t>
            </a:r>
            <a:r>
              <a:rPr sz="1200" spc="-180" dirty="0" err="1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负担</a:t>
            </a:r>
            <a:r>
              <a:rPr sz="1200" spc="-180" dirty="0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。”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Microsoft YaHe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3464"/>
            <a:ext cx="2212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团队基础：互补型人才结构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45478" y="1053871"/>
            <a:ext cx="4317365" cy="280035"/>
            <a:chOff x="145478" y="1053871"/>
            <a:chExt cx="4317365" cy="280035"/>
          </a:xfrm>
        </p:grpSpPr>
        <p:sp>
          <p:nvSpPr>
            <p:cNvPr id="6" name="object 6"/>
            <p:cNvSpPr/>
            <p:nvPr/>
          </p:nvSpPr>
          <p:spPr>
            <a:xfrm>
              <a:off x="151828" y="1060221"/>
              <a:ext cx="4304665" cy="0"/>
            </a:xfrm>
            <a:custGeom>
              <a:avLst/>
              <a:gdLst/>
              <a:ahLst/>
              <a:cxnLst/>
              <a:rect l="l" t="t" r="r" b="b"/>
              <a:pathLst>
                <a:path w="4304665">
                  <a:moveTo>
                    <a:pt x="0" y="0"/>
                  </a:moveTo>
                  <a:lnTo>
                    <a:pt x="4304347" y="0"/>
                  </a:lnTo>
                </a:path>
              </a:pathLst>
            </a:custGeom>
            <a:ln w="12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828" y="1110106"/>
              <a:ext cx="4304665" cy="224154"/>
            </a:xfrm>
            <a:custGeom>
              <a:avLst/>
              <a:gdLst/>
              <a:ahLst/>
              <a:cxnLst/>
              <a:rect l="l" t="t" r="r" b="b"/>
              <a:pathLst>
                <a:path w="4304665" h="224155">
                  <a:moveTo>
                    <a:pt x="4304347" y="0"/>
                  </a:moveTo>
                  <a:lnTo>
                    <a:pt x="2486520" y="0"/>
                  </a:lnTo>
                  <a:lnTo>
                    <a:pt x="668693" y="0"/>
                  </a:lnTo>
                  <a:lnTo>
                    <a:pt x="0" y="0"/>
                  </a:lnTo>
                  <a:lnTo>
                    <a:pt x="0" y="223697"/>
                  </a:lnTo>
                  <a:lnTo>
                    <a:pt x="668693" y="223697"/>
                  </a:lnTo>
                  <a:lnTo>
                    <a:pt x="2486520" y="223697"/>
                  </a:lnTo>
                  <a:lnTo>
                    <a:pt x="4304347" y="223697"/>
                  </a:lnTo>
                  <a:lnTo>
                    <a:pt x="4304347" y="0"/>
                  </a:lnTo>
                  <a:close/>
                </a:path>
              </a:pathLst>
            </a:custGeom>
            <a:solidFill>
              <a:srgbClr val="F0E8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52166" y="1115452"/>
            <a:ext cx="718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latin typeface="Microsoft YaHei"/>
                <a:cs typeface="Microsoft YaHei"/>
              </a:rPr>
              <a:t>本项目职责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1828" y="1364564"/>
            <a:ext cx="4304665" cy="0"/>
          </a:xfrm>
          <a:custGeom>
            <a:avLst/>
            <a:gdLst/>
            <a:ahLst/>
            <a:cxnLst/>
            <a:rect l="l" t="t" r="r" b="b"/>
            <a:pathLst>
              <a:path w="4304665">
                <a:moveTo>
                  <a:pt x="0" y="0"/>
                </a:moveTo>
                <a:lnTo>
                  <a:pt x="4304347" y="0"/>
                </a:lnTo>
              </a:path>
            </a:pathLst>
          </a:custGeom>
          <a:ln w="7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5658" y="1115452"/>
            <a:ext cx="1816735" cy="491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Microsoft YaHei"/>
                <a:cs typeface="Microsoft YaHei"/>
              </a:rPr>
              <a:t>成</a:t>
            </a:r>
            <a:r>
              <a:rPr sz="1100" b="1" spc="-50" dirty="0">
                <a:latin typeface="Microsoft YaHei"/>
                <a:cs typeface="Microsoft YaHei"/>
              </a:rPr>
              <a:t>员</a:t>
            </a:r>
            <a:r>
              <a:rPr sz="1100" b="1" dirty="0">
                <a:latin typeface="Microsoft YaHei"/>
                <a:cs typeface="Microsoft YaHei"/>
              </a:rPr>
              <a:t>	</a:t>
            </a:r>
            <a:r>
              <a:rPr sz="1100" b="1" spc="-20" dirty="0">
                <a:latin typeface="Microsoft YaHei"/>
                <a:cs typeface="Microsoft YaHei"/>
              </a:rPr>
              <a:t>核心能</a:t>
            </a:r>
            <a:r>
              <a:rPr sz="1100" b="1" spc="-50" dirty="0">
                <a:latin typeface="Microsoft YaHei"/>
                <a:cs typeface="Microsoft YaHei"/>
              </a:rPr>
              <a:t>力</a:t>
            </a:r>
            <a:endParaRPr sz="11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680720" algn="l"/>
                <a:tab pos="1142365" algn="l"/>
                <a:tab pos="1604010" algn="l"/>
              </a:tabLst>
            </a:pPr>
            <a:r>
              <a:rPr sz="1100" b="1" spc="-20" dirty="0">
                <a:latin typeface="Microsoft YaHei"/>
                <a:cs typeface="Microsoft YaHei"/>
              </a:rPr>
              <a:t>勒方</a:t>
            </a:r>
            <a:r>
              <a:rPr sz="1100" b="1" spc="-50" dirty="0">
                <a:latin typeface="Microsoft YaHei"/>
                <a:cs typeface="Microsoft YaHei"/>
              </a:rPr>
              <a:t>舟</a:t>
            </a:r>
            <a:r>
              <a:rPr sz="1100" b="1" dirty="0">
                <a:latin typeface="Microsoft YaHei"/>
                <a:cs typeface="Microsoft YaHei"/>
              </a:rPr>
              <a:t>	</a:t>
            </a:r>
            <a:r>
              <a:rPr sz="1100" spc="-10" dirty="0">
                <a:latin typeface="Georgia"/>
                <a:cs typeface="Georgia"/>
              </a:rPr>
              <a:t>Python/MATLAB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8686" y="1417522"/>
            <a:ext cx="1983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5770" algn="l"/>
              </a:tabLst>
            </a:pPr>
            <a:r>
              <a:rPr lang="en-US" sz="1100" spc="-20" dirty="0">
                <a:latin typeface="Microsoft YaHei"/>
                <a:cs typeface="Microsoft YaHei"/>
              </a:rPr>
              <a:t>           </a:t>
            </a:r>
            <a:r>
              <a:rPr sz="1100" spc="-20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器件表征</a:t>
            </a:r>
            <a:r>
              <a:rPr lang="en-US" sz="1100" spc="-20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 </a:t>
            </a:r>
            <a:r>
              <a:rPr sz="1100" spc="-20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物理机制分</a:t>
            </a:r>
            <a:r>
              <a:rPr sz="1100" spc="-50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析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7749" y="1654175"/>
            <a:ext cx="4152900" cy="0"/>
          </a:xfrm>
          <a:custGeom>
            <a:avLst/>
            <a:gdLst/>
            <a:ahLst/>
            <a:cxnLst/>
            <a:rect l="l" t="t" r="r" b="b"/>
            <a:pathLst>
              <a:path w="4152900">
                <a:moveTo>
                  <a:pt x="0" y="0"/>
                </a:moveTo>
                <a:lnTo>
                  <a:pt x="4152506" y="0"/>
                </a:lnTo>
              </a:path>
            </a:pathLst>
          </a:custGeom>
          <a:ln w="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5658" y="1704452"/>
            <a:ext cx="2152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Microsoft YaHei"/>
                <a:cs typeface="Microsoft YaHei"/>
              </a:rPr>
              <a:t>吕佳</a:t>
            </a:r>
            <a:r>
              <a:rPr sz="1100" b="1" spc="-50" dirty="0">
                <a:latin typeface="Microsoft YaHei"/>
                <a:cs typeface="Microsoft YaHei"/>
              </a:rPr>
              <a:t>霖</a:t>
            </a:r>
            <a:r>
              <a:rPr sz="1100" b="1" dirty="0">
                <a:latin typeface="Microsoft YaHei"/>
                <a:cs typeface="Microsoft YaHei"/>
              </a:rPr>
              <a:t>	</a:t>
            </a:r>
            <a:r>
              <a:rPr sz="1100" dirty="0">
                <a:latin typeface="Georgia"/>
                <a:cs typeface="Georgia"/>
              </a:rPr>
              <a:t>STM32/FPGA</a:t>
            </a:r>
            <a:r>
              <a:rPr sz="1100" spc="-20" dirty="0">
                <a:latin typeface="Microsoft YaHei"/>
                <a:cs typeface="Microsoft YaHei"/>
              </a:rPr>
              <a:t>、</a:t>
            </a:r>
            <a:r>
              <a:rPr sz="1100" spc="-20" dirty="0">
                <a:latin typeface="Georgia"/>
                <a:cs typeface="Georgia"/>
              </a:rPr>
              <a:t>LaTeX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2166" y="1716165"/>
            <a:ext cx="15494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zh-CN" altLang="en-US" sz="1100" spc="-2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读出</a:t>
            </a:r>
            <a:r>
              <a:rPr sz="1100" spc="-25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电路设计</a:t>
            </a:r>
            <a:r>
              <a:rPr lang="en-US" sz="1100" spc="-2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 </a:t>
            </a:r>
            <a:r>
              <a:rPr sz="1100" spc="-25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系统集成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7944" y="1958975"/>
            <a:ext cx="4152900" cy="0"/>
          </a:xfrm>
          <a:custGeom>
            <a:avLst/>
            <a:gdLst/>
            <a:ahLst/>
            <a:cxnLst/>
            <a:rect l="l" t="t" r="r" b="b"/>
            <a:pathLst>
              <a:path w="4152900">
                <a:moveTo>
                  <a:pt x="0" y="0"/>
                </a:moveTo>
                <a:lnTo>
                  <a:pt x="4152506" y="0"/>
                </a:lnTo>
              </a:path>
            </a:pathLst>
          </a:custGeom>
          <a:ln w="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658" y="2013198"/>
            <a:ext cx="1895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Microsoft YaHei"/>
                <a:cs typeface="Microsoft YaHei"/>
              </a:rPr>
              <a:t>黄浩</a:t>
            </a:r>
            <a:r>
              <a:rPr sz="1100" b="1" spc="-50" dirty="0">
                <a:latin typeface="Microsoft YaHei"/>
                <a:cs typeface="Microsoft YaHei"/>
              </a:rPr>
              <a:t>天</a:t>
            </a:r>
            <a:r>
              <a:rPr sz="1100" b="1" dirty="0">
                <a:latin typeface="Microsoft YaHei"/>
                <a:cs typeface="Microsoft YaHei"/>
              </a:rPr>
              <a:t>	</a:t>
            </a:r>
            <a:r>
              <a:rPr sz="1100" dirty="0">
                <a:latin typeface="Georgia"/>
                <a:cs typeface="Georgia"/>
              </a:rPr>
              <a:t>YOLOv8</a:t>
            </a:r>
            <a:r>
              <a:rPr sz="1100" spc="-20" dirty="0">
                <a:latin typeface="Microsoft YaHei"/>
                <a:cs typeface="Microsoft YaHei"/>
              </a:rPr>
              <a:t>、</a:t>
            </a:r>
            <a:r>
              <a:rPr sz="1100" spc="-10" dirty="0">
                <a:latin typeface="Georgia"/>
                <a:cs typeface="Georgia"/>
              </a:rPr>
              <a:t>PyTorch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3767" y="2030042"/>
            <a:ext cx="1590675" cy="177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5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电脑端部署</a:t>
            </a:r>
            <a:r>
              <a:rPr lang="en-US" sz="1100" spc="-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 </a:t>
            </a:r>
            <a:r>
              <a:rPr sz="1100" spc="-5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链路搭</a:t>
            </a:r>
            <a:r>
              <a:rPr sz="1100" spc="-50" dirty="0" err="1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建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6353" y="2263775"/>
            <a:ext cx="4304665" cy="0"/>
          </a:xfrm>
          <a:custGeom>
            <a:avLst/>
            <a:gdLst/>
            <a:ahLst/>
            <a:cxnLst/>
            <a:rect l="l" t="t" r="r" b="b"/>
            <a:pathLst>
              <a:path w="4304665">
                <a:moveTo>
                  <a:pt x="0" y="0"/>
                </a:moveTo>
                <a:lnTo>
                  <a:pt x="4304347" y="0"/>
                </a:lnTo>
              </a:path>
            </a:pathLst>
          </a:custGeom>
          <a:ln w="12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Microsoft YaHei"/>
                <a:cs typeface="Microsoft YaHei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58835" y="3325230"/>
            <a:ext cx="690880" cy="1339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60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InSe</a:t>
            </a:r>
            <a:r>
              <a:rPr sz="600" spc="3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Microsoft YaHei"/>
                <a:cs typeface="Microsoft YaHei"/>
                <a:hlinkClick r:id="rId2" action="ppaction://hlinksldjump"/>
              </a:rPr>
              <a:t>光电突触器件</a:t>
            </a:r>
            <a:endParaRPr sz="6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Microsoft YaHei"/>
                <a:cs typeface="Microsoft YaHei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Microsoft YaHei"/>
                <a:cs typeface="Microsoft YaHei"/>
              </a:rPr>
              <a:t>日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9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0ED22474-005E-F9CF-B870-B06A24E05339}"/>
              </a:ext>
            </a:extLst>
          </p:cNvPr>
          <p:cNvSpPr/>
          <p:nvPr/>
        </p:nvSpPr>
        <p:spPr>
          <a:xfrm>
            <a:off x="151828" y="2353191"/>
            <a:ext cx="4406265" cy="212090"/>
          </a:xfrm>
          <a:custGeom>
            <a:avLst/>
            <a:gdLst/>
            <a:ahLst/>
            <a:cxnLst/>
            <a:rect l="l" t="t" r="r" b="b"/>
            <a:pathLst>
              <a:path w="4406265" h="212089">
                <a:moveTo>
                  <a:pt x="435519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827"/>
                </a:lnTo>
                <a:lnTo>
                  <a:pt x="4405996" y="211827"/>
                </a:lnTo>
                <a:lnTo>
                  <a:pt x="4405996" y="50800"/>
                </a:lnTo>
                <a:lnTo>
                  <a:pt x="4401987" y="31075"/>
                </a:lnTo>
                <a:lnTo>
                  <a:pt x="4391073" y="14922"/>
                </a:lnTo>
                <a:lnTo>
                  <a:pt x="4374920" y="4008"/>
                </a:lnTo>
                <a:lnTo>
                  <a:pt x="4355195" y="0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53DA6FF-785C-4FC3-4710-4E461BEFB123}"/>
              </a:ext>
            </a:extLst>
          </p:cNvPr>
          <p:cNvSpPr txBox="1"/>
          <p:nvPr/>
        </p:nvSpPr>
        <p:spPr>
          <a:xfrm>
            <a:off x="202629" y="2357346"/>
            <a:ext cx="759460" cy="200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200" b="1" spc="-30" dirty="0">
                <a:solidFill>
                  <a:srgbClr val="FFFFFF"/>
                </a:solidFill>
                <a:latin typeface="Microsoft YaHei"/>
                <a:cs typeface="Microsoft YaHei"/>
              </a:rPr>
              <a:t>实验室支撑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29" name="object 8">
            <a:extLst>
              <a:ext uri="{FF2B5EF4-FFF2-40B4-BE49-F238E27FC236}">
                <a16:creationId xmlns:a16="http://schemas.microsoft.com/office/drawing/2014/main" id="{C6D5D897-4DE8-90B9-227D-26D9A8CC5E8B}"/>
              </a:ext>
            </a:extLst>
          </p:cNvPr>
          <p:cNvGrpSpPr/>
          <p:nvPr/>
        </p:nvGrpSpPr>
        <p:grpSpPr>
          <a:xfrm>
            <a:off x="151828" y="2552366"/>
            <a:ext cx="4406265" cy="446876"/>
            <a:chOff x="101027" y="2304288"/>
            <a:chExt cx="4406265" cy="446876"/>
          </a:xfrm>
        </p:grpSpPr>
        <p:pic>
          <p:nvPicPr>
            <p:cNvPr id="30" name="object 9">
              <a:extLst>
                <a:ext uri="{FF2B5EF4-FFF2-40B4-BE49-F238E27FC236}">
                  <a16:creationId xmlns:a16="http://schemas.microsoft.com/office/drawing/2014/main" id="{46C3FF2D-4D98-C193-27A9-82DF75EF23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27" y="2304288"/>
              <a:ext cx="4405996" cy="50609"/>
            </a:xfrm>
            <a:prstGeom prst="rect">
              <a:avLst/>
            </a:prstGeom>
          </p:spPr>
        </p:pic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95A24D78-C7A8-AA2C-4018-60FCF50E50B9}"/>
                </a:ext>
              </a:extLst>
            </p:cNvPr>
            <p:cNvSpPr/>
            <p:nvPr/>
          </p:nvSpPr>
          <p:spPr>
            <a:xfrm>
              <a:off x="101027" y="2348574"/>
              <a:ext cx="4406265" cy="402590"/>
            </a:xfrm>
            <a:custGeom>
              <a:avLst/>
              <a:gdLst/>
              <a:ahLst/>
              <a:cxnLst/>
              <a:rect l="l" t="t" r="r" b="b"/>
              <a:pathLst>
                <a:path w="4406265" h="402589">
                  <a:moveTo>
                    <a:pt x="4405996" y="0"/>
                  </a:moveTo>
                  <a:lnTo>
                    <a:pt x="0" y="0"/>
                  </a:lnTo>
                  <a:lnTo>
                    <a:pt x="0" y="351559"/>
                  </a:lnTo>
                  <a:lnTo>
                    <a:pt x="4008" y="371284"/>
                  </a:lnTo>
                  <a:lnTo>
                    <a:pt x="14922" y="387437"/>
                  </a:lnTo>
                  <a:lnTo>
                    <a:pt x="31075" y="398351"/>
                  </a:lnTo>
                  <a:lnTo>
                    <a:pt x="50800" y="402359"/>
                  </a:lnTo>
                  <a:lnTo>
                    <a:pt x="4355195" y="402359"/>
                  </a:lnTo>
                  <a:lnTo>
                    <a:pt x="4374920" y="398351"/>
                  </a:lnTo>
                  <a:lnTo>
                    <a:pt x="4391073" y="387437"/>
                  </a:lnTo>
                  <a:lnTo>
                    <a:pt x="4401987" y="371284"/>
                  </a:lnTo>
                  <a:lnTo>
                    <a:pt x="4405996" y="351559"/>
                  </a:lnTo>
                  <a:lnTo>
                    <a:pt x="4405996" y="0"/>
                  </a:lnTo>
                  <a:close/>
                </a:path>
              </a:pathLst>
            </a:custGeom>
            <a:solidFill>
              <a:srgbClr val="F0E8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2">
            <a:extLst>
              <a:ext uri="{FF2B5EF4-FFF2-40B4-BE49-F238E27FC236}">
                <a16:creationId xmlns:a16="http://schemas.microsoft.com/office/drawing/2014/main" id="{2AA5A3F7-674D-DCD9-7A45-ECD9004A8FAC}"/>
              </a:ext>
            </a:extLst>
          </p:cNvPr>
          <p:cNvSpPr txBox="1"/>
          <p:nvPr/>
        </p:nvSpPr>
        <p:spPr>
          <a:xfrm>
            <a:off x="202629" y="2585612"/>
            <a:ext cx="440626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46685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依托电光学院超快光电实验室，具备完整的机械剥离、微纳加工及半导体测试分析设备</a:t>
            </a:r>
            <a:r>
              <a:rPr sz="1200" spc="-25" dirty="0">
                <a:latin typeface="Microsoft YaHei"/>
                <a:cs typeface="Microsoft YaHei"/>
              </a:rPr>
              <a:t>。</a:t>
            </a:r>
            <a:endParaRPr sz="1200" dirty="0">
              <a:latin typeface="Microsoft YaHei"/>
              <a:cs typeface="Microsoft YaHe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0312" y="927695"/>
            <a:ext cx="1847850" cy="604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>
              <a:lnSpc>
                <a:spcPts val="2890"/>
              </a:lnSpc>
              <a:spcBef>
                <a:spcPts val="125"/>
              </a:spcBef>
            </a:pPr>
            <a:r>
              <a:rPr sz="2450" spc="-10" dirty="0">
                <a:solidFill>
                  <a:srgbClr val="701A5E"/>
                </a:solidFill>
              </a:rPr>
              <a:t>谢谢大家！</a:t>
            </a:r>
            <a:endParaRPr sz="2450"/>
          </a:p>
          <a:p>
            <a:pPr marL="12700">
              <a:lnSpc>
                <a:spcPts val="1630"/>
              </a:lnSpc>
            </a:pPr>
            <a:r>
              <a:rPr b="0" spc="-5" dirty="0">
                <a:solidFill>
                  <a:srgbClr val="000000"/>
                </a:solidFill>
                <a:latin typeface="Microsoft YaHei"/>
                <a:cs typeface="Microsoft YaHei"/>
              </a:rPr>
              <a:t>敬请各位老师批评指正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754" y="1730375"/>
            <a:ext cx="1224965" cy="3828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4073825-4E82-2AE3-9345-E8D5D5743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10" y="938287"/>
            <a:ext cx="252028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环境感知与灵敏度调节闭环 (Control Loop)</a:t>
            </a:r>
            <a:endParaRPr kumimoji="0" lang="zh-CN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[环境光采样]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：外部传感器（如光敏电阻或辅助器件）捕获环境光强。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[ADC 数字化]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：模拟信号转为数字量输入 FPGA。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[FPGA 自适应算法模块]</a:t>
            </a:r>
            <a:r>
              <a:rPr lang="en-US" altLang="zh-CN" sz="6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      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数字滤波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：平滑光强波动。</a:t>
            </a:r>
            <a:endParaRPr kumimoji="0" lang="en-US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600" b="1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       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查找表 (LUT) 映射：根据光强计算最优栅极电压 V</a:t>
            </a:r>
            <a:r>
              <a:rPr kumimoji="0" lang="en-US" altLang="zh-CN" sz="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[DAC/PWM 输出]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：FPGA 输出控制信号，通过 DAC 或 PWM 电路转化为模拟电压 V</a:t>
            </a:r>
            <a:r>
              <a:rPr kumimoji="0" lang="en-US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[反馈作用]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：V</a:t>
            </a:r>
            <a:r>
              <a:rPr kumimoji="0" lang="en-US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实时调节二维材料突触器件的灵敏度，完成“自适应”。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7A34D0-4CA2-AA67-DF0C-C0155BED0EC8}"/>
              </a:ext>
            </a:extLst>
          </p:cNvPr>
          <p:cNvSpPr txBox="1"/>
          <p:nvPr/>
        </p:nvSpPr>
        <p:spPr>
          <a:xfrm>
            <a:off x="144810" y="1730375"/>
            <a:ext cx="230477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2</a:t>
            </a: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图像获取与重建数据流 (Data Pipeline)</a:t>
            </a:r>
            <a:endParaRPr kumimoji="0" lang="zh-CN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[TTFS 时间编码]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各像素点根据光强产生漏电流。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DRAM 电容放电，触发反相器产生电脉冲（Spike）。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[FPGA 并行捕捉 (TDC)]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Reset 信号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：FPGA 发出全局复位，所有计数器清零并开始计时。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Spike 触发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：当各通道收到脉冲，FPGA 立即锁存当前计数器的值，得到 </a:t>
            </a:r>
            <a:r>
              <a:rPr kumimoji="0" lang="en-US" altLang="zh-CN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</a:t>
            </a:r>
            <a:r>
              <a:rPr kumimoji="0" lang="en-US" altLang="zh-CN" sz="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fire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[图像还原逻辑]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灰度映射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：将 </a:t>
            </a:r>
            <a:r>
              <a:rPr kumimoji="0" lang="en-US" altLang="zh-CN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</a:t>
            </a:r>
            <a:r>
              <a:rPr kumimoji="0" lang="en-US" altLang="zh-CN" sz="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fire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时间值转换为 0-255 的像素灰度。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帧缓存 (BRAM)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：将各点像素存入内存，组合成一帧完整的图像。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7A7DF7-7D15-AB87-6D91-F05220531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441" y="650255"/>
            <a:ext cx="1656184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800" dirty="0">
                <a:highlight>
                  <a:srgbClr val="FF0000"/>
                </a:highlight>
              </a:rPr>
              <a:t>TTFS</a:t>
            </a:r>
            <a:r>
              <a:rPr lang="zh-CN" altLang="en-US" sz="800" dirty="0">
                <a:highlight>
                  <a:srgbClr val="FF0000"/>
                </a:highlight>
              </a:rPr>
              <a:t>编码</a:t>
            </a:r>
            <a:endParaRPr kumimoji="0" lang="en-US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重置/静息电位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：通过写入电压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V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w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，将电容电压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V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c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设定到一个较高的初始值</a:t>
            </a:r>
            <a:endParaRPr kumimoji="0" lang="zh-CN" altLang="zh-CN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整合过程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：在没有强输入时，晶体管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T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1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处于亚阈值区，存在一个微小的</a:t>
            </a: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漏电流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I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leakage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。这个漏电流会使电容缓慢放电，导致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V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c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</a:t>
            </a: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线性下降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发放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：当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V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c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下降到反相器的阈值电压 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V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th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时，神经元“发放”一个输出脉冲。</a:t>
            </a: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首次发放的时间 </a:t>
            </a:r>
            <a:r>
              <a:rPr kumimoji="0" lang="zh-CN" altLang="zh-CN" sz="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/>
              </a:rPr>
              <a:t>t_fire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就编码了信息</a:t>
            </a:r>
            <a:r>
              <a:rPr kumimoji="0" lang="zh-CN" altLang="zh-CN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F10938-CC22-7325-AC2E-36D656AFCB73}"/>
              </a:ext>
            </a:extLst>
          </p:cNvPr>
          <p:cNvSpPr txBox="1"/>
          <p:nvPr/>
        </p:nvSpPr>
        <p:spPr>
          <a:xfrm>
            <a:off x="2776441" y="2257406"/>
            <a:ext cx="1583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highlight>
                  <a:srgbClr val="FF0000"/>
                </a:highlight>
              </a:rPr>
              <a:t>模拟适应（以暗适应为例）</a:t>
            </a:r>
          </a:p>
          <a:p>
            <a:pPr lvl="1"/>
            <a:r>
              <a:rPr lang="zh-CN" altLang="en-US" sz="700" b="1" dirty="0">
                <a:highlight>
                  <a:srgbClr val="FF0000"/>
                </a:highlight>
              </a:rPr>
              <a:t>提高 </a:t>
            </a:r>
            <a:r>
              <a:rPr lang="en-US" altLang="zh-CN" sz="700" b="1" dirty="0">
                <a:highlight>
                  <a:srgbClr val="FF0000"/>
                </a:highlight>
              </a:rPr>
              <a:t>V</a:t>
            </a:r>
            <a:r>
              <a:rPr lang="en-US" altLang="zh-CN" sz="600" b="1" dirty="0">
                <a:highlight>
                  <a:srgbClr val="FF0000"/>
                </a:highlight>
              </a:rPr>
              <a:t>s</a:t>
            </a:r>
            <a:r>
              <a:rPr lang="zh-CN" altLang="en-US" sz="700" b="1" dirty="0">
                <a:highlight>
                  <a:srgbClr val="FF0000"/>
                </a:highlight>
              </a:rPr>
              <a:t> 的电压</a:t>
            </a:r>
            <a:r>
              <a:rPr lang="zh-CN" altLang="en-US" sz="700" dirty="0">
                <a:highlight>
                  <a:srgbClr val="FF0000"/>
                </a:highlight>
              </a:rPr>
              <a:t>，得晶体管 </a:t>
            </a:r>
            <a:r>
              <a:rPr lang="en-US" altLang="zh-CN" sz="700" dirty="0">
                <a:highlight>
                  <a:srgbClr val="FF0000"/>
                </a:highlight>
              </a:rPr>
              <a:t>T</a:t>
            </a:r>
            <a:r>
              <a:rPr lang="en-US" altLang="zh-CN" sz="500" dirty="0">
                <a:highlight>
                  <a:srgbClr val="FF0000"/>
                </a:highlight>
              </a:rPr>
              <a:t>1</a:t>
            </a:r>
            <a:r>
              <a:rPr lang="zh-CN" altLang="en-US" sz="700" dirty="0">
                <a:highlight>
                  <a:srgbClr val="FF0000"/>
                </a:highlight>
              </a:rPr>
              <a:t> 更易导通，增大了漏电流 </a:t>
            </a:r>
            <a:r>
              <a:rPr lang="en-US" altLang="zh-CN" sz="700" dirty="0" err="1">
                <a:highlight>
                  <a:srgbClr val="FF0000"/>
                </a:highlight>
              </a:rPr>
              <a:t>I</a:t>
            </a:r>
            <a:r>
              <a:rPr lang="en-US" altLang="zh-CN" sz="500" dirty="0" err="1">
                <a:highlight>
                  <a:srgbClr val="FF0000"/>
                </a:highlight>
              </a:rPr>
              <a:t>leakage</a:t>
            </a:r>
            <a:r>
              <a:rPr lang="zh-CN" altLang="en-US" sz="700" dirty="0">
                <a:highlight>
                  <a:srgbClr val="FF0000"/>
                </a:highlight>
              </a:rPr>
              <a:t>。</a:t>
            </a:r>
            <a:endParaRPr lang="en-US" altLang="zh-CN" sz="700" dirty="0">
              <a:highlight>
                <a:srgbClr val="FF0000"/>
              </a:highlight>
            </a:endParaRPr>
          </a:p>
          <a:p>
            <a:pPr lvl="1"/>
            <a:r>
              <a:rPr lang="zh-CN" altLang="en-US" sz="700" dirty="0">
                <a:highlight>
                  <a:srgbClr val="FF0000"/>
                </a:highlight>
              </a:rPr>
              <a:t>电容 </a:t>
            </a:r>
            <a:r>
              <a:rPr lang="en-US" altLang="zh-CN" sz="700" dirty="0" err="1">
                <a:highlight>
                  <a:srgbClr val="FF0000"/>
                </a:highlight>
              </a:rPr>
              <a:t>V</a:t>
            </a:r>
            <a:r>
              <a:rPr lang="en-US" altLang="zh-CN" sz="600" dirty="0" err="1">
                <a:highlight>
                  <a:srgbClr val="FF0000"/>
                </a:highlight>
              </a:rPr>
              <a:t>c</a:t>
            </a:r>
            <a:r>
              <a:rPr lang="zh-CN" altLang="en-US" sz="700" dirty="0">
                <a:highlight>
                  <a:srgbClr val="FF0000"/>
                </a:highlight>
              </a:rPr>
              <a:t> 下降得更快，神经元在更弱的光照下就能更快地达到发放阈值，即</a:t>
            </a:r>
            <a:r>
              <a:rPr lang="zh-CN" altLang="en-US" sz="700" b="1" dirty="0">
                <a:highlight>
                  <a:srgbClr val="FF0000"/>
                </a:highlight>
              </a:rPr>
              <a:t> </a:t>
            </a:r>
            <a:r>
              <a:rPr lang="en-US" altLang="zh-CN" sz="700" b="1" dirty="0" err="1">
                <a:highlight>
                  <a:srgbClr val="FF0000"/>
                </a:highlight>
              </a:rPr>
              <a:t>t</a:t>
            </a:r>
            <a:r>
              <a:rPr lang="en-US" altLang="zh-CN" sz="500" b="1" dirty="0" err="1">
                <a:highlight>
                  <a:srgbClr val="FF0000"/>
                </a:highlight>
              </a:rPr>
              <a:t>fire</a:t>
            </a:r>
            <a:r>
              <a:rPr lang="zh-CN" altLang="en-US" sz="700" b="1" dirty="0">
                <a:highlight>
                  <a:srgbClr val="FF0000"/>
                </a:highlight>
              </a:rPr>
              <a:t> 提前</a:t>
            </a:r>
            <a:r>
              <a:rPr lang="zh-CN" altLang="en-US" sz="700" dirty="0">
                <a:highlight>
                  <a:srgbClr val="FF0000"/>
                </a:highlight>
              </a:rPr>
              <a:t>。</a:t>
            </a:r>
            <a:r>
              <a:rPr lang="zh-CN" altLang="en-US" sz="700" b="1" dirty="0">
                <a:highlight>
                  <a:srgbClr val="FF0000"/>
                </a:highlight>
              </a:rPr>
              <a:t>系统对光敏感提高</a:t>
            </a:r>
            <a:r>
              <a:rPr lang="zh-CN" altLang="en-US" sz="700" dirty="0">
                <a:highlight>
                  <a:srgbClr val="FF0000"/>
                </a:highlight>
              </a:rPr>
              <a:t>，能够看到更暗环境下的图像。</a:t>
            </a:r>
          </a:p>
          <a:p>
            <a:endParaRPr lang="zh-CN" altLang="en-US" sz="600" dirty="0"/>
          </a:p>
        </p:txBody>
      </p:sp>
    </p:spTree>
    <p:extLst>
      <p:ext uri="{BB962C8B-B14F-4D97-AF65-F5344CB8AC3E}">
        <p14:creationId xmlns:p14="http://schemas.microsoft.com/office/powerpoint/2010/main" val="205564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大创 FINAL Version</Template>
  <TotalTime>5398</TotalTime>
  <Words>977</Words>
  <Application>Microsoft Office PowerPoint</Application>
  <PresentationFormat>自定义</PresentationFormat>
  <Paragraphs>144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Adobe Ming Std L</vt:lpstr>
      <vt:lpstr>Adobe 宋体 Std L</vt:lpstr>
      <vt:lpstr>Arial Unicode MS</vt:lpstr>
      <vt:lpstr>等线</vt:lpstr>
      <vt:lpstr>方正姚体</vt:lpstr>
      <vt:lpstr>华文楷体</vt:lpstr>
      <vt:lpstr>宋体</vt:lpstr>
      <vt:lpstr>Microsoft YaHei</vt:lpstr>
      <vt:lpstr>Microsoft YaHei</vt:lpstr>
      <vt:lpstr>Arial</vt:lpstr>
      <vt:lpstr>Georgia</vt:lpstr>
      <vt:lpstr>Nirmala Text</vt:lpstr>
      <vt:lpstr>Wingdings</vt:lpstr>
      <vt:lpstr>Office 主题​​</vt:lpstr>
      <vt:lpstr>PowerPoint 演示文稿</vt:lpstr>
      <vt:lpstr>研究背景</vt:lpstr>
      <vt:lpstr>研究背景</vt:lpstr>
      <vt:lpstr>解决方案</vt:lpstr>
      <vt:lpstr>核心机制：InSe突触的光电特性</vt:lpstr>
      <vt:lpstr>实验内容：感内计算算法实现</vt:lpstr>
      <vt:lpstr>结果验证：识别系统的训练与验证</vt:lpstr>
      <vt:lpstr>创新点一：应用驱动的器件研究</vt:lpstr>
      <vt:lpstr>团队基础：互补型人才结构</vt:lpstr>
      <vt:lpstr>谢谢大家！ 敬请各位老师批评指正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fangzhou le</dc:creator>
  <cp:lastModifiedBy>fangzhou le</cp:lastModifiedBy>
  <cp:revision>39</cp:revision>
  <dcterms:created xsi:type="dcterms:W3CDTF">2026-04-09T01:16:29Z</dcterms:created>
  <dcterms:modified xsi:type="dcterms:W3CDTF">2026-04-15T14:57:28Z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2026-04-09T00:00:00Z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2026-04-09T00:00:00Z</vt:filetime>
  </property>
</Properties>
</file>