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74" r:id="rId4"/>
    <p:sldId id="259" r:id="rId5"/>
    <p:sldId id="278" r:id="rId6"/>
    <p:sldId id="276" r:id="rId7"/>
    <p:sldId id="275" r:id="rId8"/>
    <p:sldId id="262" r:id="rId9"/>
    <p:sldId id="267" r:id="rId10"/>
    <p:sldId id="270" r:id="rId11"/>
  </p:sldIdLst>
  <p:sldSz cx="4610100" cy="3460750"/>
  <p:notesSz cx="4610100" cy="346075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默认节" id="{AA1AEBF7-2FD8-4F30-8F0A-1D728DC7C787}">
          <p14:sldIdLst>
            <p14:sldId id="256"/>
            <p14:sldId id="258"/>
            <p14:sldId id="274"/>
            <p14:sldId id="259"/>
            <p14:sldId id="278"/>
            <p14:sldId id="276"/>
            <p14:sldId id="275"/>
            <p14:sldId id="262"/>
          </p14:sldIdLst>
        </p14:section>
        <p14:section name="无标题节" id="{06E2CCF4-C414-4CB2-ABCB-529E3822D2AC}">
          <p14:sldIdLst>
            <p14:sldId id="267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EF"/>
    <a:srgbClr val="CFD2D6"/>
    <a:srgbClr val="FFFFFF"/>
    <a:srgbClr val="060606"/>
    <a:srgbClr val="CED3D7"/>
    <a:srgbClr val="F2F1EF"/>
    <a:srgbClr val="A2A3A2"/>
    <a:srgbClr val="D2D3D7"/>
    <a:srgbClr val="020305"/>
    <a:srgbClr val="D0D3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9" autoAdjust="0"/>
    <p:restoredTop sz="94660"/>
  </p:normalViewPr>
  <p:slideViewPr>
    <p:cSldViewPr showGuides="1">
      <p:cViewPr varScale="1">
        <p:scale>
          <a:sx n="178" d="100"/>
          <a:sy n="178" d="100"/>
        </p:scale>
        <p:origin x="987" y="69"/>
      </p:cViewPr>
      <p:guideLst>
        <p:guide orient="horz" pos="2880"/>
        <p:guide pos="21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46E02C-B2DF-451A-9950-32ACA06C325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9F59A-3440-4CE2-BDC3-D157033437E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F59A-3440-4CE2-BDC3-D157033437E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F59A-3440-4CE2-BDC3-D157033437E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F59A-3440-4CE2-BDC3-D157033437E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971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微软雅黑" panose="020B0503020204020204" charset="-122"/>
                <a:cs typeface="微软雅黑" panose="020B0503020204020204" charset="-122"/>
              </a:rPr>
              <a:t>日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微软雅黑" panose="020B0503020204020204" charset="-122"/>
                <a:cs typeface="微软雅黑" panose="020B0503020204020204" charset="-122"/>
              </a:rPr>
              <a:t>勒方舟等 </a:t>
            </a:r>
            <a:r>
              <a:rPr spc="75" dirty="0"/>
              <a:t>(NKU)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  <a:t>‹#›</a:t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微软雅黑" panose="020B0503020204020204" charset="-122"/>
                <a:cs typeface="微软雅黑" panose="020B0503020204020204" charset="-122"/>
              </a:rPr>
              <a:t>日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微软雅黑" panose="020B0503020204020204" charset="-122"/>
                <a:cs typeface="微软雅黑" panose="020B0503020204020204" charset="-122"/>
              </a:rPr>
              <a:t>勒方舟等 </a:t>
            </a:r>
            <a:r>
              <a:rPr spc="75" dirty="0"/>
              <a:t>(NKU)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  <a:t>‹#›</a:t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微软雅黑" panose="020B0503020204020204" charset="-122"/>
                <a:cs typeface="微软雅黑" panose="020B0503020204020204" charset="-122"/>
              </a:rPr>
              <a:t>日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微软雅黑" panose="020B0503020204020204" charset="-122"/>
                <a:cs typeface="微软雅黑" panose="020B0503020204020204" charset="-122"/>
              </a:rPr>
              <a:t>勒方舟等 </a:t>
            </a:r>
            <a:r>
              <a:rPr spc="75" dirty="0"/>
              <a:t>(NKU)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  <a:t>‹#›</a:t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420110" cy="467995"/>
          </a:xfrm>
          <a:custGeom>
            <a:avLst/>
            <a:gdLst/>
            <a:ahLst/>
            <a:cxnLst/>
            <a:rect l="l" t="t" r="r" b="b"/>
            <a:pathLst>
              <a:path w="3420110" h="467995">
                <a:moveTo>
                  <a:pt x="0" y="467700"/>
                </a:moveTo>
                <a:lnTo>
                  <a:pt x="90000" y="467700"/>
                </a:lnTo>
                <a:lnTo>
                  <a:pt x="180002" y="311813"/>
                </a:lnTo>
                <a:lnTo>
                  <a:pt x="90000" y="155926"/>
                </a:lnTo>
                <a:lnTo>
                  <a:pt x="0" y="155926"/>
                </a:lnTo>
              </a:path>
              <a:path w="3420110" h="467995">
                <a:moveTo>
                  <a:pt x="0" y="155937"/>
                </a:moveTo>
                <a:lnTo>
                  <a:pt x="90000" y="155937"/>
                </a:lnTo>
                <a:lnTo>
                  <a:pt x="180002" y="0"/>
                </a:lnTo>
              </a:path>
              <a:path w="3420110" h="467995">
                <a:moveTo>
                  <a:pt x="450005" y="155931"/>
                </a:moveTo>
                <a:lnTo>
                  <a:pt x="360004" y="45"/>
                </a:lnTo>
                <a:lnTo>
                  <a:pt x="180002" y="45"/>
                </a:lnTo>
                <a:lnTo>
                  <a:pt x="90001" y="155931"/>
                </a:lnTo>
                <a:lnTo>
                  <a:pt x="180002" y="311818"/>
                </a:lnTo>
                <a:lnTo>
                  <a:pt x="360004" y="311818"/>
                </a:lnTo>
                <a:lnTo>
                  <a:pt x="450005" y="155931"/>
                </a:lnTo>
              </a:path>
              <a:path w="3420110" h="467995">
                <a:moveTo>
                  <a:pt x="180002" y="0"/>
                </a:moveTo>
                <a:lnTo>
                  <a:pt x="360004" y="0"/>
                </a:lnTo>
              </a:path>
              <a:path w="3420110" h="467995">
                <a:moveTo>
                  <a:pt x="720008" y="311813"/>
                </a:moveTo>
                <a:lnTo>
                  <a:pt x="630007" y="155926"/>
                </a:lnTo>
                <a:lnTo>
                  <a:pt x="450005" y="155926"/>
                </a:lnTo>
                <a:lnTo>
                  <a:pt x="360004" y="311813"/>
                </a:lnTo>
                <a:lnTo>
                  <a:pt x="450005" y="467700"/>
                </a:lnTo>
                <a:lnTo>
                  <a:pt x="630007" y="467700"/>
                </a:lnTo>
                <a:lnTo>
                  <a:pt x="720008" y="311813"/>
                </a:lnTo>
              </a:path>
              <a:path w="3420110" h="467995">
                <a:moveTo>
                  <a:pt x="360004" y="0"/>
                </a:moveTo>
                <a:lnTo>
                  <a:pt x="450005" y="155937"/>
                </a:lnTo>
                <a:lnTo>
                  <a:pt x="630007" y="155937"/>
                </a:lnTo>
                <a:lnTo>
                  <a:pt x="720008" y="0"/>
                </a:lnTo>
              </a:path>
              <a:path w="3420110" h="467995">
                <a:moveTo>
                  <a:pt x="990012" y="155931"/>
                </a:moveTo>
                <a:lnTo>
                  <a:pt x="900011" y="45"/>
                </a:lnTo>
                <a:lnTo>
                  <a:pt x="720009" y="45"/>
                </a:lnTo>
                <a:lnTo>
                  <a:pt x="630008" y="155931"/>
                </a:lnTo>
                <a:lnTo>
                  <a:pt x="720009" y="311818"/>
                </a:lnTo>
                <a:lnTo>
                  <a:pt x="900011" y="311818"/>
                </a:lnTo>
                <a:lnTo>
                  <a:pt x="990012" y="155931"/>
                </a:lnTo>
              </a:path>
              <a:path w="3420110" h="467995">
                <a:moveTo>
                  <a:pt x="720009" y="0"/>
                </a:moveTo>
                <a:lnTo>
                  <a:pt x="900011" y="0"/>
                </a:lnTo>
              </a:path>
              <a:path w="3420110" h="467995">
                <a:moveTo>
                  <a:pt x="1260015" y="311813"/>
                </a:moveTo>
                <a:lnTo>
                  <a:pt x="1170014" y="155926"/>
                </a:lnTo>
                <a:lnTo>
                  <a:pt x="990012" y="155926"/>
                </a:lnTo>
                <a:lnTo>
                  <a:pt x="900011" y="311813"/>
                </a:lnTo>
                <a:lnTo>
                  <a:pt x="990012" y="467700"/>
                </a:lnTo>
                <a:lnTo>
                  <a:pt x="1170014" y="467700"/>
                </a:lnTo>
                <a:lnTo>
                  <a:pt x="1260015" y="311813"/>
                </a:lnTo>
              </a:path>
              <a:path w="3420110" h="467995">
                <a:moveTo>
                  <a:pt x="900011" y="0"/>
                </a:moveTo>
                <a:lnTo>
                  <a:pt x="990012" y="155937"/>
                </a:lnTo>
                <a:lnTo>
                  <a:pt x="1170014" y="155937"/>
                </a:lnTo>
                <a:lnTo>
                  <a:pt x="1260015" y="0"/>
                </a:lnTo>
              </a:path>
              <a:path w="3420110" h="467995">
                <a:moveTo>
                  <a:pt x="1530019" y="155931"/>
                </a:moveTo>
                <a:lnTo>
                  <a:pt x="1440018" y="45"/>
                </a:lnTo>
                <a:lnTo>
                  <a:pt x="1260016" y="45"/>
                </a:lnTo>
                <a:lnTo>
                  <a:pt x="1170015" y="155931"/>
                </a:lnTo>
                <a:lnTo>
                  <a:pt x="1260016" y="311818"/>
                </a:lnTo>
                <a:lnTo>
                  <a:pt x="1440018" y="311818"/>
                </a:lnTo>
                <a:lnTo>
                  <a:pt x="1530019" y="155931"/>
                </a:lnTo>
              </a:path>
              <a:path w="3420110" h="467995">
                <a:moveTo>
                  <a:pt x="1260016" y="0"/>
                </a:moveTo>
                <a:lnTo>
                  <a:pt x="1440018" y="0"/>
                </a:lnTo>
              </a:path>
              <a:path w="3420110" h="467995">
                <a:moveTo>
                  <a:pt x="1800022" y="311813"/>
                </a:moveTo>
                <a:lnTo>
                  <a:pt x="1710021" y="155926"/>
                </a:lnTo>
                <a:lnTo>
                  <a:pt x="1530019" y="155926"/>
                </a:lnTo>
                <a:lnTo>
                  <a:pt x="1440018" y="311813"/>
                </a:lnTo>
                <a:lnTo>
                  <a:pt x="1530019" y="467700"/>
                </a:lnTo>
                <a:lnTo>
                  <a:pt x="1710021" y="467700"/>
                </a:lnTo>
                <a:lnTo>
                  <a:pt x="1800022" y="311813"/>
                </a:lnTo>
              </a:path>
              <a:path w="3420110" h="467995">
                <a:moveTo>
                  <a:pt x="1440018" y="0"/>
                </a:moveTo>
                <a:lnTo>
                  <a:pt x="1530019" y="155937"/>
                </a:lnTo>
                <a:lnTo>
                  <a:pt x="1710021" y="155937"/>
                </a:lnTo>
                <a:lnTo>
                  <a:pt x="1800022" y="0"/>
                </a:lnTo>
              </a:path>
              <a:path w="3420110" h="467995">
                <a:moveTo>
                  <a:pt x="2070026" y="155931"/>
                </a:moveTo>
                <a:lnTo>
                  <a:pt x="1980025" y="45"/>
                </a:lnTo>
                <a:lnTo>
                  <a:pt x="1800023" y="45"/>
                </a:lnTo>
                <a:lnTo>
                  <a:pt x="1710022" y="155931"/>
                </a:lnTo>
                <a:lnTo>
                  <a:pt x="1800023" y="311818"/>
                </a:lnTo>
                <a:lnTo>
                  <a:pt x="1980025" y="311818"/>
                </a:lnTo>
                <a:lnTo>
                  <a:pt x="2070026" y="155931"/>
                </a:lnTo>
              </a:path>
              <a:path w="3420110" h="467995">
                <a:moveTo>
                  <a:pt x="1800023" y="0"/>
                </a:moveTo>
                <a:lnTo>
                  <a:pt x="1980025" y="0"/>
                </a:lnTo>
              </a:path>
              <a:path w="3420110" h="467995">
                <a:moveTo>
                  <a:pt x="2340029" y="311813"/>
                </a:moveTo>
                <a:lnTo>
                  <a:pt x="2250028" y="155926"/>
                </a:lnTo>
                <a:lnTo>
                  <a:pt x="2070026" y="155926"/>
                </a:lnTo>
                <a:lnTo>
                  <a:pt x="1980025" y="311813"/>
                </a:lnTo>
                <a:lnTo>
                  <a:pt x="2070026" y="467700"/>
                </a:lnTo>
                <a:lnTo>
                  <a:pt x="2250028" y="467700"/>
                </a:lnTo>
                <a:lnTo>
                  <a:pt x="2340029" y="311813"/>
                </a:lnTo>
              </a:path>
              <a:path w="3420110" h="467995">
                <a:moveTo>
                  <a:pt x="1980025" y="0"/>
                </a:moveTo>
                <a:lnTo>
                  <a:pt x="2070026" y="155937"/>
                </a:lnTo>
                <a:lnTo>
                  <a:pt x="2250028" y="155937"/>
                </a:lnTo>
                <a:lnTo>
                  <a:pt x="2340029" y="0"/>
                </a:lnTo>
              </a:path>
              <a:path w="3420110" h="467995">
                <a:moveTo>
                  <a:pt x="2610033" y="155931"/>
                </a:moveTo>
                <a:lnTo>
                  <a:pt x="2520032" y="45"/>
                </a:lnTo>
                <a:lnTo>
                  <a:pt x="2340029" y="45"/>
                </a:lnTo>
                <a:lnTo>
                  <a:pt x="2250028" y="155931"/>
                </a:lnTo>
                <a:lnTo>
                  <a:pt x="2340029" y="311818"/>
                </a:lnTo>
                <a:lnTo>
                  <a:pt x="2520032" y="311818"/>
                </a:lnTo>
                <a:lnTo>
                  <a:pt x="2610033" y="155931"/>
                </a:lnTo>
              </a:path>
              <a:path w="3420110" h="467995">
                <a:moveTo>
                  <a:pt x="2340029" y="0"/>
                </a:moveTo>
                <a:lnTo>
                  <a:pt x="2520032" y="0"/>
                </a:lnTo>
              </a:path>
              <a:path w="3420110" h="467995">
                <a:moveTo>
                  <a:pt x="2880036" y="311813"/>
                </a:moveTo>
                <a:lnTo>
                  <a:pt x="2790035" y="155926"/>
                </a:lnTo>
                <a:lnTo>
                  <a:pt x="2610033" y="155926"/>
                </a:lnTo>
                <a:lnTo>
                  <a:pt x="2520032" y="311813"/>
                </a:lnTo>
                <a:lnTo>
                  <a:pt x="2610033" y="467700"/>
                </a:lnTo>
                <a:lnTo>
                  <a:pt x="2790035" y="467700"/>
                </a:lnTo>
                <a:lnTo>
                  <a:pt x="2880036" y="311813"/>
                </a:lnTo>
              </a:path>
              <a:path w="3420110" h="467995">
                <a:moveTo>
                  <a:pt x="2520032" y="0"/>
                </a:moveTo>
                <a:lnTo>
                  <a:pt x="2610033" y="155937"/>
                </a:lnTo>
                <a:lnTo>
                  <a:pt x="2790035" y="155937"/>
                </a:lnTo>
                <a:lnTo>
                  <a:pt x="2880036" y="0"/>
                </a:lnTo>
              </a:path>
              <a:path w="3420110" h="467995">
                <a:moveTo>
                  <a:pt x="3150040" y="155931"/>
                </a:moveTo>
                <a:lnTo>
                  <a:pt x="3060038" y="45"/>
                </a:lnTo>
                <a:lnTo>
                  <a:pt x="2880037" y="45"/>
                </a:lnTo>
                <a:lnTo>
                  <a:pt x="2790035" y="155931"/>
                </a:lnTo>
                <a:lnTo>
                  <a:pt x="2880037" y="311818"/>
                </a:lnTo>
                <a:lnTo>
                  <a:pt x="3060038" y="311818"/>
                </a:lnTo>
                <a:lnTo>
                  <a:pt x="3150040" y="155931"/>
                </a:lnTo>
              </a:path>
              <a:path w="3420110" h="467995">
                <a:moveTo>
                  <a:pt x="2880037" y="0"/>
                </a:moveTo>
                <a:lnTo>
                  <a:pt x="3060038" y="0"/>
                </a:lnTo>
              </a:path>
              <a:path w="3420110" h="467995">
                <a:moveTo>
                  <a:pt x="3420043" y="311813"/>
                </a:moveTo>
                <a:lnTo>
                  <a:pt x="3330042" y="155926"/>
                </a:lnTo>
                <a:lnTo>
                  <a:pt x="3150040" y="155926"/>
                </a:lnTo>
                <a:lnTo>
                  <a:pt x="3060039" y="311813"/>
                </a:lnTo>
                <a:lnTo>
                  <a:pt x="3150040" y="467700"/>
                </a:lnTo>
                <a:lnTo>
                  <a:pt x="3330042" y="467700"/>
                </a:lnTo>
                <a:lnTo>
                  <a:pt x="3420043" y="311813"/>
                </a:lnTo>
              </a:path>
              <a:path w="3420110" h="467995">
                <a:moveTo>
                  <a:pt x="3060039" y="0"/>
                </a:moveTo>
                <a:lnTo>
                  <a:pt x="3150040" y="155937"/>
                </a:lnTo>
                <a:lnTo>
                  <a:pt x="3330042" y="155937"/>
                </a:lnTo>
                <a:lnTo>
                  <a:pt x="3420043" y="0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微软雅黑" panose="020B0503020204020204" charset="-122"/>
                <a:cs typeface="微软雅黑" panose="020B0503020204020204" charset="-122"/>
              </a:rPr>
              <a:t>日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微软雅黑" panose="020B0503020204020204" charset="-122"/>
                <a:cs typeface="微软雅黑" panose="020B0503020204020204" charset="-122"/>
              </a:rPr>
              <a:t>勒方舟等 </a:t>
            </a:r>
            <a:r>
              <a:rPr spc="75" dirty="0"/>
              <a:t>(NKU)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  <a:t>‹#›</a:t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微软雅黑" panose="020B0503020204020204" charset="-122"/>
                <a:cs typeface="微软雅黑" panose="020B0503020204020204" charset="-122"/>
              </a:rPr>
              <a:t>日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微软雅黑" panose="020B0503020204020204" charset="-122"/>
                <a:cs typeface="微软雅黑" panose="020B0503020204020204" charset="-122"/>
              </a:rPr>
              <a:t>勒方舟等 </a:t>
            </a:r>
            <a:r>
              <a:rPr spc="75" dirty="0"/>
              <a:t>(NKU)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  <a:t>‹#›</a:t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50215" cy="467995"/>
          </a:xfrm>
          <a:custGeom>
            <a:avLst/>
            <a:gdLst/>
            <a:ahLst/>
            <a:cxnLst/>
            <a:rect l="l" t="t" r="r" b="b"/>
            <a:pathLst>
              <a:path w="450215" h="467995">
                <a:moveTo>
                  <a:pt x="0" y="467700"/>
                </a:moveTo>
                <a:lnTo>
                  <a:pt x="90000" y="467700"/>
                </a:lnTo>
                <a:lnTo>
                  <a:pt x="180002" y="311813"/>
                </a:lnTo>
                <a:lnTo>
                  <a:pt x="90000" y="155926"/>
                </a:lnTo>
                <a:lnTo>
                  <a:pt x="0" y="155926"/>
                </a:lnTo>
              </a:path>
              <a:path w="450215" h="467995">
                <a:moveTo>
                  <a:pt x="0" y="155937"/>
                </a:moveTo>
                <a:lnTo>
                  <a:pt x="90000" y="155937"/>
                </a:lnTo>
                <a:lnTo>
                  <a:pt x="180002" y="0"/>
                </a:lnTo>
              </a:path>
              <a:path w="450215" h="467995">
                <a:moveTo>
                  <a:pt x="450005" y="155931"/>
                </a:moveTo>
                <a:lnTo>
                  <a:pt x="360004" y="45"/>
                </a:lnTo>
                <a:lnTo>
                  <a:pt x="180002" y="45"/>
                </a:lnTo>
                <a:lnTo>
                  <a:pt x="90001" y="155931"/>
                </a:lnTo>
                <a:lnTo>
                  <a:pt x="180002" y="311818"/>
                </a:lnTo>
                <a:lnTo>
                  <a:pt x="360004" y="311818"/>
                </a:lnTo>
                <a:lnTo>
                  <a:pt x="450005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80002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40">
                <a:moveTo>
                  <a:pt x="0" y="0"/>
                </a:moveTo>
                <a:lnTo>
                  <a:pt x="180002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60004" y="0"/>
            <a:ext cx="630555" cy="312420"/>
          </a:xfrm>
          <a:custGeom>
            <a:avLst/>
            <a:gdLst/>
            <a:ahLst/>
            <a:cxnLst/>
            <a:rect l="l" t="t" r="r" b="b"/>
            <a:pathLst>
              <a:path w="630555" h="31242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  <a:path w="630555" h="312420">
                <a:moveTo>
                  <a:pt x="630007" y="155931"/>
                </a:moveTo>
                <a:lnTo>
                  <a:pt x="540006" y="45"/>
                </a:lnTo>
                <a:lnTo>
                  <a:pt x="360004" y="45"/>
                </a:lnTo>
                <a:lnTo>
                  <a:pt x="270003" y="155931"/>
                </a:lnTo>
                <a:lnTo>
                  <a:pt x="360004" y="311818"/>
                </a:lnTo>
                <a:lnTo>
                  <a:pt x="540006" y="311818"/>
                </a:lnTo>
                <a:lnTo>
                  <a:pt x="630007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20009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40">
                <a:moveTo>
                  <a:pt x="0" y="0"/>
                </a:moveTo>
                <a:lnTo>
                  <a:pt x="180001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00011" y="0"/>
            <a:ext cx="630555" cy="312420"/>
          </a:xfrm>
          <a:custGeom>
            <a:avLst/>
            <a:gdLst/>
            <a:ahLst/>
            <a:cxnLst/>
            <a:rect l="l" t="t" r="r" b="b"/>
            <a:pathLst>
              <a:path w="630555" h="31242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  <a:path w="630555" h="312420">
                <a:moveTo>
                  <a:pt x="630007" y="155931"/>
                </a:moveTo>
                <a:lnTo>
                  <a:pt x="540006" y="45"/>
                </a:lnTo>
                <a:lnTo>
                  <a:pt x="360004" y="45"/>
                </a:lnTo>
                <a:lnTo>
                  <a:pt x="270003" y="155931"/>
                </a:lnTo>
                <a:lnTo>
                  <a:pt x="360004" y="311818"/>
                </a:lnTo>
                <a:lnTo>
                  <a:pt x="540006" y="311818"/>
                </a:lnTo>
                <a:lnTo>
                  <a:pt x="630007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260016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40">
                <a:moveTo>
                  <a:pt x="0" y="0"/>
                </a:moveTo>
                <a:lnTo>
                  <a:pt x="180002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440018" y="0"/>
            <a:ext cx="630555" cy="312420"/>
          </a:xfrm>
          <a:custGeom>
            <a:avLst/>
            <a:gdLst/>
            <a:ahLst/>
            <a:cxnLst/>
            <a:rect l="l" t="t" r="r" b="b"/>
            <a:pathLst>
              <a:path w="630555" h="31242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  <a:path w="630555" h="312420">
                <a:moveTo>
                  <a:pt x="630007" y="155931"/>
                </a:moveTo>
                <a:lnTo>
                  <a:pt x="540006" y="45"/>
                </a:lnTo>
                <a:lnTo>
                  <a:pt x="360004" y="45"/>
                </a:lnTo>
                <a:lnTo>
                  <a:pt x="270003" y="155931"/>
                </a:lnTo>
                <a:lnTo>
                  <a:pt x="360004" y="311818"/>
                </a:lnTo>
                <a:lnTo>
                  <a:pt x="540006" y="311818"/>
                </a:lnTo>
                <a:lnTo>
                  <a:pt x="630007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800023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>
                <a:moveTo>
                  <a:pt x="0" y="0"/>
                </a:moveTo>
                <a:lnTo>
                  <a:pt x="180001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980025" y="0"/>
            <a:ext cx="630555" cy="312420"/>
          </a:xfrm>
          <a:custGeom>
            <a:avLst/>
            <a:gdLst/>
            <a:ahLst/>
            <a:cxnLst/>
            <a:rect l="l" t="t" r="r" b="b"/>
            <a:pathLst>
              <a:path w="630555" h="31242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  <a:path w="630555" h="312420">
                <a:moveTo>
                  <a:pt x="630007" y="155931"/>
                </a:moveTo>
                <a:lnTo>
                  <a:pt x="540006" y="45"/>
                </a:lnTo>
                <a:lnTo>
                  <a:pt x="360004" y="45"/>
                </a:lnTo>
                <a:lnTo>
                  <a:pt x="270003" y="155931"/>
                </a:lnTo>
                <a:lnTo>
                  <a:pt x="360004" y="311818"/>
                </a:lnTo>
                <a:lnTo>
                  <a:pt x="540006" y="311818"/>
                </a:lnTo>
                <a:lnTo>
                  <a:pt x="630007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2340029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>
                <a:moveTo>
                  <a:pt x="0" y="0"/>
                </a:moveTo>
                <a:lnTo>
                  <a:pt x="180002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2520032" y="0"/>
            <a:ext cx="630555" cy="312420"/>
          </a:xfrm>
          <a:custGeom>
            <a:avLst/>
            <a:gdLst/>
            <a:ahLst/>
            <a:cxnLst/>
            <a:rect l="l" t="t" r="r" b="b"/>
            <a:pathLst>
              <a:path w="630555" h="31242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  <a:path w="630555" h="312420">
                <a:moveTo>
                  <a:pt x="630007" y="155931"/>
                </a:moveTo>
                <a:lnTo>
                  <a:pt x="540006" y="45"/>
                </a:lnTo>
                <a:lnTo>
                  <a:pt x="360004" y="45"/>
                </a:lnTo>
                <a:lnTo>
                  <a:pt x="270003" y="155931"/>
                </a:lnTo>
                <a:lnTo>
                  <a:pt x="360004" y="311818"/>
                </a:lnTo>
                <a:lnTo>
                  <a:pt x="540006" y="311818"/>
                </a:lnTo>
                <a:lnTo>
                  <a:pt x="630007" y="155931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2880037" y="-1239"/>
            <a:ext cx="180340" cy="0"/>
          </a:xfrm>
          <a:custGeom>
            <a:avLst/>
            <a:gdLst/>
            <a:ahLst/>
            <a:cxnLst/>
            <a:rect l="l" t="t" r="r" b="b"/>
            <a:pathLst>
              <a:path w="180339">
                <a:moveTo>
                  <a:pt x="0" y="0"/>
                </a:moveTo>
                <a:lnTo>
                  <a:pt x="180001" y="0"/>
                </a:lnTo>
              </a:path>
            </a:pathLst>
          </a:custGeom>
          <a:ln w="3175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3060039" y="0"/>
            <a:ext cx="360045" cy="156210"/>
          </a:xfrm>
          <a:custGeom>
            <a:avLst/>
            <a:gdLst/>
            <a:ahLst/>
            <a:cxnLst/>
            <a:rect l="l" t="t" r="r" b="b"/>
            <a:pathLst>
              <a:path w="360045" h="156210">
                <a:moveTo>
                  <a:pt x="0" y="0"/>
                </a:moveTo>
                <a:lnTo>
                  <a:pt x="90001" y="155937"/>
                </a:lnTo>
                <a:lnTo>
                  <a:pt x="270003" y="155937"/>
                </a:lnTo>
                <a:lnTo>
                  <a:pt x="360004" y="0"/>
                </a:lnTo>
              </a:path>
            </a:pathLst>
          </a:custGeom>
          <a:ln w="5060">
            <a:solidFill>
              <a:srgbClr val="701A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0" y="50"/>
            <a:ext cx="2304415" cy="135890"/>
          </a:xfrm>
          <a:custGeom>
            <a:avLst/>
            <a:gdLst/>
            <a:ahLst/>
            <a:cxnLst/>
            <a:rect l="l" t="t" r="r" b="b"/>
            <a:pathLst>
              <a:path w="2304415" h="135890">
                <a:moveTo>
                  <a:pt x="2303995" y="0"/>
                </a:moveTo>
                <a:lnTo>
                  <a:pt x="0" y="0"/>
                </a:lnTo>
                <a:lnTo>
                  <a:pt x="0" y="135788"/>
                </a:lnTo>
                <a:lnTo>
                  <a:pt x="2303995" y="135788"/>
                </a:lnTo>
                <a:lnTo>
                  <a:pt x="2303995" y="0"/>
                </a:lnTo>
                <a:close/>
              </a:path>
            </a:pathLst>
          </a:custGeom>
          <a:solidFill>
            <a:srgbClr val="380D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4055" y="199857"/>
            <a:ext cx="3305175" cy="2480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1193" y="1231706"/>
            <a:ext cx="2495550" cy="116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43262" y="3325230"/>
            <a:ext cx="736600" cy="13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微软雅黑" panose="020B0503020204020204" charset="-122"/>
                <a:cs typeface="微软雅黑" panose="020B0503020204020204" charset="-122"/>
              </a:rPr>
              <a:t>日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32003" y="3325230"/>
            <a:ext cx="672465" cy="13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微软雅黑" panose="020B0503020204020204" charset="-122"/>
                <a:cs typeface="微软雅黑" panose="020B0503020204020204" charset="-122"/>
              </a:rPr>
              <a:t>勒方舟等 </a:t>
            </a:r>
            <a:r>
              <a:rPr spc="75" dirty="0"/>
              <a:t>(NKU)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2559" y="3325230"/>
            <a:ext cx="283210" cy="133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Georgia" panose="02040502050405020303"/>
                <a:cs typeface="Georgia" panose="02040502050405020303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  <a:t>‹#›</a:t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-6107" y="-13157"/>
            <a:ext cx="3600244" cy="6393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72802" y="84099"/>
            <a:ext cx="4464496" cy="3312368"/>
          </a:xfrm>
          <a:prstGeom prst="rect">
            <a:avLst/>
          </a:prstGeom>
          <a:noFill/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044910" y="2520700"/>
            <a:ext cx="2520280" cy="6335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spcBef>
                <a:spcPts val="1105"/>
              </a:spcBef>
            </a:pPr>
            <a:r>
              <a:rPr sz="80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2026</a:t>
            </a:r>
            <a:r>
              <a:rPr sz="800" spc="-12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 </a:t>
            </a:r>
            <a:r>
              <a:rPr sz="800" spc="156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年国家级大学生创新训练计划立项答辩</a:t>
            </a:r>
            <a:endParaRPr lang="en-US" sz="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宋体" panose="02010600030101010101" pitchFamily="2" charset="-122"/>
            </a:endParaRPr>
          </a:p>
          <a:p>
            <a:pPr algn="ctr">
              <a:spcBef>
                <a:spcPts val="1105"/>
              </a:spcBef>
            </a:pPr>
            <a:r>
              <a:rPr lang="zh-CN" altLang="en-US" sz="800" b="1" spc="-16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勒方</a:t>
            </a:r>
            <a:r>
              <a:rPr lang="zh-CN" altLang="en-US" sz="800" b="1" spc="-4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舟</a:t>
            </a:r>
            <a:r>
              <a:rPr lang="zh-CN" altLang="en-US" sz="800" b="1" spc="-16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、</a:t>
            </a:r>
            <a:r>
              <a:rPr sz="800" b="1" spc="-16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[姓名]、黄浩</a:t>
            </a:r>
            <a:r>
              <a:rPr sz="800" b="1" spc="-48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天</a:t>
            </a:r>
            <a:endParaRPr sz="8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宋体" panose="02010600030101010101" pitchFamily="2" charset="-122"/>
            </a:endParaRPr>
          </a:p>
          <a:p>
            <a:pPr marR="35560" algn="ctr">
              <a:spcBef>
                <a:spcPts val="30"/>
              </a:spcBef>
              <a:tabLst>
                <a:tab pos="553720" algn="l"/>
              </a:tabLst>
            </a:pPr>
            <a:r>
              <a:rPr lang="en-US" sz="800" spc="-8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   </a:t>
            </a:r>
          </a:p>
          <a:p>
            <a:pPr marR="35560" algn="ctr">
              <a:spcBef>
                <a:spcPts val="30"/>
              </a:spcBef>
              <a:tabLst>
                <a:tab pos="553720" algn="l"/>
              </a:tabLst>
            </a:pPr>
            <a:r>
              <a:rPr sz="800" spc="-8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指导教师</a:t>
            </a:r>
            <a:r>
              <a:rPr lang="en-US" sz="800" spc="-40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/>
              </a:rPr>
              <a:t>      </a:t>
            </a:r>
            <a:r>
              <a:rPr sz="800" b="1" spc="-16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陈家</a:t>
            </a:r>
            <a:r>
              <a:rPr sz="800" b="1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欣</a:t>
            </a:r>
            <a:r>
              <a:rPr sz="800" spc="68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sz="800" spc="68" dirty="0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sz="700" spc="-8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副研究</a:t>
            </a:r>
            <a:r>
              <a:rPr sz="700" spc="-40" dirty="0" err="1">
                <a:solidFill>
                  <a:srgbClr val="00206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员</a:t>
            </a:r>
            <a:endParaRPr sz="700" dirty="0">
              <a:solidFill>
                <a:srgbClr val="00206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3862" y="3170535"/>
            <a:ext cx="2164411" cy="117463"/>
          </a:xfrm>
          <a:prstGeom prst="rect">
            <a:avLst/>
          </a:prstGeom>
        </p:spPr>
        <p:txBody>
          <a:bodyPr vert="horz" wrap="square" lIns="0" tIns="9647" rIns="0" bIns="0" rtlCol="0">
            <a:spAutoFit/>
          </a:bodyPr>
          <a:lstStyle/>
          <a:p>
            <a:pPr marL="10160">
              <a:spcBef>
                <a:spcPts val="75"/>
              </a:spcBef>
              <a:tabLst>
                <a:tab pos="1332865" algn="l"/>
                <a:tab pos="1466850" algn="l"/>
              </a:tabLst>
            </a:pPr>
            <a:r>
              <a:rPr sz="640" spc="-8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南开大学电子信息与光学工程学</a:t>
            </a:r>
            <a:r>
              <a:rPr sz="640" spc="-4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院</a:t>
            </a:r>
            <a:r>
              <a:rPr sz="64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	</a:t>
            </a:r>
            <a:r>
              <a:rPr sz="640" spc="-4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 MT"/>
              </a:rPr>
              <a:t>|</a:t>
            </a:r>
            <a:r>
              <a:rPr sz="64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 MT"/>
              </a:rPr>
              <a:t>	</a:t>
            </a:r>
            <a:r>
              <a:rPr sz="700" spc="-8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 MT"/>
              </a:rPr>
              <a:t>2026</a:t>
            </a:r>
            <a:r>
              <a:rPr sz="700" spc="-8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年</a:t>
            </a:r>
            <a:r>
              <a:rPr lang="en-US" sz="700" spc="-96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4 </a:t>
            </a:r>
            <a:r>
              <a:rPr lang="zh-CN" altLang="en-US" sz="700" spc="-8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月</a:t>
            </a:r>
            <a:r>
              <a:rPr lang="en-US" sz="700" spc="-96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16</a:t>
            </a:r>
            <a:r>
              <a:rPr sz="700" spc="24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 MT"/>
              </a:rPr>
              <a:t> </a:t>
            </a:r>
            <a:r>
              <a:rPr sz="700" spc="-4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宋体" panose="02010600030101010101" pitchFamily="2" charset="-122"/>
              </a:rPr>
              <a:t>日</a:t>
            </a:r>
            <a:endParaRPr sz="8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-185709" y="794271"/>
            <a:ext cx="4981096" cy="1584176"/>
            <a:chOff x="780338" y="369226"/>
            <a:chExt cx="4981096" cy="1584176"/>
          </a:xfrm>
        </p:grpSpPr>
        <p:sp>
          <p:nvSpPr>
            <p:cNvPr id="19" name="矩形 18"/>
            <p:cNvSpPr/>
            <p:nvPr/>
          </p:nvSpPr>
          <p:spPr>
            <a:xfrm>
              <a:off x="1182654" y="461767"/>
              <a:ext cx="4176464" cy="1431026"/>
            </a:xfrm>
            <a:prstGeom prst="rect">
              <a:avLst/>
            </a:prstGeom>
            <a:gradFill flip="none" rotWithShape="1">
              <a:gsLst>
                <a:gs pos="0">
                  <a:schemeClr val="accent4">
                    <a:lumMod val="0"/>
                    <a:lumOff val="100000"/>
                  </a:schemeClr>
                </a:gs>
                <a:gs pos="1000">
                  <a:srgbClr val="FFFFFF"/>
                </a:gs>
                <a:gs pos="11543">
                  <a:srgbClr val="FFFFFF"/>
                </a:gs>
                <a:gs pos="27251">
                  <a:srgbClr val="FFFFFF"/>
                </a:gs>
                <a:gs pos="20502">
                  <a:srgbClr val="FFFFFF"/>
                </a:gs>
                <a:gs pos="34000">
                  <a:schemeClr val="accent4">
                    <a:lumMod val="0"/>
                    <a:lumOff val="100000"/>
                  </a:schemeClr>
                </a:gs>
                <a:gs pos="100000">
                  <a:schemeClr val="accent4">
                    <a:lumMod val="10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50800" cmpd="thinThick">
              <a:gradFill flip="none" rotWithShape="1">
                <a:gsLst>
                  <a:gs pos="0">
                    <a:schemeClr val="accent4">
                      <a:lumMod val="5000"/>
                      <a:lumOff val="95000"/>
                    </a:schemeClr>
                  </a:gs>
                  <a:gs pos="74000">
                    <a:schemeClr val="accent4">
                      <a:lumMod val="45000"/>
                      <a:lumOff val="55000"/>
                    </a:schemeClr>
                  </a:gs>
                  <a:gs pos="83000">
                    <a:schemeClr val="accent4">
                      <a:lumMod val="45000"/>
                      <a:lumOff val="55000"/>
                    </a:schemeClr>
                  </a:gs>
                  <a:gs pos="100000">
                    <a:schemeClr val="accent4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object 3"/>
            <p:cNvSpPr txBox="1"/>
            <p:nvPr/>
          </p:nvSpPr>
          <p:spPr>
            <a:xfrm>
              <a:off x="1377240" y="1406119"/>
              <a:ext cx="4053992" cy="360606"/>
            </a:xfrm>
            <a:prstGeom prst="rect">
              <a:avLst/>
            </a:prstGeom>
          </p:spPr>
          <p:txBody>
            <a:bodyPr vert="horz" wrap="square" lIns="0" tIns="9139" rIns="0" bIns="0" rtlCol="0">
              <a:spAutoFit/>
            </a:bodyPr>
            <a:lstStyle/>
            <a:p>
              <a:pPr marL="10160">
                <a:spcBef>
                  <a:spcPts val="70"/>
                </a:spcBef>
              </a:pPr>
              <a:r>
                <a:rPr lang="zh-CN" altLang="zh-CN" sz="1100" b="1" dirty="0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</a:rPr>
                <a:t>二维硒化铟光电突触器件</a:t>
              </a:r>
              <a:endParaRPr lang="en-US" altLang="zh-CN" sz="11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marL="10160">
                <a:spcBef>
                  <a:spcPts val="70"/>
                </a:spcBef>
              </a:pPr>
              <a:r>
                <a:rPr lang="zh-CN" altLang="zh-CN" sz="1100" b="1" dirty="0">
                  <a:solidFill>
                    <a:srgbClr val="7030A0"/>
                  </a:solidFill>
                  <a:latin typeface="微软雅黑" panose="020B0503020204020204" charset="-122"/>
                  <a:ea typeface="微软雅黑" panose="020B0503020204020204" charset="-122"/>
                </a:rPr>
                <a:t>在极端光照目标检测中的应用研究 </a:t>
              </a:r>
              <a:endParaRPr sz="1000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Microsoft JhengHei UI" panose="020B0604030504040204" charset="-120"/>
              </a:endParaRPr>
            </a:p>
          </p:txBody>
        </p:sp>
        <p:pic>
          <p:nvPicPr>
            <p:cNvPr id="28" name="图片 27"/>
            <p:cNvPicPr/>
            <p:nvPr/>
          </p:nvPicPr>
          <p:blipFill>
            <a:blip r:embed="rId2" cstate="print">
              <a:alphaModFix amt="1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12647" r="15431" b="13981"/>
            <a:stretch>
              <a:fillRect/>
            </a:stretch>
          </p:blipFill>
          <p:spPr>
            <a:xfrm>
              <a:off x="780338" y="369226"/>
              <a:ext cx="4981096" cy="1584176"/>
            </a:xfrm>
            <a:prstGeom prst="rect">
              <a:avLst/>
            </a:prstGeom>
            <a:noFill/>
            <a:effectLst/>
          </p:spPr>
        </p:pic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组合 80"/>
          <p:cNvGrpSpPr/>
          <p:nvPr/>
        </p:nvGrpSpPr>
        <p:grpSpPr>
          <a:xfrm>
            <a:off x="1834769" y="2295426"/>
            <a:ext cx="2479746" cy="1217999"/>
            <a:chOff x="1787470" y="1638593"/>
            <a:chExt cx="2573581" cy="1216556"/>
          </a:xfrm>
        </p:grpSpPr>
        <p:pic>
          <p:nvPicPr>
            <p:cNvPr id="78" name="图片 77"/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743" b="4356"/>
            <a:stretch>
              <a:fillRect/>
            </a:stretch>
          </p:blipFill>
          <p:spPr>
            <a:xfrm>
              <a:off x="1787470" y="1638593"/>
              <a:ext cx="2447678" cy="1148330"/>
            </a:xfrm>
            <a:prstGeom prst="roundRect">
              <a:avLst/>
            </a:prstGeom>
          </p:spPr>
        </p:pic>
        <p:sp>
          <p:nvSpPr>
            <p:cNvPr id="80" name="矩形 79"/>
            <p:cNvSpPr/>
            <p:nvPr/>
          </p:nvSpPr>
          <p:spPr>
            <a:xfrm>
              <a:off x="1868371" y="2711133"/>
              <a:ext cx="2492680" cy="1440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055" y="199857"/>
            <a:ext cx="33051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" dirty="0" err="1"/>
              <a:t>研究背景</a:t>
            </a:r>
            <a:endParaRPr spc="-5" dirty="0"/>
          </a:p>
        </p:txBody>
      </p:sp>
      <p:sp>
        <p:nvSpPr>
          <p:cNvPr id="10" name="object 10"/>
          <p:cNvSpPr/>
          <p:nvPr/>
        </p:nvSpPr>
        <p:spPr>
          <a:xfrm>
            <a:off x="106767" y="614380"/>
            <a:ext cx="4463207" cy="349500"/>
          </a:xfrm>
          <a:custGeom>
            <a:avLst/>
            <a:gdLst/>
            <a:ahLst/>
            <a:cxnLst/>
            <a:rect l="l" t="t" r="r" b="b"/>
            <a:pathLst>
              <a:path w="4406265" h="402589">
                <a:moveTo>
                  <a:pt x="4405996" y="0"/>
                </a:moveTo>
                <a:lnTo>
                  <a:pt x="0" y="0"/>
                </a:lnTo>
                <a:lnTo>
                  <a:pt x="0" y="351411"/>
                </a:lnTo>
                <a:lnTo>
                  <a:pt x="4008" y="371136"/>
                </a:lnTo>
                <a:lnTo>
                  <a:pt x="14922" y="387288"/>
                </a:lnTo>
                <a:lnTo>
                  <a:pt x="31075" y="398203"/>
                </a:lnTo>
                <a:lnTo>
                  <a:pt x="50800" y="402211"/>
                </a:lnTo>
                <a:lnTo>
                  <a:pt x="4355195" y="402211"/>
                </a:lnTo>
                <a:lnTo>
                  <a:pt x="4374920" y="398203"/>
                </a:lnTo>
                <a:lnTo>
                  <a:pt x="4391073" y="387288"/>
                </a:lnTo>
                <a:lnTo>
                  <a:pt x="4401987" y="371136"/>
                </a:lnTo>
                <a:lnTo>
                  <a:pt x="4405996" y="351411"/>
                </a:lnTo>
                <a:lnTo>
                  <a:pt x="4405996" y="0"/>
                </a:lnTo>
                <a:close/>
              </a:path>
            </a:pathLst>
          </a:custGeom>
          <a:solidFill>
            <a:srgbClr val="F0E8EE"/>
          </a:solidFill>
        </p:spPr>
        <p:txBody>
          <a:bodyPr wrap="square" lIns="0" tIns="0" rIns="0" bIns="0" rtlCol="0"/>
          <a:lstStyle/>
          <a:p>
            <a:pPr algn="just"/>
            <a:r>
              <a:rPr lang="zh-CN" altLang="en-US" sz="1000" dirty="0"/>
              <a:t>       </a:t>
            </a:r>
            <a:r>
              <a:rPr lang="zh-CN" altLang="en-US" sz="1100" dirty="0"/>
              <a:t>传统“</a:t>
            </a:r>
            <a:r>
              <a:rPr lang="zh-CN" altLang="en-US" sz="1100" b="1" dirty="0"/>
              <a:t>先全量采集、再后端计算”</a:t>
            </a:r>
            <a:r>
              <a:rPr lang="zh-CN" altLang="en-US" sz="1100" dirty="0"/>
              <a:t>的模式已无法满足自动驾驶等场景</a:t>
            </a:r>
            <a:endParaRPr lang="en-US" altLang="zh-CN" sz="1100" dirty="0"/>
          </a:p>
          <a:p>
            <a:pPr algn="just"/>
            <a:r>
              <a:rPr lang="zh-CN" altLang="en-US" sz="1100" dirty="0"/>
              <a:t>的</a:t>
            </a:r>
            <a:r>
              <a:rPr lang="zh-CN" altLang="en-US" sz="1100" b="1" dirty="0"/>
              <a:t>高保真、低延迟、低能耗</a:t>
            </a:r>
            <a:r>
              <a:rPr lang="zh-CN" altLang="en-US" sz="1100" dirty="0"/>
              <a:t>的要求 </a:t>
            </a:r>
          </a:p>
        </p:txBody>
      </p:sp>
      <p:sp>
        <p:nvSpPr>
          <p:cNvPr id="26" name="object 6"/>
          <p:cNvSpPr/>
          <p:nvPr/>
        </p:nvSpPr>
        <p:spPr>
          <a:xfrm>
            <a:off x="32927" y="1010295"/>
            <a:ext cx="4499109" cy="2448272"/>
          </a:xfrm>
          <a:custGeom>
            <a:avLst/>
            <a:gdLst/>
            <a:ahLst/>
            <a:cxnLst/>
            <a:rect l="l" t="t" r="r" b="b"/>
            <a:pathLst>
              <a:path w="3844290" h="866139">
                <a:moveTo>
                  <a:pt x="3768346" y="0"/>
                </a:moveTo>
                <a:lnTo>
                  <a:pt x="75916" y="0"/>
                </a:lnTo>
                <a:lnTo>
                  <a:pt x="46366" y="5965"/>
                </a:lnTo>
                <a:lnTo>
                  <a:pt x="22235" y="22235"/>
                </a:lnTo>
                <a:lnTo>
                  <a:pt x="5965" y="46366"/>
                </a:lnTo>
                <a:lnTo>
                  <a:pt x="0" y="75916"/>
                </a:lnTo>
                <a:lnTo>
                  <a:pt x="0" y="789704"/>
                </a:lnTo>
                <a:lnTo>
                  <a:pt x="5965" y="819255"/>
                </a:lnTo>
                <a:lnTo>
                  <a:pt x="22235" y="843385"/>
                </a:lnTo>
                <a:lnTo>
                  <a:pt x="46366" y="859655"/>
                </a:lnTo>
                <a:lnTo>
                  <a:pt x="75916" y="865621"/>
                </a:lnTo>
                <a:lnTo>
                  <a:pt x="3768346" y="865621"/>
                </a:lnTo>
                <a:lnTo>
                  <a:pt x="3797896" y="859655"/>
                </a:lnTo>
                <a:lnTo>
                  <a:pt x="3822027" y="843385"/>
                </a:lnTo>
                <a:lnTo>
                  <a:pt x="3838296" y="819255"/>
                </a:lnTo>
                <a:lnTo>
                  <a:pt x="3844262" y="789704"/>
                </a:lnTo>
                <a:lnTo>
                  <a:pt x="3844262" y="75916"/>
                </a:lnTo>
                <a:lnTo>
                  <a:pt x="3838296" y="46366"/>
                </a:lnTo>
                <a:lnTo>
                  <a:pt x="3822027" y="22235"/>
                </a:lnTo>
                <a:lnTo>
                  <a:pt x="3797896" y="5965"/>
                </a:lnTo>
                <a:lnTo>
                  <a:pt x="3768346" y="0"/>
                </a:lnTo>
                <a:close/>
              </a:path>
            </a:pathLst>
          </a:custGeom>
          <a:ln w="10122">
            <a:solidFill>
              <a:srgbClr val="D4BACE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2" name="组合 71"/>
          <p:cNvGrpSpPr/>
          <p:nvPr/>
        </p:nvGrpSpPr>
        <p:grpSpPr>
          <a:xfrm>
            <a:off x="104281" y="1154311"/>
            <a:ext cx="1562130" cy="1927184"/>
            <a:chOff x="161604" y="1387469"/>
            <a:chExt cx="1562130" cy="1927184"/>
          </a:xfrm>
        </p:grpSpPr>
        <p:grpSp>
          <p:nvGrpSpPr>
            <p:cNvPr id="57" name="组合 56"/>
            <p:cNvGrpSpPr/>
            <p:nvPr/>
          </p:nvGrpSpPr>
          <p:grpSpPr>
            <a:xfrm>
              <a:off x="161604" y="1387469"/>
              <a:ext cx="1562130" cy="1927184"/>
              <a:chOff x="1705101" y="1655216"/>
              <a:chExt cx="1031575" cy="1116094"/>
            </a:xfrm>
          </p:grpSpPr>
          <p:sp>
            <p:nvSpPr>
              <p:cNvPr id="58" name="object 13"/>
              <p:cNvSpPr/>
              <p:nvPr/>
            </p:nvSpPr>
            <p:spPr>
              <a:xfrm>
                <a:off x="1737821" y="1728639"/>
                <a:ext cx="998855" cy="1042671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7F7F7F">
                  <a:alpha val="14999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14"/>
              <p:cNvSpPr/>
              <p:nvPr/>
            </p:nvSpPr>
            <p:spPr>
              <a:xfrm>
                <a:off x="1705101" y="1655216"/>
                <a:ext cx="998855" cy="1074392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FCFCFC"/>
              </a:solidFill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60" name="object 15"/>
              <p:cNvSpPr/>
              <p:nvPr/>
            </p:nvSpPr>
            <p:spPr>
              <a:xfrm>
                <a:off x="1705101" y="1655216"/>
                <a:ext cx="998855" cy="1074392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ln w="10122">
                <a:solidFill>
                  <a:srgbClr val="70195E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7" name="文本框 66"/>
            <p:cNvSpPr txBox="1"/>
            <p:nvPr/>
          </p:nvSpPr>
          <p:spPr>
            <a:xfrm>
              <a:off x="183054" y="1393359"/>
              <a:ext cx="128368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</a:rPr>
                <a:t>过曝：</a:t>
              </a:r>
              <a:endParaRPr lang="en-US" altLang="zh-CN" sz="9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 algn="l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</a:rPr>
                <a:t>高光区域细节完全丢失</a:t>
              </a:r>
              <a:endPara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 algn="l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</a:rPr>
                <a:t>颜色通道溢出，出现白色块</a:t>
              </a:r>
              <a:endParaRPr lang="en-US" altLang="zh-CN" sz="9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 algn="l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</a:rPr>
                <a:t>纹理细节模糊</a:t>
              </a:r>
            </a:p>
          </p:txBody>
        </p:sp>
        <p:cxnSp>
          <p:nvCxnSpPr>
            <p:cNvPr id="69" name="直接连接符 68"/>
            <p:cNvCxnSpPr/>
            <p:nvPr/>
          </p:nvCxnSpPr>
          <p:spPr>
            <a:xfrm>
              <a:off x="288826" y="2378447"/>
              <a:ext cx="1307687" cy="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sp>
          <p:nvSpPr>
            <p:cNvPr id="71" name="文本框 70"/>
            <p:cNvSpPr txBox="1"/>
            <p:nvPr/>
          </p:nvSpPr>
          <p:spPr>
            <a:xfrm>
              <a:off x="232602" y="2422964"/>
              <a:ext cx="13866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欠曝：</a:t>
              </a:r>
              <a:endPara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暗部噪声高</a:t>
              </a:r>
              <a:endPara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颜色偏暗失真</a:t>
              </a:r>
              <a:endPara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 marL="171450" indent="-171450">
                <a:buFont typeface="Wingdings" panose="05000000000000000000" pitchFamily="2" charset="2"/>
                <a:buChar char="Ø"/>
              </a:pPr>
              <a:r>
                <a:rPr lang="zh-CN" altLang="en-US" sz="9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亮度提升后噪声放大</a:t>
              </a: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" t="7046" r="1693" b="9909"/>
          <a:stretch>
            <a:fillRect/>
          </a:stretch>
        </p:blipFill>
        <p:spPr>
          <a:xfrm>
            <a:off x="1737765" y="1024193"/>
            <a:ext cx="2664892" cy="124942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055" y="199857"/>
            <a:ext cx="33051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" dirty="0" err="1">
                <a:ea typeface="微软雅黑" panose="020B0503020204020204" charset="-122"/>
              </a:rPr>
              <a:t>研究背景</a:t>
            </a:r>
            <a:endParaRPr spc="-5" dirty="0">
              <a:ea typeface="微软雅黑" panose="020B0503020204020204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2562" y="639329"/>
            <a:ext cx="4463207" cy="349500"/>
          </a:xfrm>
          <a:custGeom>
            <a:avLst/>
            <a:gdLst/>
            <a:ahLst/>
            <a:cxnLst/>
            <a:rect l="l" t="t" r="r" b="b"/>
            <a:pathLst>
              <a:path w="4406265" h="402589">
                <a:moveTo>
                  <a:pt x="4405996" y="0"/>
                </a:moveTo>
                <a:lnTo>
                  <a:pt x="0" y="0"/>
                </a:lnTo>
                <a:lnTo>
                  <a:pt x="0" y="351411"/>
                </a:lnTo>
                <a:lnTo>
                  <a:pt x="4008" y="371136"/>
                </a:lnTo>
                <a:lnTo>
                  <a:pt x="14922" y="387288"/>
                </a:lnTo>
                <a:lnTo>
                  <a:pt x="31075" y="398203"/>
                </a:lnTo>
                <a:lnTo>
                  <a:pt x="50800" y="402211"/>
                </a:lnTo>
                <a:lnTo>
                  <a:pt x="4355195" y="402211"/>
                </a:lnTo>
                <a:lnTo>
                  <a:pt x="4374920" y="398203"/>
                </a:lnTo>
                <a:lnTo>
                  <a:pt x="4391073" y="387288"/>
                </a:lnTo>
                <a:lnTo>
                  <a:pt x="4401987" y="371136"/>
                </a:lnTo>
                <a:lnTo>
                  <a:pt x="4405996" y="351411"/>
                </a:lnTo>
                <a:lnTo>
                  <a:pt x="4405996" y="0"/>
                </a:lnTo>
                <a:close/>
              </a:path>
            </a:pathLst>
          </a:custGeom>
          <a:solidFill>
            <a:srgbClr val="F0E8EE"/>
          </a:solidFill>
        </p:spPr>
        <p:txBody>
          <a:bodyPr wrap="square" lIns="0" tIns="0" rIns="0" bIns="0" rtlCol="0"/>
          <a:lstStyle/>
          <a:p>
            <a:pPr algn="just"/>
            <a:r>
              <a:rPr lang="zh-CN" altLang="en-US" sz="1000" dirty="0"/>
              <a:t>       </a:t>
            </a:r>
            <a:r>
              <a:rPr lang="zh-CN" altLang="en-US" sz="1100" dirty="0"/>
              <a:t>传统“</a:t>
            </a:r>
            <a:r>
              <a:rPr lang="zh-CN" altLang="en-US" sz="1100" b="1" dirty="0"/>
              <a:t>先全量采集、再后端计算”</a:t>
            </a:r>
            <a:r>
              <a:rPr lang="zh-CN" altLang="en-US" sz="1100" dirty="0"/>
              <a:t>的模式已无法满足自动驾驶等场景</a:t>
            </a:r>
            <a:endParaRPr lang="en-US" altLang="zh-CN" sz="1100" dirty="0"/>
          </a:p>
          <a:p>
            <a:pPr algn="just"/>
            <a:r>
              <a:rPr lang="zh-CN" altLang="en-US" sz="1100" dirty="0"/>
              <a:t>的</a:t>
            </a:r>
            <a:r>
              <a:rPr lang="zh-CN" altLang="en-US" sz="1100" b="1" dirty="0"/>
              <a:t>高保真、低延迟、低能耗</a:t>
            </a:r>
            <a:r>
              <a:rPr lang="zh-CN" altLang="en-US" sz="1100" dirty="0"/>
              <a:t>的要求 </a:t>
            </a:r>
          </a:p>
        </p:txBody>
      </p:sp>
      <p:sp>
        <p:nvSpPr>
          <p:cNvPr id="26" name="object 6"/>
          <p:cNvSpPr/>
          <p:nvPr/>
        </p:nvSpPr>
        <p:spPr>
          <a:xfrm>
            <a:off x="92562" y="1152858"/>
            <a:ext cx="4499109" cy="2088231"/>
          </a:xfrm>
          <a:custGeom>
            <a:avLst/>
            <a:gdLst/>
            <a:ahLst/>
            <a:cxnLst/>
            <a:rect l="l" t="t" r="r" b="b"/>
            <a:pathLst>
              <a:path w="3844290" h="866139">
                <a:moveTo>
                  <a:pt x="3768346" y="0"/>
                </a:moveTo>
                <a:lnTo>
                  <a:pt x="75916" y="0"/>
                </a:lnTo>
                <a:lnTo>
                  <a:pt x="46366" y="5965"/>
                </a:lnTo>
                <a:lnTo>
                  <a:pt x="22235" y="22235"/>
                </a:lnTo>
                <a:lnTo>
                  <a:pt x="5965" y="46366"/>
                </a:lnTo>
                <a:lnTo>
                  <a:pt x="0" y="75916"/>
                </a:lnTo>
                <a:lnTo>
                  <a:pt x="0" y="789704"/>
                </a:lnTo>
                <a:lnTo>
                  <a:pt x="5965" y="819255"/>
                </a:lnTo>
                <a:lnTo>
                  <a:pt x="22235" y="843385"/>
                </a:lnTo>
                <a:lnTo>
                  <a:pt x="46366" y="859655"/>
                </a:lnTo>
                <a:lnTo>
                  <a:pt x="75916" y="865621"/>
                </a:lnTo>
                <a:lnTo>
                  <a:pt x="3768346" y="865621"/>
                </a:lnTo>
                <a:lnTo>
                  <a:pt x="3797896" y="859655"/>
                </a:lnTo>
                <a:lnTo>
                  <a:pt x="3822027" y="843385"/>
                </a:lnTo>
                <a:lnTo>
                  <a:pt x="3838296" y="819255"/>
                </a:lnTo>
                <a:lnTo>
                  <a:pt x="3844262" y="789704"/>
                </a:lnTo>
                <a:lnTo>
                  <a:pt x="3844262" y="75916"/>
                </a:lnTo>
                <a:lnTo>
                  <a:pt x="3838296" y="46366"/>
                </a:lnTo>
                <a:lnTo>
                  <a:pt x="3822027" y="22235"/>
                </a:lnTo>
                <a:lnTo>
                  <a:pt x="3797896" y="5965"/>
                </a:lnTo>
                <a:lnTo>
                  <a:pt x="3768346" y="0"/>
                </a:lnTo>
                <a:close/>
              </a:path>
            </a:pathLst>
          </a:custGeom>
          <a:ln w="10122">
            <a:solidFill>
              <a:srgbClr val="D4BACE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组合 4"/>
          <p:cNvGrpSpPr/>
          <p:nvPr/>
        </p:nvGrpSpPr>
        <p:grpSpPr>
          <a:xfrm>
            <a:off x="190782" y="1298327"/>
            <a:ext cx="1181784" cy="1728192"/>
            <a:chOff x="595592" y="754950"/>
            <a:chExt cx="923328" cy="1512943"/>
          </a:xfrm>
        </p:grpSpPr>
        <p:grpSp>
          <p:nvGrpSpPr>
            <p:cNvPr id="6" name="object 5"/>
            <p:cNvGrpSpPr/>
            <p:nvPr/>
          </p:nvGrpSpPr>
          <p:grpSpPr>
            <a:xfrm>
              <a:off x="911014" y="911410"/>
              <a:ext cx="582930" cy="204470"/>
              <a:chOff x="911014" y="911410"/>
              <a:chExt cx="582930" cy="204470"/>
            </a:xfrm>
          </p:grpSpPr>
          <p:sp>
            <p:nvSpPr>
              <p:cNvPr id="39" name="object 6"/>
              <p:cNvSpPr/>
              <p:nvPr/>
            </p:nvSpPr>
            <p:spPr>
              <a:xfrm>
                <a:off x="914189" y="914585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7"/>
              <p:cNvSpPr/>
              <p:nvPr/>
            </p:nvSpPr>
            <p:spPr>
              <a:xfrm>
                <a:off x="914189" y="914585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ln w="6326">
                <a:solidFill>
                  <a:srgbClr val="B2B2B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" name="object 8"/>
            <p:cNvSpPr txBox="1"/>
            <p:nvPr/>
          </p:nvSpPr>
          <p:spPr>
            <a:xfrm>
              <a:off x="885825" y="754950"/>
              <a:ext cx="633095" cy="31305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95"/>
                </a:spcBef>
              </a:pPr>
              <a:r>
                <a:rPr sz="800" b="1" spc="-20" dirty="0">
                  <a:latin typeface="微软雅黑" panose="020B0503020204020204" charset="-122"/>
                  <a:cs typeface="微软雅黑" panose="020B0503020204020204" charset="-122"/>
                </a:rPr>
                <a:t>传统视觉链路</a:t>
              </a:r>
              <a:endParaRPr sz="800" dirty="0">
                <a:latin typeface="微软雅黑" panose="020B0503020204020204" charset="-122"/>
                <a:cs typeface="微软雅黑" panose="020B0503020204020204" charset="-122"/>
              </a:endParaRPr>
            </a:p>
            <a:p>
              <a:pPr algn="ctr">
                <a:lnSpc>
                  <a:spcPct val="100000"/>
                </a:lnSpc>
                <a:spcBef>
                  <a:spcPts val="585"/>
                </a:spcBef>
              </a:pPr>
              <a:r>
                <a:rPr sz="600" spc="-10" dirty="0">
                  <a:latin typeface="Georgia" panose="02040502050405020303"/>
                  <a:cs typeface="Georgia" panose="02040502050405020303"/>
                </a:rPr>
                <a:t>Sensor</a:t>
              </a:r>
              <a:endParaRPr sz="600" dirty="0">
                <a:latin typeface="Georgia" panose="02040502050405020303"/>
                <a:cs typeface="Georgia" panose="02040502050405020303"/>
              </a:endParaRPr>
            </a:p>
          </p:txBody>
        </p:sp>
        <p:grpSp>
          <p:nvGrpSpPr>
            <p:cNvPr id="8" name="object 9"/>
            <p:cNvGrpSpPr/>
            <p:nvPr/>
          </p:nvGrpSpPr>
          <p:grpSpPr>
            <a:xfrm>
              <a:off x="911014" y="1199414"/>
              <a:ext cx="582930" cy="204470"/>
              <a:chOff x="911014" y="1199414"/>
              <a:chExt cx="582930" cy="204470"/>
            </a:xfrm>
          </p:grpSpPr>
          <p:sp>
            <p:nvSpPr>
              <p:cNvPr id="37" name="object 10"/>
              <p:cNvSpPr/>
              <p:nvPr/>
            </p:nvSpPr>
            <p:spPr>
              <a:xfrm>
                <a:off x="914189" y="1202589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6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6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11"/>
              <p:cNvSpPr/>
              <p:nvPr/>
            </p:nvSpPr>
            <p:spPr>
              <a:xfrm>
                <a:off x="914189" y="1202589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6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6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ln w="6326">
                <a:solidFill>
                  <a:srgbClr val="B2B2B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" name="object 12"/>
            <p:cNvSpPr txBox="1"/>
            <p:nvPr/>
          </p:nvSpPr>
          <p:spPr>
            <a:xfrm>
              <a:off x="1087691" y="1239283"/>
              <a:ext cx="229235" cy="11683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00" spc="90" dirty="0">
                  <a:latin typeface="Georgia" panose="02040502050405020303"/>
                  <a:cs typeface="Georgia" panose="02040502050405020303"/>
                </a:rPr>
                <a:t>ADC</a:t>
              </a:r>
              <a:endParaRPr sz="600">
                <a:latin typeface="Georgia" panose="02040502050405020303"/>
                <a:cs typeface="Georgia" panose="02040502050405020303"/>
              </a:endParaRPr>
            </a:p>
          </p:txBody>
        </p:sp>
        <p:grpSp>
          <p:nvGrpSpPr>
            <p:cNvPr id="11" name="object 13"/>
            <p:cNvGrpSpPr/>
            <p:nvPr/>
          </p:nvGrpSpPr>
          <p:grpSpPr>
            <a:xfrm>
              <a:off x="911014" y="1487419"/>
              <a:ext cx="582930" cy="492759"/>
              <a:chOff x="911014" y="1487419"/>
              <a:chExt cx="582930" cy="492759"/>
            </a:xfrm>
          </p:grpSpPr>
          <p:sp>
            <p:nvSpPr>
              <p:cNvPr id="33" name="object 14"/>
              <p:cNvSpPr/>
              <p:nvPr/>
            </p:nvSpPr>
            <p:spPr>
              <a:xfrm>
                <a:off x="914189" y="1490594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15"/>
              <p:cNvSpPr/>
              <p:nvPr/>
            </p:nvSpPr>
            <p:spPr>
              <a:xfrm>
                <a:off x="914189" y="1490594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ln w="6326">
                <a:solidFill>
                  <a:srgbClr val="B2B2B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16"/>
              <p:cNvSpPr/>
              <p:nvPr/>
            </p:nvSpPr>
            <p:spPr>
              <a:xfrm>
                <a:off x="914189" y="1778593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17"/>
              <p:cNvSpPr/>
              <p:nvPr/>
            </p:nvSpPr>
            <p:spPr>
              <a:xfrm>
                <a:off x="914189" y="1778593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5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5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ln w="6326">
                <a:solidFill>
                  <a:srgbClr val="B2B2B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object 18"/>
            <p:cNvSpPr txBox="1"/>
            <p:nvPr/>
          </p:nvSpPr>
          <p:spPr>
            <a:xfrm>
              <a:off x="995794" y="1519166"/>
              <a:ext cx="413384" cy="41211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40005">
                <a:lnSpc>
                  <a:spcPct val="100000"/>
                </a:lnSpc>
                <a:spcBef>
                  <a:spcPts val="95"/>
                </a:spcBef>
              </a:pPr>
              <a:r>
                <a:rPr sz="600" spc="50" dirty="0">
                  <a:latin typeface="Georgia" panose="02040502050405020303"/>
                  <a:cs typeface="Georgia" panose="02040502050405020303"/>
                </a:rPr>
                <a:t>Memory</a:t>
              </a:r>
              <a:endParaRPr sz="600">
                <a:latin typeface="Georgia" panose="02040502050405020303"/>
                <a:cs typeface="Georgia" panose="02040502050405020303"/>
              </a:endParaRPr>
            </a:p>
            <a:p>
              <a:pPr>
                <a:lnSpc>
                  <a:spcPct val="100000"/>
                </a:lnSpc>
              </a:pPr>
              <a:endParaRPr sz="600">
                <a:latin typeface="Georgia" panose="02040502050405020303"/>
                <a:cs typeface="Georgia" panose="02040502050405020303"/>
              </a:endParaRPr>
            </a:p>
            <a:p>
              <a:pPr>
                <a:lnSpc>
                  <a:spcPct val="100000"/>
                </a:lnSpc>
                <a:spcBef>
                  <a:spcPts val="245"/>
                </a:spcBef>
              </a:pPr>
              <a:endParaRPr sz="600">
                <a:latin typeface="Georgia" panose="02040502050405020303"/>
                <a:cs typeface="Georgia" panose="02040502050405020303"/>
              </a:endParaRPr>
            </a:p>
            <a:p>
              <a:pPr marL="12700">
                <a:lnSpc>
                  <a:spcPct val="100000"/>
                </a:lnSpc>
              </a:pPr>
              <a:r>
                <a:rPr sz="600" spc="35" dirty="0">
                  <a:latin typeface="Georgia" panose="02040502050405020303"/>
                  <a:cs typeface="Georgia" panose="02040502050405020303"/>
                </a:rPr>
                <a:t>Processor</a:t>
              </a:r>
              <a:endParaRPr sz="600">
                <a:latin typeface="Georgia" panose="02040502050405020303"/>
                <a:cs typeface="Georgia" panose="02040502050405020303"/>
              </a:endParaRPr>
            </a:p>
          </p:txBody>
        </p:sp>
        <p:grpSp>
          <p:nvGrpSpPr>
            <p:cNvPr id="13" name="object 19"/>
            <p:cNvGrpSpPr/>
            <p:nvPr/>
          </p:nvGrpSpPr>
          <p:grpSpPr>
            <a:xfrm>
              <a:off x="911014" y="2063423"/>
              <a:ext cx="582930" cy="204470"/>
              <a:chOff x="911014" y="2063423"/>
              <a:chExt cx="582930" cy="204470"/>
            </a:xfrm>
          </p:grpSpPr>
          <p:sp>
            <p:nvSpPr>
              <p:cNvPr id="31" name="object 20"/>
              <p:cNvSpPr/>
              <p:nvPr/>
            </p:nvSpPr>
            <p:spPr>
              <a:xfrm>
                <a:off x="914189" y="2066598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6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6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solidFill>
                <a:srgbClr val="F2F2F2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21"/>
              <p:cNvSpPr/>
              <p:nvPr/>
            </p:nvSpPr>
            <p:spPr>
              <a:xfrm>
                <a:off x="914189" y="2066598"/>
                <a:ext cx="576580" cy="198120"/>
              </a:xfrm>
              <a:custGeom>
                <a:avLst/>
                <a:gdLst/>
                <a:ahLst/>
                <a:cxnLst/>
                <a:rect l="l" t="t" r="r" b="b"/>
                <a:pathLst>
                  <a:path w="576580" h="198119">
                    <a:moveTo>
                      <a:pt x="525398" y="0"/>
                    </a:moveTo>
                    <a:lnTo>
                      <a:pt x="50610" y="0"/>
                    </a:lnTo>
                    <a:lnTo>
                      <a:pt x="30910" y="3977"/>
                    </a:lnTo>
                    <a:lnTo>
                      <a:pt x="14823" y="14823"/>
                    </a:lnTo>
                    <a:lnTo>
                      <a:pt x="3977" y="30910"/>
                    </a:lnTo>
                    <a:lnTo>
                      <a:pt x="0" y="50610"/>
                    </a:lnTo>
                    <a:lnTo>
                      <a:pt x="0" y="147392"/>
                    </a:lnTo>
                    <a:lnTo>
                      <a:pt x="3977" y="167092"/>
                    </a:lnTo>
                    <a:lnTo>
                      <a:pt x="14823" y="183179"/>
                    </a:lnTo>
                    <a:lnTo>
                      <a:pt x="30910" y="194026"/>
                    </a:lnTo>
                    <a:lnTo>
                      <a:pt x="50610" y="198003"/>
                    </a:lnTo>
                    <a:lnTo>
                      <a:pt x="525398" y="198003"/>
                    </a:lnTo>
                    <a:lnTo>
                      <a:pt x="545098" y="194026"/>
                    </a:lnTo>
                    <a:lnTo>
                      <a:pt x="561185" y="183179"/>
                    </a:lnTo>
                    <a:lnTo>
                      <a:pt x="572032" y="167092"/>
                    </a:lnTo>
                    <a:lnTo>
                      <a:pt x="576009" y="147392"/>
                    </a:lnTo>
                    <a:lnTo>
                      <a:pt x="576009" y="50610"/>
                    </a:lnTo>
                    <a:lnTo>
                      <a:pt x="572032" y="30910"/>
                    </a:lnTo>
                    <a:lnTo>
                      <a:pt x="561185" y="14823"/>
                    </a:lnTo>
                    <a:lnTo>
                      <a:pt x="545098" y="3977"/>
                    </a:lnTo>
                    <a:lnTo>
                      <a:pt x="525398" y="0"/>
                    </a:lnTo>
                    <a:close/>
                  </a:path>
                </a:pathLst>
              </a:custGeom>
              <a:ln w="6326">
                <a:solidFill>
                  <a:srgbClr val="B2B2B2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" name="object 22"/>
            <p:cNvSpPr txBox="1"/>
            <p:nvPr/>
          </p:nvSpPr>
          <p:spPr>
            <a:xfrm>
              <a:off x="982243" y="2096305"/>
              <a:ext cx="440055" cy="11683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600" spc="50" dirty="0">
                  <a:latin typeface="Georgia" panose="02040502050405020303"/>
                  <a:cs typeface="Georgia" panose="02040502050405020303"/>
                </a:rPr>
                <a:t>Algorithm</a:t>
              </a:r>
              <a:endParaRPr sz="600">
                <a:latin typeface="Georgia" panose="02040502050405020303"/>
                <a:cs typeface="Georgia" panose="02040502050405020303"/>
              </a:endParaRPr>
            </a:p>
          </p:txBody>
        </p:sp>
        <p:grpSp>
          <p:nvGrpSpPr>
            <p:cNvPr id="15" name="object 23"/>
            <p:cNvGrpSpPr/>
            <p:nvPr/>
          </p:nvGrpSpPr>
          <p:grpSpPr>
            <a:xfrm>
              <a:off x="1175877" y="1115751"/>
              <a:ext cx="52705" cy="948055"/>
              <a:chOff x="1175877" y="1115751"/>
              <a:chExt cx="52705" cy="948055"/>
            </a:xfrm>
          </p:grpSpPr>
          <p:sp>
            <p:nvSpPr>
              <p:cNvPr id="22" name="object 24"/>
              <p:cNvSpPr/>
              <p:nvPr/>
            </p:nvSpPr>
            <p:spPr>
              <a:xfrm>
                <a:off x="1202194" y="1115751"/>
                <a:ext cx="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778"/>
                    </a:lnTo>
                  </a:path>
                </a:pathLst>
              </a:custGeom>
              <a:ln w="10122">
                <a:solidFill>
                  <a:srgbClr val="99999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5"/>
              <p:cNvSpPr/>
              <p:nvPr/>
            </p:nvSpPr>
            <p:spPr>
              <a:xfrm>
                <a:off x="1175877" y="1146792"/>
                <a:ext cx="52705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52705" h="52705">
                    <a:moveTo>
                      <a:pt x="52633" y="0"/>
                    </a:moveTo>
                    <a:lnTo>
                      <a:pt x="26316" y="19737"/>
                    </a:lnTo>
                    <a:lnTo>
                      <a:pt x="0" y="0"/>
                    </a:lnTo>
                    <a:lnTo>
                      <a:pt x="26316" y="52634"/>
                    </a:lnTo>
                    <a:lnTo>
                      <a:pt x="52633" y="0"/>
                    </a:lnTo>
                    <a:close/>
                  </a:path>
                </a:pathLst>
              </a:custGeom>
              <a:solidFill>
                <a:srgbClr val="99999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6"/>
              <p:cNvSpPr/>
              <p:nvPr/>
            </p:nvSpPr>
            <p:spPr>
              <a:xfrm>
                <a:off x="1202194" y="1403756"/>
                <a:ext cx="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778"/>
                    </a:lnTo>
                  </a:path>
                </a:pathLst>
              </a:custGeom>
              <a:ln w="10122">
                <a:solidFill>
                  <a:srgbClr val="99999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7"/>
              <p:cNvSpPr/>
              <p:nvPr/>
            </p:nvSpPr>
            <p:spPr>
              <a:xfrm>
                <a:off x="1175877" y="1434797"/>
                <a:ext cx="52705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52705" h="52705">
                    <a:moveTo>
                      <a:pt x="52633" y="0"/>
                    </a:moveTo>
                    <a:lnTo>
                      <a:pt x="26316" y="19737"/>
                    </a:lnTo>
                    <a:lnTo>
                      <a:pt x="0" y="0"/>
                    </a:lnTo>
                    <a:lnTo>
                      <a:pt x="26316" y="52634"/>
                    </a:lnTo>
                    <a:lnTo>
                      <a:pt x="52633" y="0"/>
                    </a:lnTo>
                    <a:close/>
                  </a:path>
                </a:pathLst>
              </a:custGeom>
              <a:solidFill>
                <a:srgbClr val="99999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8"/>
              <p:cNvSpPr/>
              <p:nvPr/>
            </p:nvSpPr>
            <p:spPr>
              <a:xfrm>
                <a:off x="1202194" y="1691760"/>
                <a:ext cx="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773"/>
                    </a:lnTo>
                  </a:path>
                </a:pathLst>
              </a:custGeom>
              <a:ln w="10122">
                <a:solidFill>
                  <a:srgbClr val="99999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9"/>
              <p:cNvSpPr/>
              <p:nvPr/>
            </p:nvSpPr>
            <p:spPr>
              <a:xfrm>
                <a:off x="1175877" y="1722796"/>
                <a:ext cx="52705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52705" h="52705">
                    <a:moveTo>
                      <a:pt x="52633" y="0"/>
                    </a:moveTo>
                    <a:lnTo>
                      <a:pt x="26316" y="19737"/>
                    </a:lnTo>
                    <a:lnTo>
                      <a:pt x="0" y="0"/>
                    </a:lnTo>
                    <a:lnTo>
                      <a:pt x="26316" y="52634"/>
                    </a:lnTo>
                    <a:lnTo>
                      <a:pt x="52633" y="0"/>
                    </a:lnTo>
                    <a:close/>
                  </a:path>
                </a:pathLst>
              </a:custGeom>
              <a:solidFill>
                <a:srgbClr val="99999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30"/>
              <p:cNvSpPr/>
              <p:nvPr/>
            </p:nvSpPr>
            <p:spPr>
              <a:xfrm>
                <a:off x="1202194" y="1979760"/>
                <a:ext cx="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h="50800">
                    <a:moveTo>
                      <a:pt x="0" y="0"/>
                    </a:moveTo>
                    <a:lnTo>
                      <a:pt x="0" y="50778"/>
                    </a:lnTo>
                  </a:path>
                </a:pathLst>
              </a:custGeom>
              <a:ln w="10122">
                <a:solidFill>
                  <a:srgbClr val="99999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31"/>
              <p:cNvSpPr/>
              <p:nvPr/>
            </p:nvSpPr>
            <p:spPr>
              <a:xfrm>
                <a:off x="1175877" y="2010801"/>
                <a:ext cx="52705" cy="52705"/>
              </a:xfrm>
              <a:custGeom>
                <a:avLst/>
                <a:gdLst/>
                <a:ahLst/>
                <a:cxnLst/>
                <a:rect l="l" t="t" r="r" b="b"/>
                <a:pathLst>
                  <a:path w="52705" h="52705">
                    <a:moveTo>
                      <a:pt x="52633" y="0"/>
                    </a:moveTo>
                    <a:lnTo>
                      <a:pt x="26316" y="19737"/>
                    </a:lnTo>
                    <a:lnTo>
                      <a:pt x="0" y="0"/>
                    </a:lnTo>
                    <a:lnTo>
                      <a:pt x="26316" y="52634"/>
                    </a:lnTo>
                    <a:lnTo>
                      <a:pt x="52633" y="0"/>
                    </a:lnTo>
                    <a:close/>
                  </a:path>
                </a:pathLst>
              </a:custGeom>
              <a:solidFill>
                <a:srgbClr val="99999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" name="object 32"/>
            <p:cNvSpPr/>
            <p:nvPr/>
          </p:nvSpPr>
          <p:spPr>
            <a:xfrm>
              <a:off x="770190" y="1013587"/>
              <a:ext cx="72390" cy="1152525"/>
            </a:xfrm>
            <a:custGeom>
              <a:avLst/>
              <a:gdLst/>
              <a:ahLst/>
              <a:cxnLst/>
              <a:rect l="l" t="t" r="r" b="b"/>
              <a:pathLst>
                <a:path w="72390" h="1152525">
                  <a:moveTo>
                    <a:pt x="71999" y="0"/>
                  </a:moveTo>
                  <a:lnTo>
                    <a:pt x="0" y="0"/>
                  </a:lnTo>
                  <a:lnTo>
                    <a:pt x="0" y="1152013"/>
                  </a:lnTo>
                  <a:lnTo>
                    <a:pt x="71999" y="1152013"/>
                  </a:lnTo>
                </a:path>
              </a:pathLst>
            </a:custGeom>
            <a:ln w="12652">
              <a:solidFill>
                <a:srgbClr val="B2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33"/>
            <p:cNvSpPr txBox="1"/>
            <p:nvPr/>
          </p:nvSpPr>
          <p:spPr>
            <a:xfrm>
              <a:off x="595592" y="1340020"/>
              <a:ext cx="125730" cy="499745"/>
            </a:xfrm>
            <a:prstGeom prst="rect">
              <a:avLst/>
            </a:prstGeom>
          </p:spPr>
          <p:txBody>
            <a:bodyPr vert="vert270" wrap="square" lIns="0" tIns="1651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30"/>
                </a:spcBef>
              </a:pPr>
              <a:r>
                <a:rPr sz="600" spc="-20" dirty="0">
                  <a:solidFill>
                    <a:srgbClr val="B20000"/>
                  </a:solidFill>
                  <a:latin typeface="微软雅黑" panose="020B0503020204020204" charset="-122"/>
                  <a:cs typeface="微软雅黑" panose="020B0503020204020204" charset="-122"/>
                </a:rPr>
                <a:t>冯∙诺依曼瓶颈</a:t>
              </a:r>
              <a:endParaRPr sz="600"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1842260" y="1442343"/>
            <a:ext cx="259228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/>
              <a:t>能耗高：</a:t>
            </a:r>
            <a:endParaRPr lang="en-US" altLang="zh-CN" sz="900" b="1" dirty="0"/>
          </a:p>
          <a:p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绝大部分能量都消耗在数据的移动过程</a:t>
            </a:r>
            <a:endParaRPr lang="en-US" altLang="zh-CN" sz="9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900" dirty="0"/>
          </a:p>
          <a:p>
            <a:endParaRPr lang="en-US" altLang="zh-CN" sz="900" b="1" dirty="0"/>
          </a:p>
          <a:p>
            <a:endParaRPr lang="en-US" altLang="zh-CN" sz="900" b="1" dirty="0"/>
          </a:p>
          <a:p>
            <a:endParaRPr lang="en-US" altLang="zh-CN" sz="900" b="1" dirty="0"/>
          </a:p>
          <a:p>
            <a:r>
              <a:rPr lang="zh-CN" altLang="en-US" sz="900" b="1" dirty="0"/>
              <a:t>延迟高：</a:t>
            </a:r>
            <a:endParaRPr lang="en-US" altLang="zh-CN" sz="900" b="1" dirty="0"/>
          </a:p>
          <a:p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虽然 </a:t>
            </a:r>
            <a:r>
              <a: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HDR 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技术可解决过曝</a:t>
            </a:r>
            <a:r>
              <a: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欠曝问题，但其核心是对多张不同曝光的图像进行融合。</a:t>
            </a:r>
            <a:endParaRPr lang="en-US" altLang="zh-CN" sz="9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高质量的 </a:t>
            </a:r>
            <a:r>
              <a:rPr lang="en-US" altLang="zh-CN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HDR 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重建通常需要处理数十兆字节的数据。</a:t>
            </a:r>
            <a:endParaRPr lang="zh-CN" altLang="en-US" sz="900" b="1" dirty="0">
              <a:solidFill>
                <a:schemeClr val="bg1"/>
              </a:solidFill>
              <a:highlight>
                <a:srgbClr val="FF0000"/>
              </a:highlight>
            </a:endParaRPr>
          </a:p>
        </p:txBody>
      </p:sp>
      <p:sp>
        <p:nvSpPr>
          <p:cNvPr id="43" name="右大括号 42"/>
          <p:cNvSpPr/>
          <p:nvPr/>
        </p:nvSpPr>
        <p:spPr>
          <a:xfrm>
            <a:off x="1427462" y="1514352"/>
            <a:ext cx="59212" cy="117956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/>
          <p:cNvCxnSpPr>
            <a:stCxn id="43" idx="1"/>
          </p:cNvCxnSpPr>
          <p:nvPr/>
        </p:nvCxnSpPr>
        <p:spPr>
          <a:xfrm flipV="1">
            <a:off x="1486674" y="1593761"/>
            <a:ext cx="412617" cy="510372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1918406" y="1613467"/>
            <a:ext cx="4057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 flipV="1">
            <a:off x="1372566" y="2422967"/>
            <a:ext cx="500436" cy="487291"/>
          </a:xfrm>
          <a:prstGeom prst="straightConnector1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1910216" y="2433971"/>
            <a:ext cx="4057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055" y="202486"/>
            <a:ext cx="24745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zh-CN" altLang="en-US" spc="-5" dirty="0">
                <a:latin typeface="微软雅黑" panose="020B0503020204020204" charset="-122"/>
                <a:ea typeface="微软雅黑" panose="020B0503020204020204" charset="-122"/>
              </a:rPr>
              <a:t>解决方案</a:t>
            </a:r>
            <a:endParaRPr spc="-5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2193657" y="1400321"/>
            <a:ext cx="2223408" cy="514350"/>
            <a:chOff x="2157039" y="1279071"/>
            <a:chExt cx="2223408" cy="514350"/>
          </a:xfrm>
        </p:grpSpPr>
        <p:grpSp>
          <p:nvGrpSpPr>
            <p:cNvPr id="69" name="组合 68"/>
            <p:cNvGrpSpPr/>
            <p:nvPr/>
          </p:nvGrpSpPr>
          <p:grpSpPr>
            <a:xfrm>
              <a:off x="2157039" y="1279071"/>
              <a:ext cx="867410" cy="514350"/>
              <a:chOff x="2246789" y="1301756"/>
              <a:chExt cx="867410" cy="514350"/>
            </a:xfrm>
          </p:grpSpPr>
          <p:grpSp>
            <p:nvGrpSpPr>
              <p:cNvPr id="35" name="object 35"/>
              <p:cNvGrpSpPr/>
              <p:nvPr/>
            </p:nvGrpSpPr>
            <p:grpSpPr>
              <a:xfrm>
                <a:off x="2246789" y="1301756"/>
                <a:ext cx="867410" cy="514350"/>
                <a:chOff x="2568525" y="1044509"/>
                <a:chExt cx="867410" cy="514350"/>
              </a:xfrm>
            </p:grpSpPr>
            <p:sp>
              <p:nvSpPr>
                <p:cNvPr id="36" name="object 36"/>
                <p:cNvSpPr/>
                <p:nvPr/>
              </p:nvSpPr>
              <p:spPr>
                <a:xfrm>
                  <a:off x="2573605" y="1049589"/>
                  <a:ext cx="857250" cy="504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0" h="504190">
                      <a:moveTo>
                        <a:pt x="806611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453393"/>
                      </a:lnTo>
                      <a:lnTo>
                        <a:pt x="3977" y="473093"/>
                      </a:lnTo>
                      <a:lnTo>
                        <a:pt x="14823" y="489180"/>
                      </a:lnTo>
                      <a:lnTo>
                        <a:pt x="30910" y="500027"/>
                      </a:lnTo>
                      <a:lnTo>
                        <a:pt x="50610" y="504004"/>
                      </a:lnTo>
                      <a:lnTo>
                        <a:pt x="806611" y="504004"/>
                      </a:lnTo>
                      <a:lnTo>
                        <a:pt x="826311" y="500027"/>
                      </a:lnTo>
                      <a:lnTo>
                        <a:pt x="842399" y="489180"/>
                      </a:lnTo>
                      <a:lnTo>
                        <a:pt x="853245" y="473093"/>
                      </a:lnTo>
                      <a:lnTo>
                        <a:pt x="857222" y="453393"/>
                      </a:lnTo>
                      <a:lnTo>
                        <a:pt x="857222" y="50610"/>
                      </a:lnTo>
                      <a:lnTo>
                        <a:pt x="853245" y="30910"/>
                      </a:lnTo>
                      <a:lnTo>
                        <a:pt x="842399" y="14823"/>
                      </a:lnTo>
                      <a:lnTo>
                        <a:pt x="826311" y="3977"/>
                      </a:lnTo>
                      <a:lnTo>
                        <a:pt x="806611" y="0"/>
                      </a:lnTo>
                      <a:close/>
                    </a:path>
                  </a:pathLst>
                </a:custGeom>
                <a:solidFill>
                  <a:srgbClr val="F0E8EE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37" name="object 37"/>
                <p:cNvSpPr/>
                <p:nvPr/>
              </p:nvSpPr>
              <p:spPr>
                <a:xfrm>
                  <a:off x="2573605" y="1049589"/>
                  <a:ext cx="857250" cy="5041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0" h="504190">
                      <a:moveTo>
                        <a:pt x="806611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453393"/>
                      </a:lnTo>
                      <a:lnTo>
                        <a:pt x="3977" y="473093"/>
                      </a:lnTo>
                      <a:lnTo>
                        <a:pt x="14823" y="489180"/>
                      </a:lnTo>
                      <a:lnTo>
                        <a:pt x="30910" y="500027"/>
                      </a:lnTo>
                      <a:lnTo>
                        <a:pt x="50610" y="504004"/>
                      </a:lnTo>
                      <a:lnTo>
                        <a:pt x="806611" y="504004"/>
                      </a:lnTo>
                      <a:lnTo>
                        <a:pt x="826311" y="500027"/>
                      </a:lnTo>
                      <a:lnTo>
                        <a:pt x="842399" y="489180"/>
                      </a:lnTo>
                      <a:lnTo>
                        <a:pt x="853245" y="473093"/>
                      </a:lnTo>
                      <a:lnTo>
                        <a:pt x="857222" y="453393"/>
                      </a:lnTo>
                      <a:lnTo>
                        <a:pt x="857222" y="50610"/>
                      </a:lnTo>
                      <a:lnTo>
                        <a:pt x="853245" y="30910"/>
                      </a:lnTo>
                      <a:lnTo>
                        <a:pt x="842399" y="14823"/>
                      </a:lnTo>
                      <a:lnTo>
                        <a:pt x="826311" y="3977"/>
                      </a:lnTo>
                      <a:lnTo>
                        <a:pt x="806611" y="0"/>
                      </a:lnTo>
                      <a:close/>
                    </a:path>
                  </a:pathLst>
                </a:custGeom>
                <a:ln w="10122">
                  <a:solidFill>
                    <a:srgbClr val="70195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38" name="object 38"/>
              <p:cNvSpPr txBox="1"/>
              <p:nvPr/>
            </p:nvSpPr>
            <p:spPr>
              <a:xfrm>
                <a:off x="2364937" y="1411929"/>
                <a:ext cx="631190" cy="294005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73025" marR="65405" algn="ctr">
                  <a:lnSpc>
                    <a:spcPts val="700"/>
                  </a:lnSpc>
                  <a:spcBef>
                    <a:spcPts val="135"/>
                  </a:spcBef>
                </a:pPr>
                <a:r>
                  <a:rPr sz="600" dirty="0">
                    <a:latin typeface="Georgia" panose="02040502050405020303"/>
                    <a:cs typeface="Georgia" panose="02040502050405020303"/>
                  </a:rPr>
                  <a:t>InSe</a:t>
                </a:r>
                <a:r>
                  <a:rPr sz="600" spc="229" dirty="0">
                    <a:latin typeface="Georgia" panose="02040502050405020303"/>
                    <a:cs typeface="Georgia" panose="02040502050405020303"/>
                  </a:rPr>
                  <a:t> </a:t>
                </a:r>
                <a:r>
                  <a:rPr sz="600" spc="45" dirty="0">
                    <a:latin typeface="Georgia" panose="02040502050405020303"/>
                    <a:cs typeface="Georgia" panose="02040502050405020303"/>
                  </a:rPr>
                  <a:t>Synap-</a:t>
                </a:r>
                <a:r>
                  <a:rPr sz="600" spc="500" dirty="0">
                    <a:latin typeface="Georgia" panose="02040502050405020303"/>
                    <a:cs typeface="Georgia" panose="02040502050405020303"/>
                  </a:rPr>
                  <a:t> </a:t>
                </a:r>
                <a:r>
                  <a:rPr sz="600" spc="50" dirty="0">
                    <a:latin typeface="Georgia" panose="02040502050405020303"/>
                    <a:cs typeface="Georgia" panose="02040502050405020303"/>
                  </a:rPr>
                  <a:t>tic</a:t>
                </a:r>
                <a:r>
                  <a:rPr sz="600" spc="55" dirty="0">
                    <a:latin typeface="Georgia" panose="02040502050405020303"/>
                    <a:cs typeface="Georgia" panose="02040502050405020303"/>
                  </a:rPr>
                  <a:t> </a:t>
                </a:r>
                <a:r>
                  <a:rPr sz="600" spc="-10" dirty="0">
                    <a:latin typeface="Georgia" panose="02040502050405020303"/>
                    <a:cs typeface="Georgia" panose="02040502050405020303"/>
                  </a:rPr>
                  <a:t>Sensor</a:t>
                </a:r>
                <a:endParaRPr sz="600" dirty="0">
                  <a:latin typeface="Georgia" panose="02040502050405020303"/>
                  <a:cs typeface="Georgia" panose="02040502050405020303"/>
                </a:endParaRPr>
              </a:p>
              <a:p>
                <a:pPr algn="ctr">
                  <a:lnSpc>
                    <a:spcPts val="675"/>
                  </a:lnSpc>
                </a:pPr>
                <a:r>
                  <a:rPr sz="600" spc="60" dirty="0">
                    <a:latin typeface="Georgia" panose="02040502050405020303"/>
                    <a:cs typeface="Georgia" panose="02040502050405020303"/>
                  </a:rPr>
                  <a:t>(</a:t>
                </a:r>
                <a:r>
                  <a:rPr sz="600" spc="30" dirty="0">
                    <a:latin typeface="微软雅黑" panose="020B0503020204020204" charset="-122"/>
                    <a:cs typeface="微软雅黑" panose="020B0503020204020204" charset="-122"/>
                  </a:rPr>
                  <a:t>感知 </a:t>
                </a:r>
                <a:r>
                  <a:rPr sz="600" spc="110" dirty="0">
                    <a:latin typeface="Georgia" panose="02040502050405020303"/>
                    <a:cs typeface="Georgia" panose="02040502050405020303"/>
                  </a:rPr>
                  <a:t>+ </a:t>
                </a:r>
                <a:r>
                  <a:rPr sz="600" spc="40" dirty="0">
                    <a:latin typeface="微软雅黑" panose="020B0503020204020204" charset="-122"/>
                    <a:cs typeface="微软雅黑" panose="020B0503020204020204" charset="-122"/>
                  </a:rPr>
                  <a:t>预处理</a:t>
                </a:r>
                <a:r>
                  <a:rPr sz="600" spc="10" dirty="0">
                    <a:latin typeface="Georgia" panose="02040502050405020303"/>
                    <a:cs typeface="Georgia" panose="02040502050405020303"/>
                  </a:rPr>
                  <a:t>)</a:t>
                </a:r>
                <a:endParaRPr sz="600" dirty="0">
                  <a:latin typeface="Georgia" panose="02040502050405020303"/>
                  <a:cs typeface="Georgia" panose="02040502050405020303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3495257" y="1404675"/>
              <a:ext cx="885190" cy="268182"/>
              <a:chOff x="2238122" y="2299744"/>
              <a:chExt cx="885190" cy="268182"/>
            </a:xfrm>
          </p:grpSpPr>
          <p:grpSp>
            <p:nvGrpSpPr>
              <p:cNvPr id="39" name="object 39"/>
              <p:cNvGrpSpPr/>
              <p:nvPr/>
            </p:nvGrpSpPr>
            <p:grpSpPr>
              <a:xfrm>
                <a:off x="2238122" y="2299744"/>
                <a:ext cx="885190" cy="268182"/>
                <a:chOff x="2559844" y="2029461"/>
                <a:chExt cx="885190" cy="268182"/>
              </a:xfrm>
            </p:grpSpPr>
            <p:sp>
              <p:nvSpPr>
                <p:cNvPr id="40" name="object 40"/>
                <p:cNvSpPr/>
                <p:nvPr/>
              </p:nvSpPr>
              <p:spPr>
                <a:xfrm>
                  <a:off x="2559844" y="2034118"/>
                  <a:ext cx="885190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189" h="263525">
                      <a:moveTo>
                        <a:pt x="834132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212351"/>
                      </a:lnTo>
                      <a:lnTo>
                        <a:pt x="3977" y="232052"/>
                      </a:lnTo>
                      <a:lnTo>
                        <a:pt x="14823" y="248139"/>
                      </a:lnTo>
                      <a:lnTo>
                        <a:pt x="30910" y="258985"/>
                      </a:lnTo>
                      <a:lnTo>
                        <a:pt x="50610" y="262962"/>
                      </a:lnTo>
                      <a:lnTo>
                        <a:pt x="834132" y="262962"/>
                      </a:lnTo>
                      <a:lnTo>
                        <a:pt x="853832" y="258985"/>
                      </a:lnTo>
                      <a:lnTo>
                        <a:pt x="869919" y="248139"/>
                      </a:lnTo>
                      <a:lnTo>
                        <a:pt x="880765" y="232052"/>
                      </a:lnTo>
                      <a:lnTo>
                        <a:pt x="884742" y="212351"/>
                      </a:lnTo>
                      <a:lnTo>
                        <a:pt x="884742" y="50610"/>
                      </a:lnTo>
                      <a:lnTo>
                        <a:pt x="880765" y="30910"/>
                      </a:lnTo>
                      <a:lnTo>
                        <a:pt x="869919" y="14823"/>
                      </a:lnTo>
                      <a:lnTo>
                        <a:pt x="853832" y="3977"/>
                      </a:lnTo>
                      <a:lnTo>
                        <a:pt x="834132" y="0"/>
                      </a:lnTo>
                      <a:close/>
                    </a:path>
                  </a:pathLst>
                </a:custGeom>
                <a:solidFill>
                  <a:srgbClr val="F0E8EE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41" name="object 41"/>
                <p:cNvSpPr/>
                <p:nvPr/>
              </p:nvSpPr>
              <p:spPr>
                <a:xfrm>
                  <a:off x="2559844" y="2029461"/>
                  <a:ext cx="885190" cy="263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189" h="263525">
                      <a:moveTo>
                        <a:pt x="834132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212351"/>
                      </a:lnTo>
                      <a:lnTo>
                        <a:pt x="3977" y="232052"/>
                      </a:lnTo>
                      <a:lnTo>
                        <a:pt x="14823" y="248139"/>
                      </a:lnTo>
                      <a:lnTo>
                        <a:pt x="30910" y="258985"/>
                      </a:lnTo>
                      <a:lnTo>
                        <a:pt x="50610" y="262962"/>
                      </a:lnTo>
                      <a:lnTo>
                        <a:pt x="834132" y="262962"/>
                      </a:lnTo>
                      <a:lnTo>
                        <a:pt x="853832" y="258985"/>
                      </a:lnTo>
                      <a:lnTo>
                        <a:pt x="869919" y="248139"/>
                      </a:lnTo>
                      <a:lnTo>
                        <a:pt x="880765" y="232052"/>
                      </a:lnTo>
                      <a:lnTo>
                        <a:pt x="884742" y="212351"/>
                      </a:lnTo>
                      <a:lnTo>
                        <a:pt x="884742" y="50610"/>
                      </a:lnTo>
                      <a:lnTo>
                        <a:pt x="880765" y="30910"/>
                      </a:lnTo>
                      <a:lnTo>
                        <a:pt x="869919" y="14823"/>
                      </a:lnTo>
                      <a:lnTo>
                        <a:pt x="853832" y="3977"/>
                      </a:lnTo>
                      <a:lnTo>
                        <a:pt x="834132" y="0"/>
                      </a:lnTo>
                      <a:close/>
                    </a:path>
                  </a:pathLst>
                </a:custGeom>
                <a:ln w="10122">
                  <a:solidFill>
                    <a:srgbClr val="70195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42" name="object 42"/>
              <p:cNvSpPr txBox="1"/>
              <p:nvPr/>
            </p:nvSpPr>
            <p:spPr>
              <a:xfrm>
                <a:off x="2276024" y="2320601"/>
                <a:ext cx="808990" cy="205104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160655" marR="5080" indent="-148590">
                  <a:lnSpc>
                    <a:spcPts val="700"/>
                  </a:lnSpc>
                  <a:spcBef>
                    <a:spcPts val="135"/>
                  </a:spcBef>
                </a:pPr>
                <a:r>
                  <a:rPr sz="600" spc="45" dirty="0">
                    <a:latin typeface="Georgia" panose="02040502050405020303"/>
                    <a:cs typeface="Georgia" panose="02040502050405020303"/>
                  </a:rPr>
                  <a:t>Eﬀicient</a:t>
                </a:r>
                <a:r>
                  <a:rPr sz="600" spc="140" dirty="0">
                    <a:latin typeface="Georgia" panose="02040502050405020303"/>
                    <a:cs typeface="Georgia" panose="02040502050405020303"/>
                  </a:rPr>
                  <a:t> </a:t>
                </a:r>
                <a:r>
                  <a:rPr sz="600" spc="50" dirty="0">
                    <a:latin typeface="Georgia" panose="02040502050405020303"/>
                    <a:cs typeface="Georgia" panose="02040502050405020303"/>
                  </a:rPr>
                  <a:t>Algorithm</a:t>
                </a:r>
                <a:r>
                  <a:rPr sz="600" spc="65" dirty="0">
                    <a:latin typeface="Georgia" panose="02040502050405020303"/>
                    <a:cs typeface="Georgia" panose="02040502050405020303"/>
                  </a:rPr>
                  <a:t> (YOLOv8n)</a:t>
                </a:r>
                <a:endParaRPr sz="600" dirty="0">
                  <a:latin typeface="Georgia" panose="02040502050405020303"/>
                  <a:cs typeface="Georgia" panose="02040502050405020303"/>
                </a:endParaRPr>
              </a:p>
            </p:txBody>
          </p:sp>
        </p:grpSp>
        <p:grpSp>
          <p:nvGrpSpPr>
            <p:cNvPr id="43" name="object 43"/>
            <p:cNvGrpSpPr/>
            <p:nvPr/>
          </p:nvGrpSpPr>
          <p:grpSpPr>
            <a:xfrm rot="16200000">
              <a:off x="3222706" y="1300843"/>
              <a:ext cx="74295" cy="470807"/>
              <a:chOff x="2965270" y="1558654"/>
              <a:chExt cx="74295" cy="470807"/>
            </a:xfrm>
          </p:grpSpPr>
          <p:sp>
            <p:nvSpPr>
              <p:cNvPr id="44" name="object 44"/>
              <p:cNvSpPr/>
              <p:nvPr/>
            </p:nvSpPr>
            <p:spPr>
              <a:xfrm>
                <a:off x="3002216" y="1558654"/>
                <a:ext cx="0" cy="424815"/>
              </a:xfrm>
              <a:custGeom>
                <a:avLst/>
                <a:gdLst/>
                <a:ahLst/>
                <a:cxnLst/>
                <a:rect l="l" t="t" r="r" b="b"/>
                <a:pathLst>
                  <a:path h="424814">
                    <a:moveTo>
                      <a:pt x="0" y="0"/>
                    </a:moveTo>
                    <a:lnTo>
                      <a:pt x="0" y="424221"/>
                    </a:lnTo>
                  </a:path>
                </a:pathLst>
              </a:custGeom>
              <a:ln w="18979">
                <a:solidFill>
                  <a:srgbClr val="701A5E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2965270" y="1955166"/>
                <a:ext cx="74295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74294" h="74294">
                    <a:moveTo>
                      <a:pt x="73891" y="0"/>
                    </a:moveTo>
                    <a:lnTo>
                      <a:pt x="36945" y="27709"/>
                    </a:lnTo>
                    <a:lnTo>
                      <a:pt x="0" y="0"/>
                    </a:lnTo>
                    <a:lnTo>
                      <a:pt x="36945" y="73891"/>
                    </a:lnTo>
                    <a:lnTo>
                      <a:pt x="73891" y="0"/>
                    </a:lnTo>
                    <a:close/>
                  </a:path>
                </a:pathLst>
              </a:custGeom>
              <a:solidFill>
                <a:srgbClr val="701A5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sp>
        <p:nvSpPr>
          <p:cNvPr id="46" name="object 46"/>
          <p:cNvSpPr txBox="1"/>
          <p:nvPr/>
        </p:nvSpPr>
        <p:spPr>
          <a:xfrm>
            <a:off x="2344844" y="1239377"/>
            <a:ext cx="4851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075" algn="l"/>
              </a:tabLst>
            </a:pPr>
            <a:r>
              <a:rPr sz="600" spc="-20" dirty="0">
                <a:solidFill>
                  <a:srgbClr val="701A5E"/>
                </a:solidFill>
                <a:latin typeface="微软雅黑" panose="020B0503020204020204" charset="-122"/>
                <a:cs typeface="微软雅黑" panose="020B0503020204020204" charset="-122"/>
              </a:rPr>
              <a:t>自适应调控</a:t>
            </a:r>
            <a:endParaRPr sz="6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73202" y="1249938"/>
            <a:ext cx="4851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075" algn="l"/>
              </a:tabLst>
            </a:pPr>
            <a:r>
              <a:rPr sz="600" spc="-20" dirty="0">
                <a:solidFill>
                  <a:srgbClr val="701A5E"/>
                </a:solidFill>
                <a:latin typeface="微软雅黑" panose="020B0503020204020204" charset="-122"/>
                <a:cs typeface="微软雅黑" panose="020B0503020204020204" charset="-122"/>
              </a:rPr>
              <a:t>低冗余输入</a:t>
            </a:r>
            <a:endParaRPr sz="6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089026" y="1223809"/>
            <a:ext cx="0" cy="1440180"/>
          </a:xfrm>
          <a:custGeom>
            <a:avLst/>
            <a:gdLst/>
            <a:ahLst/>
            <a:cxnLst/>
            <a:rect l="l" t="t" r="r" b="b"/>
            <a:pathLst>
              <a:path h="1440180">
                <a:moveTo>
                  <a:pt x="0" y="0"/>
                </a:moveTo>
                <a:lnTo>
                  <a:pt x="0" y="1440017"/>
                </a:lnTo>
              </a:path>
            </a:pathLst>
          </a:custGeom>
          <a:ln w="5060">
            <a:solidFill>
              <a:srgbClr val="D8D8D8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10"/>
          <p:cNvSpPr/>
          <p:nvPr/>
        </p:nvSpPr>
        <p:spPr>
          <a:xfrm>
            <a:off x="106767" y="614380"/>
            <a:ext cx="4463207" cy="349500"/>
          </a:xfrm>
          <a:custGeom>
            <a:avLst/>
            <a:gdLst/>
            <a:ahLst/>
            <a:cxnLst/>
            <a:rect l="l" t="t" r="r" b="b"/>
            <a:pathLst>
              <a:path w="4406265" h="402589">
                <a:moveTo>
                  <a:pt x="4405996" y="0"/>
                </a:moveTo>
                <a:lnTo>
                  <a:pt x="0" y="0"/>
                </a:lnTo>
                <a:lnTo>
                  <a:pt x="0" y="351411"/>
                </a:lnTo>
                <a:lnTo>
                  <a:pt x="4008" y="371136"/>
                </a:lnTo>
                <a:lnTo>
                  <a:pt x="14922" y="387288"/>
                </a:lnTo>
                <a:lnTo>
                  <a:pt x="31075" y="398203"/>
                </a:lnTo>
                <a:lnTo>
                  <a:pt x="50800" y="402211"/>
                </a:lnTo>
                <a:lnTo>
                  <a:pt x="4355195" y="402211"/>
                </a:lnTo>
                <a:lnTo>
                  <a:pt x="4374920" y="398203"/>
                </a:lnTo>
                <a:lnTo>
                  <a:pt x="4391073" y="387288"/>
                </a:lnTo>
                <a:lnTo>
                  <a:pt x="4401987" y="371136"/>
                </a:lnTo>
                <a:lnTo>
                  <a:pt x="4405996" y="351411"/>
                </a:lnTo>
                <a:lnTo>
                  <a:pt x="4405996" y="0"/>
                </a:lnTo>
                <a:close/>
              </a:path>
            </a:pathLst>
          </a:custGeom>
          <a:solidFill>
            <a:srgbClr val="F0E8EE"/>
          </a:solidFill>
        </p:spPr>
        <p:txBody>
          <a:bodyPr wrap="square" lIns="0" tIns="0" rIns="0" bIns="0" rtlCol="0"/>
          <a:lstStyle/>
          <a:p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利用</a:t>
            </a:r>
            <a:r>
              <a:rPr lang="zh-CN" altLang="en-US" sz="9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二维材料</a:t>
            </a:r>
            <a:r>
              <a:rPr lang="zh-CN" altLang="en-US" sz="900" b="1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（</a:t>
            </a:r>
            <a:r>
              <a:rPr lang="en-US" altLang="zh-CN" sz="900" b="1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 InSe </a:t>
            </a:r>
            <a:r>
              <a:rPr lang="zh-CN" altLang="en-US" sz="900" b="1" dirty="0">
                <a:latin typeface="Adobe 宋体 Std L" panose="02020300000000000000" pitchFamily="18" charset="-122"/>
                <a:ea typeface="Adobe 宋体 Std L" panose="02020300000000000000" pitchFamily="18" charset="-122"/>
              </a:rPr>
              <a:t>）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zh-CN" altLang="en-US" sz="9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光电特性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，通过模仿人眼视网膜细胞的电位工作机制，实现了类似人眼的</a:t>
            </a:r>
            <a:r>
              <a:rPr lang="zh-CN" altLang="en-US" sz="9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视觉适应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功能，以传感器对光强的自主适应代替</a:t>
            </a:r>
            <a:r>
              <a:rPr lang="en-US" altLang="zh-CN" sz="9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cpu</a:t>
            </a:r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还原图像的计算。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108952" y="954303"/>
            <a:ext cx="194421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b="1" dirty="0"/>
              <a:t>视觉适应</a:t>
            </a:r>
            <a:endParaRPr lang="en-US" altLang="zh-CN" sz="900" b="1" dirty="0"/>
          </a:p>
          <a:p>
            <a:r>
              <a:rPr lang="zh-CN" altLang="en-US" sz="900" dirty="0">
                <a:latin typeface="华文楷体" panose="02010600040101010101" pitchFamily="2" charset="-122"/>
                <a:ea typeface="华文楷体" panose="02010600040101010101" pitchFamily="2" charset="-122"/>
              </a:rPr>
              <a:t>根据环境光照的强弱，调整视网膜对光的敏感度。</a:t>
            </a:r>
          </a:p>
        </p:txBody>
      </p:sp>
      <p:grpSp>
        <p:nvGrpSpPr>
          <p:cNvPr id="113" name="组合 112"/>
          <p:cNvGrpSpPr/>
          <p:nvPr/>
        </p:nvGrpSpPr>
        <p:grpSpPr>
          <a:xfrm>
            <a:off x="2181577" y="2267407"/>
            <a:ext cx="2281283" cy="944068"/>
            <a:chOff x="2195715" y="2125529"/>
            <a:chExt cx="2281283" cy="1008112"/>
          </a:xfrm>
        </p:grpSpPr>
        <p:grpSp>
          <p:nvGrpSpPr>
            <p:cNvPr id="111" name="组合 110"/>
            <p:cNvGrpSpPr/>
            <p:nvPr/>
          </p:nvGrpSpPr>
          <p:grpSpPr>
            <a:xfrm>
              <a:off x="2195715" y="2262261"/>
              <a:ext cx="2262557" cy="613629"/>
              <a:chOff x="2141648" y="2136803"/>
              <a:chExt cx="2262557" cy="613629"/>
            </a:xfrm>
          </p:grpSpPr>
          <p:grpSp>
            <p:nvGrpSpPr>
              <p:cNvPr id="76" name="组合 75"/>
              <p:cNvGrpSpPr/>
              <p:nvPr/>
            </p:nvGrpSpPr>
            <p:grpSpPr>
              <a:xfrm>
                <a:off x="2558936" y="2554725"/>
                <a:ext cx="639543" cy="195707"/>
                <a:chOff x="2515683" y="2390745"/>
                <a:chExt cx="639543" cy="195707"/>
              </a:xfrm>
            </p:grpSpPr>
            <p:sp>
              <p:nvSpPr>
                <p:cNvPr id="74" name="object 37"/>
                <p:cNvSpPr/>
                <p:nvPr/>
              </p:nvSpPr>
              <p:spPr>
                <a:xfrm>
                  <a:off x="2515683" y="2393893"/>
                  <a:ext cx="607003" cy="192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0" h="504190">
                      <a:moveTo>
                        <a:pt x="806611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453393"/>
                      </a:lnTo>
                      <a:lnTo>
                        <a:pt x="3977" y="473093"/>
                      </a:lnTo>
                      <a:lnTo>
                        <a:pt x="14823" y="489180"/>
                      </a:lnTo>
                      <a:lnTo>
                        <a:pt x="30910" y="500027"/>
                      </a:lnTo>
                      <a:lnTo>
                        <a:pt x="50610" y="504004"/>
                      </a:lnTo>
                      <a:lnTo>
                        <a:pt x="806611" y="504004"/>
                      </a:lnTo>
                      <a:lnTo>
                        <a:pt x="826311" y="500027"/>
                      </a:lnTo>
                      <a:lnTo>
                        <a:pt x="842399" y="489180"/>
                      </a:lnTo>
                      <a:lnTo>
                        <a:pt x="853245" y="473093"/>
                      </a:lnTo>
                      <a:lnTo>
                        <a:pt x="857222" y="453393"/>
                      </a:lnTo>
                      <a:lnTo>
                        <a:pt x="857222" y="50610"/>
                      </a:lnTo>
                      <a:lnTo>
                        <a:pt x="853245" y="30910"/>
                      </a:lnTo>
                      <a:lnTo>
                        <a:pt x="842399" y="14823"/>
                      </a:lnTo>
                      <a:lnTo>
                        <a:pt x="826311" y="3977"/>
                      </a:lnTo>
                      <a:lnTo>
                        <a:pt x="806611" y="0"/>
                      </a:lnTo>
                      <a:close/>
                    </a:path>
                  </a:pathLst>
                </a:custGeom>
                <a:ln w="10122">
                  <a:solidFill>
                    <a:srgbClr val="70195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75" name="文本框 74"/>
                <p:cNvSpPr txBox="1"/>
                <p:nvPr/>
              </p:nvSpPr>
              <p:spPr>
                <a:xfrm>
                  <a:off x="2548224" y="2390745"/>
                  <a:ext cx="607002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600" dirty="0"/>
                    <a:t>光电突触</a:t>
                  </a:r>
                </a:p>
              </p:txBody>
            </p:sp>
          </p:grpSp>
          <p:grpSp>
            <p:nvGrpSpPr>
              <p:cNvPr id="82" name="object 43"/>
              <p:cNvGrpSpPr/>
              <p:nvPr/>
            </p:nvGrpSpPr>
            <p:grpSpPr>
              <a:xfrm rot="16200000">
                <a:off x="3268334" y="2512488"/>
                <a:ext cx="78537" cy="283327"/>
                <a:chOff x="2965270" y="1558654"/>
                <a:chExt cx="74295" cy="470807"/>
              </a:xfrm>
            </p:grpSpPr>
            <p:sp>
              <p:nvSpPr>
                <p:cNvPr id="83" name="object 44"/>
                <p:cNvSpPr/>
                <p:nvPr/>
              </p:nvSpPr>
              <p:spPr>
                <a:xfrm>
                  <a:off x="3002216" y="1558654"/>
                  <a:ext cx="0" cy="424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424814">
                      <a:moveTo>
                        <a:pt x="0" y="0"/>
                      </a:moveTo>
                      <a:lnTo>
                        <a:pt x="0" y="424221"/>
                      </a:lnTo>
                    </a:path>
                  </a:pathLst>
                </a:custGeom>
                <a:ln w="18979">
                  <a:solidFill>
                    <a:srgbClr val="701A5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84" name="object 45"/>
                <p:cNvSpPr/>
                <p:nvPr/>
              </p:nvSpPr>
              <p:spPr>
                <a:xfrm>
                  <a:off x="2965270" y="1955166"/>
                  <a:ext cx="74295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94" h="74294">
                      <a:moveTo>
                        <a:pt x="73891" y="0"/>
                      </a:moveTo>
                      <a:lnTo>
                        <a:pt x="36945" y="27709"/>
                      </a:lnTo>
                      <a:lnTo>
                        <a:pt x="0" y="0"/>
                      </a:lnTo>
                      <a:lnTo>
                        <a:pt x="36945" y="73891"/>
                      </a:lnTo>
                      <a:lnTo>
                        <a:pt x="73891" y="0"/>
                      </a:lnTo>
                      <a:close/>
                    </a:path>
                  </a:pathLst>
                </a:custGeom>
                <a:solidFill>
                  <a:srgbClr val="701A5E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85" name="组合 84"/>
              <p:cNvGrpSpPr/>
              <p:nvPr/>
            </p:nvGrpSpPr>
            <p:grpSpPr>
              <a:xfrm>
                <a:off x="3453169" y="2554725"/>
                <a:ext cx="639543" cy="195707"/>
                <a:chOff x="2515683" y="2390745"/>
                <a:chExt cx="639543" cy="195707"/>
              </a:xfrm>
            </p:grpSpPr>
            <p:sp>
              <p:nvSpPr>
                <p:cNvPr id="86" name="object 37"/>
                <p:cNvSpPr/>
                <p:nvPr/>
              </p:nvSpPr>
              <p:spPr>
                <a:xfrm>
                  <a:off x="2515683" y="2393893"/>
                  <a:ext cx="607003" cy="192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0" h="504190">
                      <a:moveTo>
                        <a:pt x="806611" y="0"/>
                      </a:moveTo>
                      <a:lnTo>
                        <a:pt x="50610" y="0"/>
                      </a:lnTo>
                      <a:lnTo>
                        <a:pt x="30910" y="3977"/>
                      </a:lnTo>
                      <a:lnTo>
                        <a:pt x="14823" y="14823"/>
                      </a:lnTo>
                      <a:lnTo>
                        <a:pt x="3977" y="30910"/>
                      </a:lnTo>
                      <a:lnTo>
                        <a:pt x="0" y="50610"/>
                      </a:lnTo>
                      <a:lnTo>
                        <a:pt x="0" y="453393"/>
                      </a:lnTo>
                      <a:lnTo>
                        <a:pt x="3977" y="473093"/>
                      </a:lnTo>
                      <a:lnTo>
                        <a:pt x="14823" y="489180"/>
                      </a:lnTo>
                      <a:lnTo>
                        <a:pt x="30910" y="500027"/>
                      </a:lnTo>
                      <a:lnTo>
                        <a:pt x="50610" y="504004"/>
                      </a:lnTo>
                      <a:lnTo>
                        <a:pt x="806611" y="504004"/>
                      </a:lnTo>
                      <a:lnTo>
                        <a:pt x="826311" y="500027"/>
                      </a:lnTo>
                      <a:lnTo>
                        <a:pt x="842399" y="489180"/>
                      </a:lnTo>
                      <a:lnTo>
                        <a:pt x="853245" y="473093"/>
                      </a:lnTo>
                      <a:lnTo>
                        <a:pt x="857222" y="453393"/>
                      </a:lnTo>
                      <a:lnTo>
                        <a:pt x="857222" y="50610"/>
                      </a:lnTo>
                      <a:lnTo>
                        <a:pt x="853245" y="30910"/>
                      </a:lnTo>
                      <a:lnTo>
                        <a:pt x="842399" y="14823"/>
                      </a:lnTo>
                      <a:lnTo>
                        <a:pt x="826311" y="3977"/>
                      </a:lnTo>
                      <a:lnTo>
                        <a:pt x="806611" y="0"/>
                      </a:lnTo>
                      <a:close/>
                    </a:path>
                  </a:pathLst>
                </a:custGeom>
                <a:ln w="10122">
                  <a:solidFill>
                    <a:srgbClr val="70195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87" name="文本框 86"/>
                <p:cNvSpPr txBox="1"/>
                <p:nvPr/>
              </p:nvSpPr>
              <p:spPr>
                <a:xfrm>
                  <a:off x="2548224" y="2390745"/>
                  <a:ext cx="607002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600" dirty="0"/>
                    <a:t> 电信号</a:t>
                  </a:r>
                </a:p>
              </p:txBody>
            </p:sp>
          </p:grpSp>
          <p:cxnSp>
            <p:nvCxnSpPr>
              <p:cNvPr id="90" name="直接箭头连接符 89"/>
              <p:cNvCxnSpPr/>
              <p:nvPr/>
            </p:nvCxnSpPr>
            <p:spPr>
              <a:xfrm flipH="1">
                <a:off x="2833314" y="2306439"/>
                <a:ext cx="925623" cy="0"/>
              </a:xfrm>
              <a:prstGeom prst="straightConnector1">
                <a:avLst/>
              </a:prstGeom>
              <a:ln w="9525" cap="flat" cmpd="sng" algn="ctr">
                <a:solidFill>
                  <a:schemeClr val="accent4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4" name="直接箭头连接符 93"/>
              <p:cNvCxnSpPr/>
              <p:nvPr/>
            </p:nvCxnSpPr>
            <p:spPr>
              <a:xfrm>
                <a:off x="2833314" y="2306439"/>
                <a:ext cx="0" cy="216024"/>
              </a:xfrm>
              <a:prstGeom prst="straightConnector1">
                <a:avLst/>
              </a:prstGeom>
              <a:ln w="9525" cap="flat" cmpd="sng" algn="ctr">
                <a:solidFill>
                  <a:schemeClr val="accent4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7" name="直接箭头连接符 96"/>
              <p:cNvCxnSpPr/>
              <p:nvPr/>
            </p:nvCxnSpPr>
            <p:spPr>
              <a:xfrm>
                <a:off x="3758937" y="2306439"/>
                <a:ext cx="0" cy="216024"/>
              </a:xfrm>
              <a:prstGeom prst="straightConnector1">
                <a:avLst/>
              </a:prstGeom>
              <a:ln w="9525" cap="flat" cmpd="sng" algn="ctr">
                <a:solidFill>
                  <a:schemeClr val="accent4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99" name="object 45"/>
              <p:cNvSpPr/>
              <p:nvPr/>
            </p:nvSpPr>
            <p:spPr>
              <a:xfrm>
                <a:off x="2796166" y="2469389"/>
                <a:ext cx="74295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74294" h="74294">
                    <a:moveTo>
                      <a:pt x="73891" y="0"/>
                    </a:moveTo>
                    <a:lnTo>
                      <a:pt x="36945" y="27709"/>
                    </a:lnTo>
                    <a:lnTo>
                      <a:pt x="0" y="0"/>
                    </a:lnTo>
                    <a:lnTo>
                      <a:pt x="36945" y="73891"/>
                    </a:lnTo>
                    <a:lnTo>
                      <a:pt x="73891" y="0"/>
                    </a:lnTo>
                    <a:close/>
                  </a:path>
                </a:pathLst>
              </a:custGeom>
              <a:solidFill>
                <a:srgbClr val="701A5E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01" name="文本框 100"/>
              <p:cNvSpPr txBox="1"/>
              <p:nvPr/>
            </p:nvSpPr>
            <p:spPr>
              <a:xfrm>
                <a:off x="2953121" y="2136803"/>
                <a:ext cx="648072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600" dirty="0"/>
                  <a:t>调节阈值电位</a:t>
                </a:r>
              </a:p>
            </p:txBody>
          </p:sp>
          <p:grpSp>
            <p:nvGrpSpPr>
              <p:cNvPr id="102" name="object 43"/>
              <p:cNvGrpSpPr/>
              <p:nvPr/>
            </p:nvGrpSpPr>
            <p:grpSpPr>
              <a:xfrm rot="16200000">
                <a:off x="4162567" y="2524711"/>
                <a:ext cx="78537" cy="283327"/>
                <a:chOff x="2965270" y="1558654"/>
                <a:chExt cx="74295" cy="470807"/>
              </a:xfrm>
            </p:grpSpPr>
            <p:sp>
              <p:nvSpPr>
                <p:cNvPr id="103" name="object 44"/>
                <p:cNvSpPr/>
                <p:nvPr/>
              </p:nvSpPr>
              <p:spPr>
                <a:xfrm>
                  <a:off x="3002216" y="1558654"/>
                  <a:ext cx="0" cy="424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424814">
                      <a:moveTo>
                        <a:pt x="0" y="0"/>
                      </a:moveTo>
                      <a:lnTo>
                        <a:pt x="0" y="424221"/>
                      </a:lnTo>
                    </a:path>
                  </a:pathLst>
                </a:custGeom>
                <a:ln w="18979">
                  <a:solidFill>
                    <a:srgbClr val="701A5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04" name="object 45"/>
                <p:cNvSpPr/>
                <p:nvPr/>
              </p:nvSpPr>
              <p:spPr>
                <a:xfrm>
                  <a:off x="2965270" y="1955166"/>
                  <a:ext cx="74295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94" h="74294">
                      <a:moveTo>
                        <a:pt x="73891" y="0"/>
                      </a:moveTo>
                      <a:lnTo>
                        <a:pt x="36945" y="27709"/>
                      </a:lnTo>
                      <a:lnTo>
                        <a:pt x="0" y="0"/>
                      </a:lnTo>
                      <a:lnTo>
                        <a:pt x="36945" y="73891"/>
                      </a:lnTo>
                      <a:lnTo>
                        <a:pt x="73891" y="0"/>
                      </a:lnTo>
                      <a:close/>
                    </a:path>
                  </a:pathLst>
                </a:custGeom>
                <a:solidFill>
                  <a:srgbClr val="701A5E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05" name="文本框 104"/>
              <p:cNvSpPr txBox="1"/>
              <p:nvPr/>
            </p:nvSpPr>
            <p:spPr>
              <a:xfrm>
                <a:off x="4031627" y="2506536"/>
                <a:ext cx="372578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600" dirty="0"/>
                  <a:t>输出</a:t>
                </a:r>
              </a:p>
            </p:txBody>
          </p:sp>
          <p:grpSp>
            <p:nvGrpSpPr>
              <p:cNvPr id="106" name="object 43"/>
              <p:cNvGrpSpPr/>
              <p:nvPr/>
            </p:nvGrpSpPr>
            <p:grpSpPr>
              <a:xfrm rot="16200000">
                <a:off x="2410188" y="2541481"/>
                <a:ext cx="71443" cy="218245"/>
                <a:chOff x="2965270" y="1558654"/>
                <a:chExt cx="74295" cy="470807"/>
              </a:xfrm>
            </p:grpSpPr>
            <p:sp>
              <p:nvSpPr>
                <p:cNvPr id="107" name="object 44"/>
                <p:cNvSpPr/>
                <p:nvPr/>
              </p:nvSpPr>
              <p:spPr>
                <a:xfrm>
                  <a:off x="3002216" y="1558654"/>
                  <a:ext cx="0" cy="424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424814">
                      <a:moveTo>
                        <a:pt x="0" y="0"/>
                      </a:moveTo>
                      <a:lnTo>
                        <a:pt x="0" y="424221"/>
                      </a:lnTo>
                    </a:path>
                  </a:pathLst>
                </a:custGeom>
                <a:ln w="18979">
                  <a:solidFill>
                    <a:srgbClr val="701A5E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08" name="object 45"/>
                <p:cNvSpPr/>
                <p:nvPr/>
              </p:nvSpPr>
              <p:spPr>
                <a:xfrm>
                  <a:off x="2965270" y="1955166"/>
                  <a:ext cx="74295" cy="74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94" h="74294">
                      <a:moveTo>
                        <a:pt x="73891" y="0"/>
                      </a:moveTo>
                      <a:lnTo>
                        <a:pt x="36945" y="27709"/>
                      </a:lnTo>
                      <a:lnTo>
                        <a:pt x="0" y="0"/>
                      </a:lnTo>
                      <a:lnTo>
                        <a:pt x="36945" y="73891"/>
                      </a:lnTo>
                      <a:lnTo>
                        <a:pt x="73891" y="0"/>
                      </a:lnTo>
                      <a:close/>
                    </a:path>
                  </a:pathLst>
                </a:custGeom>
                <a:solidFill>
                  <a:srgbClr val="701A5E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10" name="文本框 109"/>
              <p:cNvSpPr txBox="1"/>
              <p:nvPr/>
            </p:nvSpPr>
            <p:spPr>
              <a:xfrm>
                <a:off x="2141648" y="2465540"/>
                <a:ext cx="45577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600" dirty="0"/>
                  <a:t>光输入</a:t>
                </a:r>
              </a:p>
            </p:txBody>
          </p:sp>
        </p:grpSp>
        <p:sp>
          <p:nvSpPr>
            <p:cNvPr id="112" name="矩形 111"/>
            <p:cNvSpPr/>
            <p:nvPr/>
          </p:nvSpPr>
          <p:spPr>
            <a:xfrm>
              <a:off x="2207423" y="2125529"/>
              <a:ext cx="2269575" cy="1008112"/>
            </a:xfrm>
            <a:prstGeom prst="rect">
              <a:avLst/>
            </a:prstGeom>
            <a:noFill/>
            <a:ln w="6350" cap="flat" cmpd="sng" algn="ctr">
              <a:solidFill>
                <a:schemeClr val="accent4"/>
              </a:solidFill>
              <a:prstDash val="sysDot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19" name="直接连接符 118"/>
          <p:cNvCxnSpPr/>
          <p:nvPr/>
        </p:nvCxnSpPr>
        <p:spPr>
          <a:xfrm>
            <a:off x="2672520" y="1916722"/>
            <a:ext cx="475739" cy="341914"/>
          </a:xfrm>
          <a:prstGeom prst="line">
            <a:avLst/>
          </a:prstGeom>
          <a:ln w="6350">
            <a:solidFill>
              <a:srgbClr val="701A5E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27" name="组合 126"/>
          <p:cNvGrpSpPr/>
          <p:nvPr/>
        </p:nvGrpSpPr>
        <p:grpSpPr>
          <a:xfrm>
            <a:off x="136304" y="1427968"/>
            <a:ext cx="1779883" cy="1897237"/>
            <a:chOff x="53326" y="1525925"/>
            <a:chExt cx="1779883" cy="1897237"/>
          </a:xfrm>
        </p:grpSpPr>
        <p:sp>
          <p:nvSpPr>
            <p:cNvPr id="50" name="object 50"/>
            <p:cNvSpPr txBox="1"/>
            <p:nvPr/>
          </p:nvSpPr>
          <p:spPr>
            <a:xfrm>
              <a:off x="151828" y="2485574"/>
              <a:ext cx="506095" cy="167005"/>
            </a:xfrm>
            <a:prstGeom prst="rect">
              <a:avLst/>
            </a:prstGeom>
          </p:spPr>
          <p:txBody>
            <a:bodyPr vert="horz" wrap="square" lIns="0" tIns="698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55"/>
                </a:spcBef>
              </a:pPr>
              <a:r>
                <a:rPr sz="1000" b="1" spc="-10" dirty="0">
                  <a:solidFill>
                    <a:srgbClr val="FFFFFF"/>
                  </a:solidFill>
                  <a:latin typeface="微软雅黑" panose="020B0503020204020204" charset="-122"/>
                  <a:cs typeface="微软雅黑" panose="020B0503020204020204" charset="-122"/>
                </a:rPr>
                <a:t>核心逻辑</a:t>
              </a:r>
              <a:endParaRPr sz="1000"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124" name="图片 12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62" t="3277"/>
            <a:stretch>
              <a:fillRect/>
            </a:stretch>
          </p:blipFill>
          <p:spPr>
            <a:xfrm>
              <a:off x="53326" y="1525925"/>
              <a:ext cx="1779883" cy="939089"/>
            </a:xfrm>
            <a:prstGeom prst="rect">
              <a:avLst/>
            </a:prstGeom>
          </p:spPr>
        </p:pic>
        <p:pic>
          <p:nvPicPr>
            <p:cNvPr id="126" name="图片 12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348" y="2517035"/>
              <a:ext cx="1662320" cy="906127"/>
            </a:xfrm>
            <a:prstGeom prst="rect">
              <a:avLst/>
            </a:prstGeom>
          </p:spPr>
        </p:pic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055" y="202486"/>
            <a:ext cx="31597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：InSe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突触的光电特性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355F443B-2BD8-3107-6366-0D9ECA82DBBB}"/>
              </a:ext>
            </a:extLst>
          </p:cNvPr>
          <p:cNvGrpSpPr/>
          <p:nvPr/>
        </p:nvGrpSpPr>
        <p:grpSpPr>
          <a:xfrm>
            <a:off x="1695459" y="615717"/>
            <a:ext cx="1057805" cy="517781"/>
            <a:chOff x="1800894" y="1270832"/>
            <a:chExt cx="1035563" cy="511510"/>
          </a:xfrm>
        </p:grpSpPr>
        <p:sp>
          <p:nvSpPr>
            <p:cNvPr id="57" name="object 13">
              <a:extLst>
                <a:ext uri="{FF2B5EF4-FFF2-40B4-BE49-F238E27FC236}">
                  <a16:creationId xmlns:a16="http://schemas.microsoft.com/office/drawing/2014/main" id="{E8D8E492-9430-B369-E343-B7EFBEF0BD35}"/>
                </a:ext>
              </a:extLst>
            </p:cNvPr>
            <p:cNvSpPr/>
            <p:nvPr/>
          </p:nvSpPr>
          <p:spPr>
            <a:xfrm>
              <a:off x="1837602" y="1303552"/>
              <a:ext cx="998855" cy="478790"/>
            </a:xfrm>
            <a:custGeom>
              <a:avLst/>
              <a:gdLst/>
              <a:ahLst/>
              <a:cxnLst/>
              <a:rect l="l" t="t" r="r" b="b"/>
              <a:pathLst>
                <a:path w="998855" h="478789">
                  <a:moveTo>
                    <a:pt x="960337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440310"/>
                  </a:lnTo>
                  <a:lnTo>
                    <a:pt x="2982" y="455086"/>
                  </a:lnTo>
                  <a:lnTo>
                    <a:pt x="11117" y="467151"/>
                  </a:lnTo>
                  <a:lnTo>
                    <a:pt x="23183" y="475286"/>
                  </a:lnTo>
                  <a:lnTo>
                    <a:pt x="37958" y="478269"/>
                  </a:lnTo>
                  <a:lnTo>
                    <a:pt x="960337" y="478269"/>
                  </a:lnTo>
                  <a:lnTo>
                    <a:pt x="975112" y="475286"/>
                  </a:lnTo>
                  <a:lnTo>
                    <a:pt x="987177" y="467151"/>
                  </a:lnTo>
                  <a:lnTo>
                    <a:pt x="995312" y="455086"/>
                  </a:lnTo>
                  <a:lnTo>
                    <a:pt x="998295" y="440310"/>
                  </a:lnTo>
                  <a:lnTo>
                    <a:pt x="998295" y="37958"/>
                  </a:lnTo>
                  <a:lnTo>
                    <a:pt x="995312" y="23182"/>
                  </a:lnTo>
                  <a:lnTo>
                    <a:pt x="987177" y="11117"/>
                  </a:lnTo>
                  <a:lnTo>
                    <a:pt x="975112" y="2982"/>
                  </a:lnTo>
                  <a:lnTo>
                    <a:pt x="960337" y="0"/>
                  </a:lnTo>
                  <a:close/>
                </a:path>
              </a:pathLst>
            </a:custGeom>
            <a:solidFill>
              <a:srgbClr val="7F7F7F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14">
              <a:extLst>
                <a:ext uri="{FF2B5EF4-FFF2-40B4-BE49-F238E27FC236}">
                  <a16:creationId xmlns:a16="http://schemas.microsoft.com/office/drawing/2014/main" id="{FEFB44F0-7BC7-E027-B467-A9F4745BFAAF}"/>
                </a:ext>
              </a:extLst>
            </p:cNvPr>
            <p:cNvSpPr/>
            <p:nvPr/>
          </p:nvSpPr>
          <p:spPr>
            <a:xfrm>
              <a:off x="1804882" y="1270832"/>
              <a:ext cx="998855" cy="478790"/>
            </a:xfrm>
            <a:custGeom>
              <a:avLst/>
              <a:gdLst/>
              <a:ahLst/>
              <a:cxnLst/>
              <a:rect l="l" t="t" r="r" b="b"/>
              <a:pathLst>
                <a:path w="998855" h="478789">
                  <a:moveTo>
                    <a:pt x="960337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440310"/>
                  </a:lnTo>
                  <a:lnTo>
                    <a:pt x="2982" y="455086"/>
                  </a:lnTo>
                  <a:lnTo>
                    <a:pt x="11117" y="467151"/>
                  </a:lnTo>
                  <a:lnTo>
                    <a:pt x="23183" y="475286"/>
                  </a:lnTo>
                  <a:lnTo>
                    <a:pt x="37958" y="478269"/>
                  </a:lnTo>
                  <a:lnTo>
                    <a:pt x="960337" y="478269"/>
                  </a:lnTo>
                  <a:lnTo>
                    <a:pt x="975112" y="475286"/>
                  </a:lnTo>
                  <a:lnTo>
                    <a:pt x="987177" y="467151"/>
                  </a:lnTo>
                  <a:lnTo>
                    <a:pt x="995312" y="455086"/>
                  </a:lnTo>
                  <a:lnTo>
                    <a:pt x="998295" y="440310"/>
                  </a:lnTo>
                  <a:lnTo>
                    <a:pt x="998295" y="37958"/>
                  </a:lnTo>
                  <a:lnTo>
                    <a:pt x="995312" y="23182"/>
                  </a:lnTo>
                  <a:lnTo>
                    <a:pt x="987177" y="11117"/>
                  </a:lnTo>
                  <a:lnTo>
                    <a:pt x="975112" y="2982"/>
                  </a:lnTo>
                  <a:lnTo>
                    <a:pt x="960337" y="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15">
              <a:extLst>
                <a:ext uri="{FF2B5EF4-FFF2-40B4-BE49-F238E27FC236}">
                  <a16:creationId xmlns:a16="http://schemas.microsoft.com/office/drawing/2014/main" id="{4172A9CA-C1F2-86EB-5735-E13B5F448C73}"/>
                </a:ext>
              </a:extLst>
            </p:cNvPr>
            <p:cNvSpPr/>
            <p:nvPr/>
          </p:nvSpPr>
          <p:spPr>
            <a:xfrm>
              <a:off x="1804882" y="1270832"/>
              <a:ext cx="998855" cy="478790"/>
            </a:xfrm>
            <a:custGeom>
              <a:avLst/>
              <a:gdLst/>
              <a:ahLst/>
              <a:cxnLst/>
              <a:rect l="l" t="t" r="r" b="b"/>
              <a:pathLst>
                <a:path w="998855" h="478789">
                  <a:moveTo>
                    <a:pt x="960337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440310"/>
                  </a:lnTo>
                  <a:lnTo>
                    <a:pt x="2982" y="455086"/>
                  </a:lnTo>
                  <a:lnTo>
                    <a:pt x="11117" y="467151"/>
                  </a:lnTo>
                  <a:lnTo>
                    <a:pt x="23183" y="475286"/>
                  </a:lnTo>
                  <a:lnTo>
                    <a:pt x="37958" y="478269"/>
                  </a:lnTo>
                  <a:lnTo>
                    <a:pt x="960337" y="478269"/>
                  </a:lnTo>
                  <a:lnTo>
                    <a:pt x="975112" y="475286"/>
                  </a:lnTo>
                  <a:lnTo>
                    <a:pt x="987177" y="467151"/>
                  </a:lnTo>
                  <a:lnTo>
                    <a:pt x="995312" y="455086"/>
                  </a:lnTo>
                  <a:lnTo>
                    <a:pt x="998295" y="440310"/>
                  </a:lnTo>
                  <a:lnTo>
                    <a:pt x="998295" y="37958"/>
                  </a:lnTo>
                  <a:lnTo>
                    <a:pt x="995312" y="23182"/>
                  </a:lnTo>
                  <a:lnTo>
                    <a:pt x="987177" y="11117"/>
                  </a:lnTo>
                  <a:lnTo>
                    <a:pt x="975112" y="2982"/>
                  </a:lnTo>
                  <a:lnTo>
                    <a:pt x="960337" y="0"/>
                  </a:lnTo>
                  <a:close/>
                </a:path>
              </a:pathLst>
            </a:custGeom>
            <a:ln w="10122">
              <a:solidFill>
                <a:srgbClr val="701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16">
              <a:extLst>
                <a:ext uri="{FF2B5EF4-FFF2-40B4-BE49-F238E27FC236}">
                  <a16:creationId xmlns:a16="http://schemas.microsoft.com/office/drawing/2014/main" id="{77E93805-EB37-ACEA-3965-891AEC2DEE59}"/>
                </a:ext>
              </a:extLst>
            </p:cNvPr>
            <p:cNvSpPr txBox="1"/>
            <p:nvPr/>
          </p:nvSpPr>
          <p:spPr>
            <a:xfrm>
              <a:off x="1800894" y="1284584"/>
              <a:ext cx="980827" cy="450764"/>
            </a:xfrm>
            <a:prstGeom prst="rect">
              <a:avLst/>
            </a:prstGeom>
          </p:spPr>
          <p:txBody>
            <a:bodyPr vert="horz" wrap="square" lIns="0" tIns="2984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235"/>
                </a:spcBef>
              </a:pPr>
              <a:r>
                <a:rPr lang="zh-CN" altLang="en-US" sz="1050" b="1" spc="-20" dirty="0">
                  <a:solidFill>
                    <a:schemeClr val="tx1"/>
                  </a:solidFill>
                  <a:latin typeface="Microsoft YaHei"/>
                  <a:cs typeface="Microsoft YaHei"/>
                </a:rPr>
                <a:t>功能层</a:t>
              </a:r>
              <a:endParaRPr sz="1050" dirty="0">
                <a:solidFill>
                  <a:schemeClr val="tx1"/>
                </a:solidFill>
                <a:latin typeface="Microsoft YaHei"/>
                <a:cs typeface="Microsoft YaHei"/>
              </a:endParaRPr>
            </a:p>
            <a:p>
              <a:pPr marL="12700" algn="ctr">
                <a:lnSpc>
                  <a:spcPct val="100000"/>
                </a:lnSpc>
                <a:spcBef>
                  <a:spcPts val="95"/>
                </a:spcBef>
              </a:pPr>
              <a:r>
                <a:rPr lang="zh-CN" altLang="en-US" sz="800" spc="-15" dirty="0">
                  <a:latin typeface="Microsoft YaHei"/>
                </a:rPr>
                <a:t>软硬协同设计与感内计算架构</a:t>
              </a: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1B5DB0A-FD1F-D9DB-6B7E-EB68B5BFF67D}"/>
              </a:ext>
            </a:extLst>
          </p:cNvPr>
          <p:cNvGrpSpPr/>
          <p:nvPr/>
        </p:nvGrpSpPr>
        <p:grpSpPr>
          <a:xfrm>
            <a:off x="2919924" y="611271"/>
            <a:ext cx="1109528" cy="493057"/>
            <a:chOff x="3022938" y="1233542"/>
            <a:chExt cx="1080120" cy="553085"/>
          </a:xfrm>
        </p:grpSpPr>
        <p:sp>
          <p:nvSpPr>
            <p:cNvPr id="55" name="object 20">
              <a:extLst>
                <a:ext uri="{FF2B5EF4-FFF2-40B4-BE49-F238E27FC236}">
                  <a16:creationId xmlns:a16="http://schemas.microsoft.com/office/drawing/2014/main" id="{B109E451-0987-8055-E7EB-09059EA0A7E2}"/>
                </a:ext>
              </a:extLst>
            </p:cNvPr>
            <p:cNvSpPr/>
            <p:nvPr/>
          </p:nvSpPr>
          <p:spPr>
            <a:xfrm>
              <a:off x="3071483" y="1233542"/>
              <a:ext cx="998855" cy="553085"/>
            </a:xfrm>
            <a:custGeom>
              <a:avLst/>
              <a:gdLst/>
              <a:ahLst/>
              <a:cxnLst/>
              <a:rect l="l" t="t" r="r" b="b"/>
              <a:pathLst>
                <a:path w="998854" h="553085">
                  <a:moveTo>
                    <a:pt x="960337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514890"/>
                  </a:lnTo>
                  <a:lnTo>
                    <a:pt x="2982" y="529665"/>
                  </a:lnTo>
                  <a:lnTo>
                    <a:pt x="11117" y="541731"/>
                  </a:lnTo>
                  <a:lnTo>
                    <a:pt x="23182" y="549865"/>
                  </a:lnTo>
                  <a:lnTo>
                    <a:pt x="37958" y="552848"/>
                  </a:lnTo>
                  <a:lnTo>
                    <a:pt x="960337" y="552848"/>
                  </a:lnTo>
                  <a:lnTo>
                    <a:pt x="975112" y="549865"/>
                  </a:lnTo>
                  <a:lnTo>
                    <a:pt x="987177" y="541731"/>
                  </a:lnTo>
                  <a:lnTo>
                    <a:pt x="995312" y="529665"/>
                  </a:lnTo>
                  <a:lnTo>
                    <a:pt x="998295" y="514890"/>
                  </a:lnTo>
                  <a:lnTo>
                    <a:pt x="998295" y="37958"/>
                  </a:lnTo>
                  <a:lnTo>
                    <a:pt x="995312" y="23182"/>
                  </a:lnTo>
                  <a:lnTo>
                    <a:pt x="987177" y="11117"/>
                  </a:lnTo>
                  <a:lnTo>
                    <a:pt x="975112" y="2982"/>
                  </a:lnTo>
                  <a:lnTo>
                    <a:pt x="960337" y="0"/>
                  </a:lnTo>
                  <a:close/>
                </a:path>
              </a:pathLst>
            </a:custGeom>
            <a:ln w="10122">
              <a:solidFill>
                <a:srgbClr val="7019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21">
              <a:extLst>
                <a:ext uri="{FF2B5EF4-FFF2-40B4-BE49-F238E27FC236}">
                  <a16:creationId xmlns:a16="http://schemas.microsoft.com/office/drawing/2014/main" id="{DAF7A4D7-CDB1-9118-57F8-E491A549E4CE}"/>
                </a:ext>
              </a:extLst>
            </p:cNvPr>
            <p:cNvSpPr txBox="1"/>
            <p:nvPr/>
          </p:nvSpPr>
          <p:spPr>
            <a:xfrm>
              <a:off x="3022938" y="1250493"/>
              <a:ext cx="1080120" cy="327654"/>
            </a:xfrm>
            <a:prstGeom prst="rect">
              <a:avLst/>
            </a:prstGeom>
          </p:spPr>
          <p:txBody>
            <a:bodyPr vert="horz" wrap="square" lIns="0" tIns="29845" rIns="0" bIns="0" rtlCol="0">
              <a:spAutoFit/>
            </a:bodyPr>
            <a:lstStyle/>
            <a:p>
              <a:pPr marL="69215" algn="ctr">
                <a:lnSpc>
                  <a:spcPct val="100000"/>
                </a:lnSpc>
                <a:spcBef>
                  <a:spcPts val="235"/>
                </a:spcBef>
              </a:pPr>
              <a:r>
                <a:rPr lang="zh-CN" altLang="en-US" sz="1050" b="1" spc="-25" dirty="0">
                  <a:solidFill>
                    <a:schemeClr val="tx1"/>
                  </a:solidFill>
                  <a:latin typeface="Microsoft YaHei"/>
                  <a:cs typeface="Microsoft YaHei"/>
                </a:rPr>
                <a:t>应用层</a:t>
              </a:r>
              <a:endParaRPr sz="1050" dirty="0">
                <a:solidFill>
                  <a:schemeClr val="tx1"/>
                </a:solidFill>
                <a:latin typeface="Microsoft YaHei"/>
                <a:cs typeface="Microsoft YaHei"/>
              </a:endParaRPr>
            </a:p>
            <a:p>
              <a:pPr marL="12700" algn="ctr">
                <a:lnSpc>
                  <a:spcPct val="100000"/>
                </a:lnSpc>
                <a:spcBef>
                  <a:spcPts val="95"/>
                </a:spcBef>
              </a:pPr>
              <a:r>
                <a:rPr lang="zh-CN" altLang="en-US" sz="800" spc="-15" dirty="0">
                  <a:latin typeface="Microsoft YaHei"/>
                  <a:cs typeface="Microsoft YaHei"/>
                </a:rPr>
                <a:t>目标检测与轻量化演示</a:t>
              </a:r>
              <a:endParaRPr lang="zh-CN" altLang="en-US" sz="800" dirty="0">
                <a:latin typeface="Microsoft YaHei"/>
                <a:cs typeface="Microsoft YaHei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A710678-4843-8DF2-F3FB-EFB0A09F7271}"/>
              </a:ext>
            </a:extLst>
          </p:cNvPr>
          <p:cNvGrpSpPr/>
          <p:nvPr/>
        </p:nvGrpSpPr>
        <p:grpSpPr>
          <a:xfrm>
            <a:off x="1435690" y="832048"/>
            <a:ext cx="237758" cy="45720"/>
            <a:chOff x="1435690" y="832048"/>
            <a:chExt cx="237758" cy="45720"/>
          </a:xfrm>
        </p:grpSpPr>
        <p:sp>
          <p:nvSpPr>
            <p:cNvPr id="47" name="object 23">
              <a:extLst>
                <a:ext uri="{FF2B5EF4-FFF2-40B4-BE49-F238E27FC236}">
                  <a16:creationId xmlns:a16="http://schemas.microsoft.com/office/drawing/2014/main" id="{56880482-2C22-E0E5-9B0C-9E297435D7AD}"/>
                </a:ext>
              </a:extLst>
            </p:cNvPr>
            <p:cNvSpPr/>
            <p:nvPr/>
          </p:nvSpPr>
          <p:spPr>
            <a:xfrm>
              <a:off x="1435690" y="854852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10">
                  <a:moveTo>
                    <a:pt x="0" y="0"/>
                  </a:moveTo>
                  <a:lnTo>
                    <a:pt x="193708" y="0"/>
                  </a:lnTo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8" name="object 24">
              <a:extLst>
                <a:ext uri="{FF2B5EF4-FFF2-40B4-BE49-F238E27FC236}">
                  <a16:creationId xmlns:a16="http://schemas.microsoft.com/office/drawing/2014/main" id="{20EDA6B4-5E9E-2E20-42D0-404DDFCFED7E}"/>
                </a:ext>
              </a:extLst>
            </p:cNvPr>
            <p:cNvSpPr/>
            <p:nvPr/>
          </p:nvSpPr>
          <p:spPr>
            <a:xfrm>
              <a:off x="1613123" y="832048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0" y="0"/>
                  </a:move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5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25">
              <a:extLst>
                <a:ext uri="{FF2B5EF4-FFF2-40B4-BE49-F238E27FC236}">
                  <a16:creationId xmlns:a16="http://schemas.microsoft.com/office/drawing/2014/main" id="{B103D031-53C3-BB90-7C26-3A818078860B}"/>
                </a:ext>
              </a:extLst>
            </p:cNvPr>
            <p:cNvSpPr/>
            <p:nvPr/>
          </p:nvSpPr>
          <p:spPr>
            <a:xfrm>
              <a:off x="1613123" y="832048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60145" y="22803"/>
                  </a:moveTo>
                  <a:lnTo>
                    <a:pt x="0" y="0"/>
                  </a:ln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close/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26">
            <a:extLst>
              <a:ext uri="{FF2B5EF4-FFF2-40B4-BE49-F238E27FC236}">
                <a16:creationId xmlns:a16="http://schemas.microsoft.com/office/drawing/2014/main" id="{0B787A8E-6E4C-3FA0-C189-42229C75A2D2}"/>
              </a:ext>
            </a:extLst>
          </p:cNvPr>
          <p:cNvSpPr/>
          <p:nvPr/>
        </p:nvSpPr>
        <p:spPr>
          <a:xfrm>
            <a:off x="2702290" y="854852"/>
            <a:ext cx="194310" cy="0"/>
          </a:xfrm>
          <a:custGeom>
            <a:avLst/>
            <a:gdLst/>
            <a:ahLst/>
            <a:cxnLst/>
            <a:rect l="l" t="t" r="r" b="b"/>
            <a:pathLst>
              <a:path w="194310">
                <a:moveTo>
                  <a:pt x="0" y="0"/>
                </a:moveTo>
                <a:lnTo>
                  <a:pt x="193703" y="0"/>
                </a:lnTo>
              </a:path>
            </a:pathLst>
          </a:custGeom>
          <a:ln w="15183">
            <a:solidFill>
              <a:srgbClr val="9B5E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7">
            <a:extLst>
              <a:ext uri="{FF2B5EF4-FFF2-40B4-BE49-F238E27FC236}">
                <a16:creationId xmlns:a16="http://schemas.microsoft.com/office/drawing/2014/main" id="{3A2A041E-88FE-03C8-A1FE-FBE051538DD9}"/>
              </a:ext>
            </a:extLst>
          </p:cNvPr>
          <p:cNvSpPr/>
          <p:nvPr/>
        </p:nvSpPr>
        <p:spPr>
          <a:xfrm>
            <a:off x="2879719" y="832048"/>
            <a:ext cx="60325" cy="45720"/>
          </a:xfrm>
          <a:custGeom>
            <a:avLst/>
            <a:gdLst/>
            <a:ahLst/>
            <a:cxnLst/>
            <a:rect l="l" t="t" r="r" b="b"/>
            <a:pathLst>
              <a:path w="60325" h="45719">
                <a:moveTo>
                  <a:pt x="0" y="0"/>
                </a:moveTo>
                <a:lnTo>
                  <a:pt x="20070" y="22803"/>
                </a:lnTo>
                <a:lnTo>
                  <a:pt x="0" y="45607"/>
                </a:lnTo>
                <a:lnTo>
                  <a:pt x="60145" y="22803"/>
                </a:lnTo>
                <a:lnTo>
                  <a:pt x="0" y="0"/>
                </a:lnTo>
                <a:close/>
              </a:path>
            </a:pathLst>
          </a:custGeom>
          <a:solidFill>
            <a:srgbClr val="9B5E8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8">
            <a:extLst>
              <a:ext uri="{FF2B5EF4-FFF2-40B4-BE49-F238E27FC236}">
                <a16:creationId xmlns:a16="http://schemas.microsoft.com/office/drawing/2014/main" id="{877AD934-F589-419F-0A8D-76E6BB350B49}"/>
              </a:ext>
            </a:extLst>
          </p:cNvPr>
          <p:cNvSpPr/>
          <p:nvPr/>
        </p:nvSpPr>
        <p:spPr>
          <a:xfrm>
            <a:off x="2879719" y="832048"/>
            <a:ext cx="60325" cy="45720"/>
          </a:xfrm>
          <a:custGeom>
            <a:avLst/>
            <a:gdLst/>
            <a:ahLst/>
            <a:cxnLst/>
            <a:rect l="l" t="t" r="r" b="b"/>
            <a:pathLst>
              <a:path w="60325" h="45719">
                <a:moveTo>
                  <a:pt x="60145" y="22803"/>
                </a:moveTo>
                <a:lnTo>
                  <a:pt x="0" y="0"/>
                </a:lnTo>
                <a:lnTo>
                  <a:pt x="20070" y="22803"/>
                </a:lnTo>
                <a:lnTo>
                  <a:pt x="0" y="45607"/>
                </a:lnTo>
                <a:lnTo>
                  <a:pt x="60145" y="22803"/>
                </a:lnTo>
                <a:close/>
              </a:path>
            </a:pathLst>
          </a:custGeom>
          <a:ln w="15183">
            <a:solidFill>
              <a:srgbClr val="9B5E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F22789CB-D188-BD42-2899-BBC173A625EA}"/>
              </a:ext>
            </a:extLst>
          </p:cNvPr>
          <p:cNvGrpSpPr/>
          <p:nvPr/>
        </p:nvGrpSpPr>
        <p:grpSpPr>
          <a:xfrm>
            <a:off x="-26676" y="1153559"/>
            <a:ext cx="1433169" cy="2104705"/>
            <a:chOff x="-657049" y="684290"/>
            <a:chExt cx="2430879" cy="4015416"/>
          </a:xfrm>
        </p:grpSpPr>
        <p:pic>
          <p:nvPicPr>
            <p:cNvPr id="83" name="图片 82">
              <a:extLst>
                <a:ext uri="{FF2B5EF4-FFF2-40B4-BE49-F238E27FC236}">
                  <a16:creationId xmlns:a16="http://schemas.microsoft.com/office/drawing/2014/main" id="{D5F69B6F-FA78-04B4-0B9B-5B39C979B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28" t="39835"/>
            <a:stretch>
              <a:fillRect/>
            </a:stretch>
          </p:blipFill>
          <p:spPr>
            <a:xfrm>
              <a:off x="-657049" y="2951246"/>
              <a:ext cx="2360397" cy="1748460"/>
            </a:xfrm>
            <a:prstGeom prst="rect">
              <a:avLst/>
            </a:prstGeom>
          </p:spPr>
        </p:pic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745A9959-D870-0AF8-D476-00CA667FB80F}"/>
                </a:ext>
              </a:extLst>
            </p:cNvPr>
            <p:cNvGrpSpPr/>
            <p:nvPr/>
          </p:nvGrpSpPr>
          <p:grpSpPr>
            <a:xfrm>
              <a:off x="-631043" y="684290"/>
              <a:ext cx="2404873" cy="2143901"/>
              <a:chOff x="-104121" y="571461"/>
              <a:chExt cx="1974537" cy="1916591"/>
            </a:xfrm>
          </p:grpSpPr>
          <p:pic>
            <p:nvPicPr>
              <p:cNvPr id="64" name="object 10">
                <a:extLst>
                  <a:ext uri="{FF2B5EF4-FFF2-40B4-BE49-F238E27FC236}">
                    <a16:creationId xmlns:a16="http://schemas.microsoft.com/office/drawing/2014/main" id="{D36B8421-C86B-81C5-05B2-33C574A1EC39}"/>
                  </a:ext>
                </a:extLst>
              </p:cNvPr>
              <p:cNvPicPr/>
              <p:nvPr/>
            </p:nvPicPr>
            <p:blipFill>
              <a:blip r:embed="rId4" cstate="print"/>
              <a:srcRect l="1077" t="13958" r="48836" b="15540"/>
              <a:stretch>
                <a:fillRect/>
              </a:stretch>
            </p:blipFill>
            <p:spPr>
              <a:xfrm>
                <a:off x="-104121" y="571461"/>
                <a:ext cx="1960521" cy="1916591"/>
              </a:xfrm>
              <a:prstGeom prst="rect">
                <a:avLst/>
              </a:prstGeom>
            </p:spPr>
          </p:pic>
          <p:sp>
            <p:nvSpPr>
              <p:cNvPr id="74" name="矩形 73">
                <a:extLst>
                  <a:ext uri="{FF2B5EF4-FFF2-40B4-BE49-F238E27FC236}">
                    <a16:creationId xmlns:a16="http://schemas.microsoft.com/office/drawing/2014/main" id="{1776393C-1D79-3F8C-4D18-FEFCBEACD7D0}"/>
                  </a:ext>
                </a:extLst>
              </p:cNvPr>
              <p:cNvSpPr/>
              <p:nvPr/>
            </p:nvSpPr>
            <p:spPr>
              <a:xfrm>
                <a:off x="1824697" y="684999"/>
                <a:ext cx="45719" cy="12961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F4259448-42A2-C0FE-9762-418BDA5AE0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355" y="2443353"/>
            <a:ext cx="1465909" cy="86555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11F5F74-2869-572F-6FC1-8EC00BB9674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069" y="2374391"/>
            <a:ext cx="1540080" cy="1003479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9E6C27E7-64C2-9329-FFAB-7B6242457C78}"/>
              </a:ext>
            </a:extLst>
          </p:cNvPr>
          <p:cNvSpPr/>
          <p:nvPr/>
        </p:nvSpPr>
        <p:spPr>
          <a:xfrm>
            <a:off x="351149" y="613876"/>
            <a:ext cx="1024243" cy="478790"/>
          </a:xfrm>
          <a:prstGeom prst="roundRect">
            <a:avLst>
              <a:gd name="adj" fmla="val 10507"/>
            </a:avLst>
          </a:prstGeom>
          <a:gradFill>
            <a:gsLst>
              <a:gs pos="64957">
                <a:srgbClr val="7030A0">
                  <a:alpha val="30000"/>
                </a:srgb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硬件物理层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800" spc="-15" dirty="0">
                <a:solidFill>
                  <a:sysClr val="windowText" lastClr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突触</a:t>
            </a:r>
            <a:r>
              <a:rPr kumimoji="0" lang="zh-CN" altLang="en-US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Microsoft YaHei"/>
              </a:rPr>
              <a:t>制备与光电验证</a:t>
            </a:r>
            <a:endParaRPr kumimoji="0" lang="zh-CN" altLang="en-US" sz="9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Microsoft YaHei"/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7327FE64-60BB-5FA2-E7D9-2D566DE90BE8}"/>
              </a:ext>
            </a:extLst>
          </p:cNvPr>
          <p:cNvGrpSpPr/>
          <p:nvPr/>
        </p:nvGrpSpPr>
        <p:grpSpPr>
          <a:xfrm>
            <a:off x="1412243" y="1211167"/>
            <a:ext cx="2084625" cy="982413"/>
            <a:chOff x="282171" y="1140665"/>
            <a:chExt cx="2084625" cy="982413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BF05FD62-A7FB-05A6-7FB0-09341F3E3861}"/>
                </a:ext>
              </a:extLst>
            </p:cNvPr>
            <p:cNvGrpSpPr/>
            <p:nvPr/>
          </p:nvGrpSpPr>
          <p:grpSpPr>
            <a:xfrm>
              <a:off x="282171" y="1415842"/>
              <a:ext cx="699499" cy="237111"/>
              <a:chOff x="1712237" y="1449519"/>
              <a:chExt cx="699499" cy="237111"/>
            </a:xfrm>
          </p:grpSpPr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C0CA1E11-3974-E290-0A11-AB0565F9C0C2}"/>
                  </a:ext>
                </a:extLst>
              </p:cNvPr>
              <p:cNvSpPr/>
              <p:nvPr/>
            </p:nvSpPr>
            <p:spPr>
              <a:xfrm>
                <a:off x="1732955" y="1449519"/>
                <a:ext cx="648072" cy="237111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rgbClr val="7019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A0B6474-8F13-C41F-60AA-A1AA98888119}"/>
                  </a:ext>
                </a:extLst>
              </p:cNvPr>
              <p:cNvSpPr txBox="1"/>
              <p:nvPr/>
            </p:nvSpPr>
            <p:spPr>
              <a:xfrm>
                <a:off x="1712237" y="1452802"/>
                <a:ext cx="69949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高光电导率</a:t>
                </a:r>
              </a:p>
            </p:txBody>
          </p:sp>
        </p:grp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5275F33B-CD2E-1D70-4B72-1084CB7B29A0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950961" y="1534398"/>
              <a:ext cx="1070926" cy="108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D014C5E1-F178-5CFB-729C-B870B7D7ECE6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V="1">
              <a:off x="982824" y="1941568"/>
              <a:ext cx="1087071" cy="22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F5B1146C-AE3F-3C48-C463-6EBEA39D8398}"/>
                </a:ext>
              </a:extLst>
            </p:cNvPr>
            <p:cNvGrpSpPr/>
            <p:nvPr/>
          </p:nvGrpSpPr>
          <p:grpSpPr>
            <a:xfrm>
              <a:off x="302889" y="1789904"/>
              <a:ext cx="679935" cy="307777"/>
              <a:chOff x="1732955" y="1415364"/>
              <a:chExt cx="679935" cy="307777"/>
            </a:xfrm>
          </p:grpSpPr>
          <p:sp>
            <p:nvSpPr>
              <p:cNvPr id="17" name="矩形: 圆角 16">
                <a:extLst>
                  <a:ext uri="{FF2B5EF4-FFF2-40B4-BE49-F238E27FC236}">
                    <a16:creationId xmlns:a16="http://schemas.microsoft.com/office/drawing/2014/main" id="{9768AC0B-0C2D-560A-7506-EB4453986803}"/>
                  </a:ext>
                </a:extLst>
              </p:cNvPr>
              <p:cNvSpPr/>
              <p:nvPr/>
            </p:nvSpPr>
            <p:spPr>
              <a:xfrm>
                <a:off x="1732955" y="1449519"/>
                <a:ext cx="648072" cy="237111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rgbClr val="7019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ECA39A90-E0AA-EB1B-5A3A-3D41AF90894D}"/>
                  </a:ext>
                </a:extLst>
              </p:cNvPr>
              <p:cNvSpPr txBox="1"/>
              <p:nvPr/>
            </p:nvSpPr>
            <p:spPr>
              <a:xfrm>
                <a:off x="1752347" y="1415364"/>
                <a:ext cx="66054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缺陷诱导的电荷俘获</a:t>
                </a: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007A3DB3-EE34-FD6E-1D3A-845D0B000C1C}"/>
                </a:ext>
              </a:extLst>
            </p:cNvPr>
            <p:cNvGrpSpPr/>
            <p:nvPr/>
          </p:nvGrpSpPr>
          <p:grpSpPr>
            <a:xfrm>
              <a:off x="1479123" y="1815301"/>
              <a:ext cx="756962" cy="307777"/>
              <a:chOff x="1725007" y="1418741"/>
              <a:chExt cx="756962" cy="307777"/>
            </a:xfrm>
          </p:grpSpPr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16863D65-6568-CB3D-7B9C-B43C60252851}"/>
                  </a:ext>
                </a:extLst>
              </p:cNvPr>
              <p:cNvSpPr/>
              <p:nvPr/>
            </p:nvSpPr>
            <p:spPr>
              <a:xfrm>
                <a:off x="1732955" y="1449519"/>
                <a:ext cx="648072" cy="237111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rgbClr val="7019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445B9EC-ABA5-703A-94B5-F82145DBCB6E}"/>
                  </a:ext>
                </a:extLst>
              </p:cNvPr>
              <p:cNvSpPr txBox="1"/>
              <p:nvPr/>
            </p:nvSpPr>
            <p:spPr>
              <a:xfrm>
                <a:off x="1725007" y="1418741"/>
                <a:ext cx="75696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短时程可塑性    （ </a:t>
                </a:r>
                <a:r>
                  <a:rPr lang="en-US" altLang="zh-CN" sz="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STP</a:t>
                </a:r>
                <a:r>
                  <a:rPr lang="zh-CN" altLang="en-US" sz="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13B11445-BB92-7869-A87E-05231D94D5A5}"/>
                </a:ext>
              </a:extLst>
            </p:cNvPr>
            <p:cNvGrpSpPr/>
            <p:nvPr/>
          </p:nvGrpSpPr>
          <p:grpSpPr>
            <a:xfrm>
              <a:off x="1071535" y="1478347"/>
              <a:ext cx="244640" cy="504056"/>
              <a:chOff x="1045745" y="1478346"/>
              <a:chExt cx="244640" cy="504056"/>
            </a:xfrm>
          </p:grpSpPr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E0FBC467-7789-D6DA-E554-615A2C43F98C}"/>
                  </a:ext>
                </a:extLst>
              </p:cNvPr>
              <p:cNvSpPr/>
              <p:nvPr/>
            </p:nvSpPr>
            <p:spPr>
              <a:xfrm>
                <a:off x="1074361" y="1478346"/>
                <a:ext cx="216024" cy="504056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3730E57-1C2A-30DC-22D1-1F6E7D089EB5}"/>
                  </a:ext>
                </a:extLst>
              </p:cNvPr>
              <p:cNvSpPr txBox="1"/>
              <p:nvPr/>
            </p:nvSpPr>
            <p:spPr>
              <a:xfrm>
                <a:off x="1045745" y="1572420"/>
                <a:ext cx="21602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/>
                  <a:t>对应</a:t>
                </a:r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3590EB1E-5922-0E20-2ED9-8E581AAEFA72}"/>
                </a:ext>
              </a:extLst>
            </p:cNvPr>
            <p:cNvGrpSpPr/>
            <p:nvPr/>
          </p:nvGrpSpPr>
          <p:grpSpPr>
            <a:xfrm>
              <a:off x="1433502" y="1384414"/>
              <a:ext cx="782817" cy="307777"/>
              <a:chOff x="1693912" y="1418091"/>
              <a:chExt cx="782817" cy="307777"/>
            </a:xfrm>
          </p:grpSpPr>
          <p:sp>
            <p:nvSpPr>
              <p:cNvPr id="14" name="矩形: 圆角 13">
                <a:extLst>
                  <a:ext uri="{FF2B5EF4-FFF2-40B4-BE49-F238E27FC236}">
                    <a16:creationId xmlns:a16="http://schemas.microsoft.com/office/drawing/2014/main" id="{E45F206A-7CF2-90FD-3503-61236375A4CA}"/>
                  </a:ext>
                </a:extLst>
              </p:cNvPr>
              <p:cNvSpPr/>
              <p:nvPr/>
            </p:nvSpPr>
            <p:spPr>
              <a:xfrm>
                <a:off x="1732955" y="1449519"/>
                <a:ext cx="648072" cy="237111"/>
              </a:xfrm>
              <a:prstGeom prst="roundRect">
                <a:avLst/>
              </a:prstGeom>
              <a:solidFill>
                <a:schemeClr val="bg1"/>
              </a:solidFill>
              <a:ln w="9525">
                <a:solidFill>
                  <a:srgbClr val="70195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8CA4844-DFC5-74DC-1F71-37D3C4BACDE1}"/>
                  </a:ext>
                </a:extLst>
              </p:cNvPr>
              <p:cNvSpPr txBox="1"/>
              <p:nvPr/>
            </p:nvSpPr>
            <p:spPr>
              <a:xfrm>
                <a:off x="1693912" y="1418091"/>
                <a:ext cx="78281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兴奋性突触后电流（</a:t>
                </a:r>
                <a:r>
                  <a:rPr lang="en-US" altLang="zh-CN" sz="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EPSC</a:t>
                </a:r>
                <a:r>
                  <a:rPr lang="zh-CN" altLang="en-US" sz="7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</a:p>
            </p:txBody>
          </p:sp>
        </p:grp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4C3B21FF-293E-5646-993B-8C33F524B30C}"/>
                </a:ext>
              </a:extLst>
            </p:cNvPr>
            <p:cNvSpPr txBox="1"/>
            <p:nvPr/>
          </p:nvSpPr>
          <p:spPr>
            <a:xfrm>
              <a:off x="329141" y="1140665"/>
              <a:ext cx="5955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光电性质</a:t>
              </a: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387611C3-8C46-2106-4887-738E977EB995}"/>
                </a:ext>
              </a:extLst>
            </p:cNvPr>
            <p:cNvSpPr txBox="1"/>
            <p:nvPr/>
          </p:nvSpPr>
          <p:spPr>
            <a:xfrm>
              <a:off x="1497436" y="1140665"/>
              <a:ext cx="86936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神经功能</a:t>
              </a:r>
            </a:p>
          </p:txBody>
        </p:sp>
      </p:grpSp>
      <p:pic>
        <p:nvPicPr>
          <p:cNvPr id="69" name="图片 68">
            <a:extLst>
              <a:ext uri="{FF2B5EF4-FFF2-40B4-BE49-F238E27FC236}">
                <a16:creationId xmlns:a16="http://schemas.microsoft.com/office/drawing/2014/main" id="{E4A95AB9-097B-CE38-3084-32BDC5D2F76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8" t="43191" r="67315" b="12213"/>
          <a:stretch>
            <a:fillRect/>
          </a:stretch>
        </p:blipFill>
        <p:spPr>
          <a:xfrm>
            <a:off x="3321027" y="1153559"/>
            <a:ext cx="1350858" cy="1101101"/>
          </a:xfrm>
          <a:prstGeom prst="rect">
            <a:avLst/>
          </a:prstGeom>
        </p:spPr>
      </p:pic>
      <p:sp>
        <p:nvSpPr>
          <p:cNvPr id="70" name="文本框 69">
            <a:extLst>
              <a:ext uri="{FF2B5EF4-FFF2-40B4-BE49-F238E27FC236}">
                <a16:creationId xmlns:a16="http://schemas.microsoft.com/office/drawing/2014/main" id="{63253F37-35C3-7D9A-D1ED-A7567DBB0787}"/>
              </a:ext>
            </a:extLst>
          </p:cNvPr>
          <p:cNvSpPr txBox="1"/>
          <p:nvPr/>
        </p:nvSpPr>
        <p:spPr>
          <a:xfrm>
            <a:off x="215016" y="3198778"/>
            <a:ext cx="100811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" dirty="0"/>
              <a:t>突触模型及响应特性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055" y="202486"/>
            <a:ext cx="31597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实验内容</a:t>
            </a:r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感内计算算法实现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36620" y="1275113"/>
            <a:ext cx="1355082" cy="2107157"/>
            <a:chOff x="2992340" y="1161661"/>
            <a:chExt cx="1355082" cy="2107157"/>
          </a:xfrm>
        </p:grpSpPr>
        <p:grpSp>
          <p:nvGrpSpPr>
            <p:cNvPr id="82" name="组合 81"/>
            <p:cNvGrpSpPr/>
            <p:nvPr/>
          </p:nvGrpSpPr>
          <p:grpSpPr>
            <a:xfrm>
              <a:off x="2992340" y="1161661"/>
              <a:ext cx="1355082" cy="2107157"/>
              <a:chOff x="306742" y="1435141"/>
              <a:chExt cx="1355082" cy="2147920"/>
            </a:xfrm>
          </p:grpSpPr>
          <p:grpSp>
            <p:nvGrpSpPr>
              <p:cNvPr id="78" name="组合 77"/>
              <p:cNvGrpSpPr/>
              <p:nvPr/>
            </p:nvGrpSpPr>
            <p:grpSpPr>
              <a:xfrm>
                <a:off x="565237" y="1435141"/>
                <a:ext cx="1096587" cy="2147920"/>
                <a:chOff x="576858" y="1253276"/>
                <a:chExt cx="1096587" cy="2147920"/>
              </a:xfrm>
            </p:grpSpPr>
            <p:grpSp>
              <p:nvGrpSpPr>
                <p:cNvPr id="77" name="组合 76"/>
                <p:cNvGrpSpPr/>
                <p:nvPr/>
              </p:nvGrpSpPr>
              <p:grpSpPr>
                <a:xfrm>
                  <a:off x="576858" y="1253276"/>
                  <a:ext cx="1066425" cy="2061275"/>
                  <a:chOff x="576858" y="1253276"/>
                  <a:chExt cx="1066425" cy="2061275"/>
                </a:xfrm>
              </p:grpSpPr>
              <p:grpSp>
                <p:nvGrpSpPr>
                  <p:cNvPr id="21" name="组合 20"/>
                  <p:cNvGrpSpPr/>
                  <p:nvPr/>
                </p:nvGrpSpPr>
                <p:grpSpPr>
                  <a:xfrm>
                    <a:off x="665881" y="1253276"/>
                    <a:ext cx="974082" cy="1973597"/>
                    <a:chOff x="432842" y="1171926"/>
                    <a:chExt cx="1020309" cy="2034885"/>
                  </a:xfrm>
                </p:grpSpPr>
                <p:pic>
                  <p:nvPicPr>
                    <p:cNvPr id="12" name="图片 11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028" t="17293" r="76840" b="1785"/>
                    <a:stretch>
                      <a:fillRect/>
                    </a:stretch>
                  </p:blipFill>
                  <p:spPr>
                    <a:xfrm>
                      <a:off x="432842" y="1171926"/>
                      <a:ext cx="1020309" cy="2034885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20" name="矩形 19"/>
                    <p:cNvSpPr/>
                    <p:nvPr/>
                  </p:nvSpPr>
                  <p:spPr>
                    <a:xfrm>
                      <a:off x="1180802" y="2954513"/>
                      <a:ext cx="272349" cy="216022"/>
                    </a:xfrm>
                    <a:prstGeom prst="rect">
                      <a:avLst/>
                    </a:prstGeom>
                    <a:solidFill>
                      <a:srgbClr val="F2F1EF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22" name="矩形 21"/>
                  <p:cNvSpPr/>
                  <p:nvPr/>
                </p:nvSpPr>
                <p:spPr>
                  <a:xfrm>
                    <a:off x="724459" y="2999766"/>
                    <a:ext cx="918824" cy="209516"/>
                  </a:xfrm>
                  <a:prstGeom prst="rect">
                    <a:avLst/>
                  </a:prstGeom>
                  <a:solidFill>
                    <a:srgbClr val="F2F1E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36" name="直接连接符 35"/>
                  <p:cNvCxnSpPr/>
                  <p:nvPr/>
                </p:nvCxnSpPr>
                <p:spPr>
                  <a:xfrm>
                    <a:off x="1152922" y="2954511"/>
                    <a:ext cx="0" cy="360040"/>
                  </a:xfrm>
                  <a:prstGeom prst="line">
                    <a:avLst/>
                  </a:prstGeom>
                  <a:ln>
                    <a:solidFill>
                      <a:srgbClr val="06060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直接连接符 40"/>
                  <p:cNvCxnSpPr/>
                  <p:nvPr/>
                </p:nvCxnSpPr>
                <p:spPr>
                  <a:xfrm>
                    <a:off x="576858" y="3098527"/>
                    <a:ext cx="726071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接连接符 42"/>
                  <p:cNvCxnSpPr/>
                  <p:nvPr/>
                </p:nvCxnSpPr>
                <p:spPr>
                  <a:xfrm flipV="1">
                    <a:off x="576858" y="1370335"/>
                    <a:ext cx="0" cy="1728192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直接箭头连接符 66"/>
                  <p:cNvCxnSpPr/>
                  <p:nvPr/>
                </p:nvCxnSpPr>
                <p:spPr>
                  <a:xfrm>
                    <a:off x="576858" y="1370335"/>
                    <a:ext cx="147601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0" name="矩形 69"/>
                  <p:cNvSpPr/>
                  <p:nvPr/>
                </p:nvSpPr>
                <p:spPr>
                  <a:xfrm>
                    <a:off x="665882" y="3116826"/>
                    <a:ext cx="974081" cy="92986"/>
                  </a:xfrm>
                  <a:prstGeom prst="rect">
                    <a:avLst/>
                  </a:prstGeom>
                  <a:solidFill>
                    <a:srgbClr val="F2F1E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" name="矩形 75"/>
                  <p:cNvSpPr/>
                  <p:nvPr/>
                </p:nvSpPr>
                <p:spPr>
                  <a:xfrm>
                    <a:off x="1157360" y="3070255"/>
                    <a:ext cx="482604" cy="86644"/>
                  </a:xfrm>
                  <a:prstGeom prst="rect">
                    <a:avLst/>
                  </a:prstGeom>
                  <a:solidFill>
                    <a:srgbClr val="F2F1E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68" name="矩形 67"/>
                <p:cNvSpPr/>
                <p:nvPr/>
              </p:nvSpPr>
              <p:spPr>
                <a:xfrm>
                  <a:off x="648866" y="3191690"/>
                  <a:ext cx="1024579" cy="2095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81" name="文本框 80"/>
              <p:cNvSpPr txBox="1"/>
              <p:nvPr/>
            </p:nvSpPr>
            <p:spPr>
              <a:xfrm>
                <a:off x="306742" y="2067317"/>
                <a:ext cx="276999" cy="720080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zh-CN" altLang="en-US" sz="600" dirty="0"/>
                  <a:t>反馈调节源极电压</a:t>
                </a:r>
              </a:p>
            </p:txBody>
          </p:sp>
        </p:grpSp>
        <p:sp>
          <p:nvSpPr>
            <p:cNvPr id="92" name="矩形 91"/>
            <p:cNvSpPr/>
            <p:nvPr/>
          </p:nvSpPr>
          <p:spPr>
            <a:xfrm>
              <a:off x="3529186" y="1317829"/>
              <a:ext cx="738265" cy="83201"/>
            </a:xfrm>
            <a:prstGeom prst="rect">
              <a:avLst/>
            </a:prstGeom>
            <a:solidFill>
              <a:srgbClr val="CED3D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3955884" y="1486632"/>
              <a:ext cx="150408" cy="58290"/>
            </a:xfrm>
            <a:prstGeom prst="rect">
              <a:avLst/>
            </a:prstGeom>
            <a:solidFill>
              <a:srgbClr val="F1F1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: 圆角 4"/>
          <p:cNvSpPr/>
          <p:nvPr/>
        </p:nvSpPr>
        <p:spPr>
          <a:xfrm>
            <a:off x="1678095" y="551459"/>
            <a:ext cx="1201269" cy="546911"/>
          </a:xfrm>
          <a:prstGeom prst="roundRect">
            <a:avLst>
              <a:gd name="adj" fmla="val 10507"/>
            </a:avLst>
          </a:prstGeom>
          <a:gradFill>
            <a:gsLst>
              <a:gs pos="64957">
                <a:srgbClr val="7030A0">
                  <a:alpha val="30000"/>
                </a:srgb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8119" y="3196212"/>
            <a:ext cx="84079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zh-CN" sz="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Control Loop</a:t>
            </a:r>
            <a:endParaRPr lang="zh-CN" altLang="en-US" sz="700" dirty="0"/>
          </a:p>
        </p:txBody>
      </p:sp>
      <p:grpSp>
        <p:nvGrpSpPr>
          <p:cNvPr id="84" name="组合 83"/>
          <p:cNvGrpSpPr/>
          <p:nvPr/>
        </p:nvGrpSpPr>
        <p:grpSpPr>
          <a:xfrm>
            <a:off x="290479" y="561768"/>
            <a:ext cx="4027235" cy="608656"/>
            <a:chOff x="304074" y="633047"/>
            <a:chExt cx="3840402" cy="519096"/>
          </a:xfrm>
        </p:grpSpPr>
        <p:grpSp>
          <p:nvGrpSpPr>
            <p:cNvPr id="44" name="组合 43"/>
            <p:cNvGrpSpPr/>
            <p:nvPr/>
          </p:nvGrpSpPr>
          <p:grpSpPr>
            <a:xfrm>
              <a:off x="304074" y="640633"/>
              <a:ext cx="1031575" cy="511510"/>
              <a:chOff x="538277" y="1270832"/>
              <a:chExt cx="1031575" cy="511510"/>
            </a:xfrm>
          </p:grpSpPr>
          <p:sp>
            <p:nvSpPr>
              <p:cNvPr id="61" name="object 7"/>
              <p:cNvSpPr/>
              <p:nvPr/>
            </p:nvSpPr>
            <p:spPr>
              <a:xfrm>
                <a:off x="570997" y="130355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7F7F7F">
                  <a:alpha val="14999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8"/>
              <p:cNvSpPr/>
              <p:nvPr/>
            </p:nvSpPr>
            <p:spPr>
              <a:xfrm>
                <a:off x="538277" y="127083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F7F3F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9"/>
              <p:cNvSpPr/>
              <p:nvPr/>
            </p:nvSpPr>
            <p:spPr>
              <a:xfrm>
                <a:off x="538277" y="127083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ln w="10122">
                <a:solidFill>
                  <a:srgbClr val="70195E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11"/>
              <p:cNvSpPr txBox="1"/>
              <p:nvPr/>
            </p:nvSpPr>
            <p:spPr>
              <a:xfrm>
                <a:off x="576158" y="1323335"/>
                <a:ext cx="916970" cy="327654"/>
              </a:xfrm>
              <a:prstGeom prst="rect">
                <a:avLst/>
              </a:prstGeom>
            </p:spPr>
            <p:txBody>
              <a:bodyPr vert="horz" wrap="square" lIns="0" tIns="29845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235"/>
                  </a:spcBef>
                </a:pPr>
                <a:r>
                  <a:rPr lang="zh-CN" altLang="en-US" sz="1050" b="1" spc="-20" dirty="0">
                    <a:solidFill>
                      <a:schemeClr val="tx1"/>
                    </a:solidFill>
                    <a:latin typeface="微软雅黑" panose="020B0503020204020204" charset="-122"/>
                    <a:cs typeface="微软雅黑" panose="020B0503020204020204" charset="-122"/>
                  </a:rPr>
                  <a:t>硬件物理层</a:t>
                </a:r>
                <a:endParaRPr sz="1050" dirty="0">
                  <a:solidFill>
                    <a:schemeClr val="tx1"/>
                  </a:solidFill>
                  <a:latin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00000"/>
                  </a:lnSpc>
                  <a:spcBef>
                    <a:spcPts val="145"/>
                  </a:spcBef>
                </a:pPr>
                <a:r>
                  <a:rPr lang="zh-CN" altLang="en-US" sz="800" spc="-15" dirty="0">
                    <a:latin typeface="华文楷体" panose="02010600040101010101" pitchFamily="2" charset="-122"/>
                    <a:ea typeface="华文楷体" panose="02010600040101010101" pitchFamily="2" charset="-122"/>
                    <a:cs typeface="微软雅黑" panose="020B0503020204020204" charset="-122"/>
                  </a:rPr>
                  <a:t>器件制备与光电验证</a:t>
                </a:r>
                <a:endParaRPr sz="950" dirty="0"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60" name="object 16"/>
            <p:cNvSpPr txBox="1"/>
            <p:nvPr/>
          </p:nvSpPr>
          <p:spPr>
            <a:xfrm>
              <a:off x="1677569" y="647416"/>
              <a:ext cx="1032459" cy="419987"/>
            </a:xfrm>
            <a:prstGeom prst="rect">
              <a:avLst/>
            </a:prstGeom>
          </p:spPr>
          <p:txBody>
            <a:bodyPr vert="horz" wrap="square" lIns="0" tIns="2984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235"/>
                </a:spcBef>
              </a:pPr>
              <a:r>
                <a:rPr lang="zh-CN" altLang="en-US" sz="1050" b="1" spc="-20" dirty="0">
                  <a:solidFill>
                    <a:schemeClr val="tx1"/>
                  </a:solidFill>
                  <a:latin typeface="微软雅黑" panose="020B0503020204020204" charset="-122"/>
                  <a:cs typeface="微软雅黑" panose="020B0503020204020204" charset="-122"/>
                </a:rPr>
                <a:t>功能层</a:t>
              </a:r>
              <a:endParaRPr sz="105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endParaRPr>
            </a:p>
            <a:p>
              <a:pPr marL="12700" algn="ctr">
                <a:lnSpc>
                  <a:spcPct val="100000"/>
                </a:lnSpc>
                <a:spcBef>
                  <a:spcPts val="95"/>
                </a:spcBef>
              </a:pPr>
              <a:r>
                <a:rPr lang="zh-CN" altLang="en-US" sz="700" spc="-15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软硬协同设计与感内计算架构</a:t>
              </a:r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3034948" y="633047"/>
              <a:ext cx="1109528" cy="493057"/>
              <a:chOff x="3134914" y="1257969"/>
              <a:chExt cx="1080120" cy="553085"/>
            </a:xfrm>
          </p:grpSpPr>
          <p:sp>
            <p:nvSpPr>
              <p:cNvPr id="55" name="object 20"/>
              <p:cNvSpPr/>
              <p:nvPr/>
            </p:nvSpPr>
            <p:spPr>
              <a:xfrm>
                <a:off x="3179655" y="1257969"/>
                <a:ext cx="998855" cy="553085"/>
              </a:xfrm>
              <a:custGeom>
                <a:avLst/>
                <a:gdLst/>
                <a:ahLst/>
                <a:cxnLst/>
                <a:rect l="l" t="t" r="r" b="b"/>
                <a:pathLst>
                  <a:path w="998854" h="553085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2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514890"/>
                    </a:lnTo>
                    <a:lnTo>
                      <a:pt x="2982" y="529665"/>
                    </a:lnTo>
                    <a:lnTo>
                      <a:pt x="11117" y="541731"/>
                    </a:lnTo>
                    <a:lnTo>
                      <a:pt x="23182" y="549865"/>
                    </a:lnTo>
                    <a:lnTo>
                      <a:pt x="37958" y="552848"/>
                    </a:lnTo>
                    <a:lnTo>
                      <a:pt x="960337" y="552848"/>
                    </a:lnTo>
                    <a:lnTo>
                      <a:pt x="975112" y="549865"/>
                    </a:lnTo>
                    <a:lnTo>
                      <a:pt x="987177" y="541731"/>
                    </a:lnTo>
                    <a:lnTo>
                      <a:pt x="995312" y="529665"/>
                    </a:lnTo>
                    <a:lnTo>
                      <a:pt x="998295" y="51489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ln w="10122">
                <a:solidFill>
                  <a:srgbClr val="70195E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6" name="object 21"/>
              <p:cNvSpPr txBox="1"/>
              <p:nvPr/>
            </p:nvSpPr>
            <p:spPr>
              <a:xfrm>
                <a:off x="3134914" y="1290249"/>
                <a:ext cx="1080120" cy="367545"/>
              </a:xfrm>
              <a:prstGeom prst="rect">
                <a:avLst/>
              </a:prstGeom>
            </p:spPr>
            <p:txBody>
              <a:bodyPr vert="horz" wrap="square" lIns="0" tIns="29845" rIns="0" bIns="0" rtlCol="0">
                <a:spAutoFit/>
              </a:bodyPr>
              <a:lstStyle/>
              <a:p>
                <a:pPr marL="69215" algn="ctr">
                  <a:lnSpc>
                    <a:spcPct val="100000"/>
                  </a:lnSpc>
                  <a:spcBef>
                    <a:spcPts val="235"/>
                  </a:spcBef>
                </a:pPr>
                <a:r>
                  <a:rPr lang="zh-CN" altLang="en-US" sz="1050" b="1" spc="-25" dirty="0">
                    <a:solidFill>
                      <a:schemeClr val="tx1"/>
                    </a:solidFill>
                    <a:latin typeface="微软雅黑" panose="020B0503020204020204" charset="-122"/>
                    <a:cs typeface="微软雅黑" panose="020B0503020204020204" charset="-122"/>
                  </a:rPr>
                  <a:t>应用层</a:t>
                </a:r>
                <a:endParaRPr sz="1050" dirty="0">
                  <a:solidFill>
                    <a:schemeClr val="tx1"/>
                  </a:solidFill>
                  <a:latin typeface="微软雅黑" panose="020B0503020204020204" charset="-122"/>
                  <a:cs typeface="微软雅黑" panose="020B0503020204020204" charset="-122"/>
                </a:endParaRPr>
              </a:p>
              <a:p>
                <a:pPr marL="12700" algn="ctr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zh-CN" altLang="en-US" sz="800" spc="-15" dirty="0">
                    <a:latin typeface="华文楷体" panose="02010600040101010101" pitchFamily="2" charset="-122"/>
                    <a:ea typeface="华文楷体" panose="02010600040101010101" pitchFamily="2" charset="-122"/>
                    <a:cs typeface="微软雅黑" panose="020B0503020204020204" charset="-122"/>
                  </a:rPr>
                  <a:t>目标检测与轻量化演示</a:t>
                </a:r>
                <a:endParaRPr lang="zh-CN" altLang="en-US" sz="800" dirty="0">
                  <a:latin typeface="华文楷体" panose="02010600040101010101" pitchFamily="2" charset="-122"/>
                  <a:ea typeface="华文楷体" panose="02010600040101010101" pitchFamily="2" charset="-122"/>
                  <a:cs typeface="微软雅黑" panose="020B0503020204020204" charset="-122"/>
                </a:endParaRPr>
              </a:p>
            </p:txBody>
          </p:sp>
        </p:grpSp>
        <p:sp>
          <p:nvSpPr>
            <p:cNvPr id="47" name="object 23"/>
            <p:cNvSpPr/>
            <p:nvPr/>
          </p:nvSpPr>
          <p:spPr>
            <a:xfrm>
              <a:off x="1335649" y="854852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10">
                  <a:moveTo>
                    <a:pt x="0" y="0"/>
                  </a:moveTo>
                  <a:lnTo>
                    <a:pt x="193708" y="0"/>
                  </a:lnTo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24"/>
            <p:cNvSpPr/>
            <p:nvPr/>
          </p:nvSpPr>
          <p:spPr>
            <a:xfrm>
              <a:off x="1512297" y="832048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0" y="0"/>
                  </a:move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5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25"/>
            <p:cNvSpPr/>
            <p:nvPr/>
          </p:nvSpPr>
          <p:spPr>
            <a:xfrm>
              <a:off x="1512297" y="832048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60145" y="22803"/>
                  </a:moveTo>
                  <a:lnTo>
                    <a:pt x="0" y="0"/>
                  </a:ln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close/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26"/>
            <p:cNvSpPr/>
            <p:nvPr/>
          </p:nvSpPr>
          <p:spPr>
            <a:xfrm>
              <a:off x="2812726" y="854852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10">
                  <a:moveTo>
                    <a:pt x="0" y="0"/>
                  </a:moveTo>
                  <a:lnTo>
                    <a:pt x="193703" y="0"/>
                  </a:lnTo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27"/>
            <p:cNvSpPr/>
            <p:nvPr/>
          </p:nvSpPr>
          <p:spPr>
            <a:xfrm>
              <a:off x="2984601" y="838312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0" y="0"/>
                  </a:move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5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28"/>
            <p:cNvSpPr/>
            <p:nvPr/>
          </p:nvSpPr>
          <p:spPr>
            <a:xfrm>
              <a:off x="2986138" y="832048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60145" y="22803"/>
                  </a:moveTo>
                  <a:lnTo>
                    <a:pt x="0" y="0"/>
                  </a:ln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close/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2374984" y="2517772"/>
            <a:ext cx="129614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700" dirty="0">
                <a:solidFill>
                  <a:schemeClr val="tx1"/>
                </a:solidFill>
                <a:latin typeface="Arial" panose="020B0604020202020204" pitchFamily="34" charset="0"/>
              </a:rPr>
              <a:t>Data Pipeline</a:t>
            </a:r>
            <a:endParaRPr lang="zh-CN" altLang="en-US" sz="7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78095" y="2810495"/>
            <a:ext cx="2427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kumimoji="0" lang="zh-CN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算法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1</a:t>
            </a:r>
            <a:r>
              <a:rPr kumimoji="0" lang="zh-CN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</a:t>
            </a:r>
            <a:r>
              <a:rPr kumimoji="0" lang="zh-CN" altLang="zh-CN" sz="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环境感知与灵敏度调节闭环 (Control Loop)</a:t>
            </a:r>
            <a:endParaRPr kumimoji="0" lang="zh-CN" altLang="zh-CN" sz="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"/>
            </a:endParaRPr>
          </a:p>
          <a:p>
            <a:endParaRPr kumimoji="0" lang="en-US" altLang="zh-CN" sz="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r>
              <a:rPr kumimoji="0" lang="zh-CN" altLang="en-US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算法</a:t>
            </a:r>
            <a:r>
              <a:rPr kumimoji="0" lang="zh-CN" altLang="zh-CN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2</a:t>
            </a:r>
            <a:r>
              <a:rPr kumimoji="0" lang="zh-CN" altLang="en-US" sz="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：</a:t>
            </a:r>
            <a:r>
              <a:rPr kumimoji="0" lang="zh-CN" altLang="zh-CN" sz="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图像获取与重建数据流 (Data Pipeline)</a:t>
            </a:r>
            <a:endParaRPr lang="zh-CN" altLang="en-US" sz="600" dirty="0"/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242" y="1228415"/>
            <a:ext cx="3089293" cy="144353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055" y="202486"/>
            <a:ext cx="315976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结果验证</a:t>
            </a:r>
            <a:r>
              <a:rPr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识别系统的训练与验证</a:t>
            </a:r>
            <a:endParaRPr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432842" y="615717"/>
            <a:ext cx="3845832" cy="517781"/>
            <a:chOff x="432842" y="686102"/>
            <a:chExt cx="3845832" cy="517781"/>
          </a:xfrm>
        </p:grpSpPr>
        <p:grpSp>
          <p:nvGrpSpPr>
            <p:cNvPr id="44" name="组合 43"/>
            <p:cNvGrpSpPr/>
            <p:nvPr/>
          </p:nvGrpSpPr>
          <p:grpSpPr>
            <a:xfrm>
              <a:off x="432842" y="686103"/>
              <a:ext cx="1031575" cy="511510"/>
              <a:chOff x="538277" y="1270832"/>
              <a:chExt cx="1031575" cy="511510"/>
            </a:xfrm>
          </p:grpSpPr>
          <p:sp>
            <p:nvSpPr>
              <p:cNvPr id="61" name="object 7"/>
              <p:cNvSpPr/>
              <p:nvPr/>
            </p:nvSpPr>
            <p:spPr>
              <a:xfrm>
                <a:off x="570997" y="130355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7F7F7F">
                  <a:alpha val="14999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2" name="object 8"/>
              <p:cNvSpPr/>
              <p:nvPr/>
            </p:nvSpPr>
            <p:spPr>
              <a:xfrm>
                <a:off x="538277" y="127083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F7F3F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3" name="object 9"/>
              <p:cNvSpPr/>
              <p:nvPr/>
            </p:nvSpPr>
            <p:spPr>
              <a:xfrm>
                <a:off x="538277" y="127083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ln w="10122">
                <a:solidFill>
                  <a:srgbClr val="70195E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5" name="object 11"/>
              <p:cNvSpPr txBox="1"/>
              <p:nvPr/>
            </p:nvSpPr>
            <p:spPr>
              <a:xfrm>
                <a:off x="576158" y="1323335"/>
                <a:ext cx="916970" cy="327654"/>
              </a:xfrm>
              <a:prstGeom prst="rect">
                <a:avLst/>
              </a:prstGeom>
            </p:spPr>
            <p:txBody>
              <a:bodyPr vert="horz" wrap="square" lIns="0" tIns="29845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235"/>
                  </a:spcBef>
                </a:pPr>
                <a:r>
                  <a:rPr lang="zh-CN" altLang="en-US" sz="1050" b="1" spc="-20" dirty="0">
                    <a:solidFill>
                      <a:schemeClr val="tx1"/>
                    </a:solidFill>
                    <a:latin typeface="微软雅黑" panose="020B0503020204020204" charset="-122"/>
                    <a:cs typeface="微软雅黑" panose="020B0503020204020204" charset="-122"/>
                  </a:rPr>
                  <a:t>硬件物理层</a:t>
                </a:r>
                <a:endParaRPr sz="1050" dirty="0">
                  <a:solidFill>
                    <a:schemeClr val="tx1"/>
                  </a:solidFill>
                  <a:latin typeface="微软雅黑" panose="020B0503020204020204" charset="-122"/>
                  <a:cs typeface="微软雅黑" panose="020B0503020204020204" charset="-122"/>
                </a:endParaRPr>
              </a:p>
              <a:p>
                <a:pPr algn="ctr">
                  <a:lnSpc>
                    <a:spcPct val="100000"/>
                  </a:lnSpc>
                  <a:spcBef>
                    <a:spcPts val="145"/>
                  </a:spcBef>
                </a:pPr>
                <a:r>
                  <a:rPr lang="zh-CN" altLang="en-US" sz="800" spc="-15" dirty="0">
                    <a:latin typeface="微软雅黑" panose="020B0503020204020204" charset="-122"/>
                    <a:cs typeface="微软雅黑" panose="020B0503020204020204" charset="-122"/>
                  </a:rPr>
                  <a:t>器件制备与光电验证</a:t>
                </a:r>
                <a:endParaRPr sz="950" dirty="0">
                  <a:latin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695459" y="686102"/>
              <a:ext cx="1057805" cy="517781"/>
              <a:chOff x="1800894" y="1270832"/>
              <a:chExt cx="1035563" cy="511510"/>
            </a:xfrm>
          </p:grpSpPr>
          <p:sp>
            <p:nvSpPr>
              <p:cNvPr id="57" name="object 13"/>
              <p:cNvSpPr/>
              <p:nvPr/>
            </p:nvSpPr>
            <p:spPr>
              <a:xfrm>
                <a:off x="1837602" y="130355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7F7F7F">
                  <a:alpha val="14999"/>
                </a:srgb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8" name="object 14"/>
              <p:cNvSpPr/>
              <p:nvPr/>
            </p:nvSpPr>
            <p:spPr>
              <a:xfrm>
                <a:off x="1804882" y="127083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solidFill>
                <a:srgbClr val="FCFCF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9" name="object 15"/>
              <p:cNvSpPr/>
              <p:nvPr/>
            </p:nvSpPr>
            <p:spPr>
              <a:xfrm>
                <a:off x="1804882" y="1270832"/>
                <a:ext cx="998855" cy="478790"/>
              </a:xfrm>
              <a:custGeom>
                <a:avLst/>
                <a:gdLst/>
                <a:ahLst/>
                <a:cxnLst/>
                <a:rect l="l" t="t" r="r" b="b"/>
                <a:pathLst>
                  <a:path w="998855" h="478789">
                    <a:moveTo>
                      <a:pt x="960337" y="0"/>
                    </a:moveTo>
                    <a:lnTo>
                      <a:pt x="37958" y="0"/>
                    </a:lnTo>
                    <a:lnTo>
                      <a:pt x="23183" y="2982"/>
                    </a:lnTo>
                    <a:lnTo>
                      <a:pt x="11117" y="11117"/>
                    </a:lnTo>
                    <a:lnTo>
                      <a:pt x="2982" y="23182"/>
                    </a:lnTo>
                    <a:lnTo>
                      <a:pt x="0" y="37958"/>
                    </a:lnTo>
                    <a:lnTo>
                      <a:pt x="0" y="440310"/>
                    </a:lnTo>
                    <a:lnTo>
                      <a:pt x="2982" y="455086"/>
                    </a:lnTo>
                    <a:lnTo>
                      <a:pt x="11117" y="467151"/>
                    </a:lnTo>
                    <a:lnTo>
                      <a:pt x="23183" y="475286"/>
                    </a:lnTo>
                    <a:lnTo>
                      <a:pt x="37958" y="478269"/>
                    </a:lnTo>
                    <a:lnTo>
                      <a:pt x="960337" y="478269"/>
                    </a:lnTo>
                    <a:lnTo>
                      <a:pt x="975112" y="475286"/>
                    </a:lnTo>
                    <a:lnTo>
                      <a:pt x="987177" y="467151"/>
                    </a:lnTo>
                    <a:lnTo>
                      <a:pt x="995312" y="455086"/>
                    </a:lnTo>
                    <a:lnTo>
                      <a:pt x="998295" y="440310"/>
                    </a:lnTo>
                    <a:lnTo>
                      <a:pt x="998295" y="37958"/>
                    </a:lnTo>
                    <a:lnTo>
                      <a:pt x="995312" y="23182"/>
                    </a:lnTo>
                    <a:lnTo>
                      <a:pt x="987177" y="11117"/>
                    </a:lnTo>
                    <a:lnTo>
                      <a:pt x="975112" y="2982"/>
                    </a:lnTo>
                    <a:lnTo>
                      <a:pt x="960337" y="0"/>
                    </a:lnTo>
                    <a:close/>
                  </a:path>
                </a:pathLst>
              </a:custGeom>
              <a:ln w="10122">
                <a:solidFill>
                  <a:srgbClr val="70195E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16"/>
              <p:cNvSpPr txBox="1"/>
              <p:nvPr/>
            </p:nvSpPr>
            <p:spPr>
              <a:xfrm>
                <a:off x="1800894" y="1284584"/>
                <a:ext cx="980827" cy="450764"/>
              </a:xfrm>
              <a:prstGeom prst="rect">
                <a:avLst/>
              </a:prstGeom>
            </p:spPr>
            <p:txBody>
              <a:bodyPr vert="horz" wrap="square" lIns="0" tIns="29845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235"/>
                  </a:spcBef>
                </a:pPr>
                <a:r>
                  <a:rPr lang="zh-CN" altLang="en-US" sz="1050" b="1" spc="-20" dirty="0">
                    <a:solidFill>
                      <a:schemeClr val="tx1"/>
                    </a:solidFill>
                    <a:latin typeface="微软雅黑" panose="020B0503020204020204" charset="-122"/>
                    <a:cs typeface="微软雅黑" panose="020B0503020204020204" charset="-122"/>
                  </a:rPr>
                  <a:t>功能层</a:t>
                </a:r>
                <a:endParaRPr sz="1050" dirty="0">
                  <a:solidFill>
                    <a:schemeClr val="tx1"/>
                  </a:solidFill>
                  <a:latin typeface="微软雅黑" panose="020B0503020204020204" charset="-122"/>
                  <a:cs typeface="微软雅黑" panose="020B0503020204020204" charset="-122"/>
                </a:endParaRPr>
              </a:p>
              <a:p>
                <a:pPr marL="12700" algn="ctr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zh-CN" altLang="en-US" sz="800" spc="-15" dirty="0">
                    <a:latin typeface="微软雅黑" panose="020B0503020204020204" charset="-122"/>
                  </a:rPr>
                  <a:t>软硬协同设计与感内计算架构</a:t>
                </a:r>
              </a:p>
            </p:txBody>
          </p:sp>
        </p:grpSp>
        <p:sp>
          <p:nvSpPr>
            <p:cNvPr id="56" name="object 21"/>
            <p:cNvSpPr txBox="1"/>
            <p:nvPr/>
          </p:nvSpPr>
          <p:spPr>
            <a:xfrm>
              <a:off x="3169146" y="738086"/>
              <a:ext cx="1109528" cy="292093"/>
            </a:xfrm>
            <a:prstGeom prst="rect">
              <a:avLst/>
            </a:prstGeom>
          </p:spPr>
          <p:txBody>
            <a:bodyPr vert="horz" wrap="square" lIns="0" tIns="29845" rIns="0" bIns="0" rtlCol="0">
              <a:spAutoFit/>
            </a:bodyPr>
            <a:lstStyle/>
            <a:p>
              <a:pPr marL="69215" algn="ctr">
                <a:lnSpc>
                  <a:spcPct val="100000"/>
                </a:lnSpc>
                <a:spcBef>
                  <a:spcPts val="235"/>
                </a:spcBef>
              </a:pPr>
              <a:r>
                <a:rPr lang="zh-CN" altLang="en-US" sz="1050" b="1" spc="-25" dirty="0">
                  <a:solidFill>
                    <a:schemeClr val="tx1"/>
                  </a:solidFill>
                  <a:latin typeface="微软雅黑" panose="020B0503020204020204" charset="-122"/>
                  <a:cs typeface="微软雅黑" panose="020B0503020204020204" charset="-122"/>
                </a:rPr>
                <a:t>应用层</a:t>
              </a:r>
              <a:endParaRPr sz="1050" dirty="0">
                <a:solidFill>
                  <a:schemeClr val="tx1"/>
                </a:solidFill>
                <a:latin typeface="微软雅黑" panose="020B0503020204020204" charset="-122"/>
                <a:cs typeface="微软雅黑" panose="020B0503020204020204" charset="-122"/>
              </a:endParaRPr>
            </a:p>
            <a:p>
              <a:pPr marL="12700" algn="ctr">
                <a:lnSpc>
                  <a:spcPct val="100000"/>
                </a:lnSpc>
                <a:spcBef>
                  <a:spcPts val="95"/>
                </a:spcBef>
              </a:pPr>
              <a:r>
                <a:rPr lang="zh-CN" altLang="en-US" sz="800" spc="-15" dirty="0">
                  <a:latin typeface="微软雅黑" panose="020B0503020204020204" charset="-122"/>
                  <a:cs typeface="微软雅黑" panose="020B0503020204020204" charset="-122"/>
                </a:rPr>
                <a:t>目标检测与轻量化演示</a:t>
              </a:r>
              <a:endParaRPr lang="zh-CN" altLang="en-US" sz="800" dirty="0">
                <a:latin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7" name="object 23"/>
            <p:cNvSpPr/>
            <p:nvPr/>
          </p:nvSpPr>
          <p:spPr>
            <a:xfrm>
              <a:off x="1435690" y="925237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10">
                  <a:moveTo>
                    <a:pt x="0" y="0"/>
                  </a:moveTo>
                  <a:lnTo>
                    <a:pt x="193708" y="0"/>
                  </a:lnTo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24"/>
            <p:cNvSpPr/>
            <p:nvPr/>
          </p:nvSpPr>
          <p:spPr>
            <a:xfrm>
              <a:off x="1613123" y="902433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0" y="0"/>
                  </a:move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5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25"/>
            <p:cNvSpPr/>
            <p:nvPr/>
          </p:nvSpPr>
          <p:spPr>
            <a:xfrm>
              <a:off x="1613123" y="902433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60145" y="22803"/>
                  </a:moveTo>
                  <a:lnTo>
                    <a:pt x="0" y="0"/>
                  </a:ln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close/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26"/>
            <p:cNvSpPr/>
            <p:nvPr/>
          </p:nvSpPr>
          <p:spPr>
            <a:xfrm>
              <a:off x="2812726" y="928168"/>
              <a:ext cx="194310" cy="0"/>
            </a:xfrm>
            <a:custGeom>
              <a:avLst/>
              <a:gdLst/>
              <a:ahLst/>
              <a:cxnLst/>
              <a:rect l="l" t="t" r="r" b="b"/>
              <a:pathLst>
                <a:path w="194310">
                  <a:moveTo>
                    <a:pt x="0" y="0"/>
                  </a:moveTo>
                  <a:lnTo>
                    <a:pt x="193703" y="0"/>
                  </a:lnTo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27"/>
            <p:cNvSpPr/>
            <p:nvPr/>
          </p:nvSpPr>
          <p:spPr>
            <a:xfrm>
              <a:off x="3000252" y="902433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0" y="0"/>
                  </a:move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5E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28"/>
            <p:cNvSpPr/>
            <p:nvPr/>
          </p:nvSpPr>
          <p:spPr>
            <a:xfrm>
              <a:off x="2993468" y="902433"/>
              <a:ext cx="60325" cy="45720"/>
            </a:xfrm>
            <a:custGeom>
              <a:avLst/>
              <a:gdLst/>
              <a:ahLst/>
              <a:cxnLst/>
              <a:rect l="l" t="t" r="r" b="b"/>
              <a:pathLst>
                <a:path w="60325" h="45719">
                  <a:moveTo>
                    <a:pt x="60145" y="22803"/>
                  </a:moveTo>
                  <a:lnTo>
                    <a:pt x="0" y="0"/>
                  </a:lnTo>
                  <a:lnTo>
                    <a:pt x="20070" y="22803"/>
                  </a:lnTo>
                  <a:lnTo>
                    <a:pt x="0" y="45607"/>
                  </a:lnTo>
                  <a:lnTo>
                    <a:pt x="60145" y="22803"/>
                  </a:lnTo>
                  <a:close/>
                </a:path>
              </a:pathLst>
            </a:custGeom>
            <a:ln w="15183">
              <a:solidFill>
                <a:srgbClr val="9B5E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矩形: 圆角 4"/>
          <p:cNvSpPr/>
          <p:nvPr/>
        </p:nvSpPr>
        <p:spPr>
          <a:xfrm>
            <a:off x="3132210" y="577805"/>
            <a:ext cx="1201269" cy="546911"/>
          </a:xfrm>
          <a:prstGeom prst="roundRect">
            <a:avLst>
              <a:gd name="adj" fmla="val 10507"/>
            </a:avLst>
          </a:prstGeom>
          <a:gradFill>
            <a:gsLst>
              <a:gs pos="64957">
                <a:srgbClr val="7030A0">
                  <a:alpha val="30000"/>
                </a:srgb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</a:gradFill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9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666BDB5-B246-05BE-B4AC-F1FB4E23B7A2}"/>
              </a:ext>
            </a:extLst>
          </p:cNvPr>
          <p:cNvGrpSpPr/>
          <p:nvPr/>
        </p:nvGrpSpPr>
        <p:grpSpPr>
          <a:xfrm>
            <a:off x="186929" y="1217530"/>
            <a:ext cx="4146550" cy="1561030"/>
            <a:chOff x="210185" y="1370330"/>
            <a:chExt cx="4146550" cy="1561030"/>
          </a:xfrm>
        </p:grpSpPr>
        <p:sp>
          <p:nvSpPr>
            <p:cNvPr id="20" name="圆角矩形 19"/>
            <p:cNvSpPr/>
            <p:nvPr/>
          </p:nvSpPr>
          <p:spPr>
            <a:xfrm>
              <a:off x="3204845" y="1370330"/>
              <a:ext cx="1151890" cy="288290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b="1">
                  <a:solidFill>
                    <a:schemeClr val="accent1">
                      <a:lumMod val="50000"/>
                    </a:schemeClr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结合NVIDIA Jetson边缘计算平台</a:t>
              </a: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1703705" y="1657985"/>
              <a:ext cx="1151890" cy="288290"/>
            </a:xfrm>
            <a:prstGeom prst="roundRect">
              <a:avLst/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b="1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可展示小型演示系统</a:t>
              </a:r>
            </a:p>
          </p:txBody>
        </p:sp>
        <p:sp>
          <p:nvSpPr>
            <p:cNvPr id="22" name="流程图: 决策 21"/>
            <p:cNvSpPr/>
            <p:nvPr/>
          </p:nvSpPr>
          <p:spPr>
            <a:xfrm>
              <a:off x="1502727" y="2224605"/>
              <a:ext cx="1591945" cy="706755"/>
            </a:xfrm>
            <a:prstGeom prst="flowChartDecision">
              <a:avLst/>
            </a:prstGeom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b="1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系统可行性评估</a:t>
              </a:r>
            </a:p>
          </p:txBody>
        </p:sp>
        <p:sp>
          <p:nvSpPr>
            <p:cNvPr id="19" name="圆角矩形 18"/>
            <p:cNvSpPr/>
            <p:nvPr/>
          </p:nvSpPr>
          <p:spPr>
            <a:xfrm>
              <a:off x="210185" y="1370330"/>
              <a:ext cx="1151890" cy="288290"/>
            </a:xfrm>
            <a:prstGeom prst="roundRect">
              <a:avLst/>
            </a:prstGeom>
            <a:ln>
              <a:solidFill>
                <a:schemeClr val="bg1"/>
              </a:solidFill>
            </a:ln>
          </p:spPr>
          <p:style>
            <a:lnRef idx="0">
              <a:srgbClr val="FFFFFF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00" b="1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训练过的</a:t>
              </a:r>
              <a:r>
                <a:rPr lang="en-US" altLang="zh-CN" sz="800" b="1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YOLOv8</a:t>
              </a:r>
              <a:r>
                <a:rPr lang="zh-CN" altLang="en-US" sz="800" b="1" dirty="0">
                  <a:solidFill>
                    <a:schemeClr val="accent1">
                      <a:lumMod val="50000"/>
                    </a:schemeClr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模型</a:t>
              </a:r>
            </a:p>
          </p:txBody>
        </p:sp>
        <p:sp>
          <p:nvSpPr>
            <p:cNvPr id="26" name="下箭头 25"/>
            <p:cNvSpPr/>
            <p:nvPr/>
          </p:nvSpPr>
          <p:spPr>
            <a:xfrm>
              <a:off x="2189181" y="2038778"/>
              <a:ext cx="218440" cy="144145"/>
            </a:xfrm>
            <a:prstGeom prst="downArrow">
              <a:avLst/>
            </a:prstGeom>
          </p:spPr>
          <p:style>
            <a:lnRef idx="0">
              <a:srgbClr val="FFFFFF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下箭头 26"/>
            <p:cNvSpPr/>
            <p:nvPr/>
          </p:nvSpPr>
          <p:spPr>
            <a:xfrm rot="17640000">
              <a:off x="1417955" y="1658620"/>
              <a:ext cx="169545" cy="147955"/>
            </a:xfrm>
            <a:prstGeom prst="downArrow">
              <a:avLst/>
            </a:prstGeom>
          </p:spPr>
          <p:style>
            <a:lnRef idx="0">
              <a:srgbClr val="FFFFFF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下箭头 28"/>
            <p:cNvSpPr/>
            <p:nvPr/>
          </p:nvSpPr>
          <p:spPr>
            <a:xfrm rot="3720000">
              <a:off x="2974975" y="1621790"/>
              <a:ext cx="169545" cy="147955"/>
            </a:xfrm>
            <a:prstGeom prst="downArrow">
              <a:avLst/>
            </a:prstGeom>
          </p:spPr>
          <p:style>
            <a:lnRef idx="0">
              <a:srgbClr val="FFFFFF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下箭头 28">
            <a:extLst>
              <a:ext uri="{FF2B5EF4-FFF2-40B4-BE49-F238E27FC236}">
                <a16:creationId xmlns:a16="http://schemas.microsoft.com/office/drawing/2014/main" id="{86533F0D-81AC-1B4A-52E1-41503DFF7915}"/>
              </a:ext>
            </a:extLst>
          </p:cNvPr>
          <p:cNvSpPr/>
          <p:nvPr/>
        </p:nvSpPr>
        <p:spPr>
          <a:xfrm rot="3720000">
            <a:off x="1648182" y="2671188"/>
            <a:ext cx="169545" cy="147955"/>
          </a:xfrm>
          <a:prstGeom prst="downArrow">
            <a:avLst/>
          </a:prstGeom>
        </p:spPr>
        <p:style>
          <a:lnRef idx="0">
            <a:srgbClr val="FFFFFF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下箭头 26">
            <a:extLst>
              <a:ext uri="{FF2B5EF4-FFF2-40B4-BE49-F238E27FC236}">
                <a16:creationId xmlns:a16="http://schemas.microsoft.com/office/drawing/2014/main" id="{411BA84D-AB4D-0205-9B5D-AFC3DDA2E32C}"/>
              </a:ext>
            </a:extLst>
          </p:cNvPr>
          <p:cNvSpPr/>
          <p:nvPr/>
        </p:nvSpPr>
        <p:spPr>
          <a:xfrm rot="17640000">
            <a:off x="2723046" y="2698958"/>
            <a:ext cx="169545" cy="147955"/>
          </a:xfrm>
          <a:prstGeom prst="downArrow">
            <a:avLst/>
          </a:prstGeom>
        </p:spPr>
        <p:style>
          <a:lnRef idx="0">
            <a:srgbClr val="FFFFFF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下箭头 25">
            <a:extLst>
              <a:ext uri="{FF2B5EF4-FFF2-40B4-BE49-F238E27FC236}">
                <a16:creationId xmlns:a16="http://schemas.microsoft.com/office/drawing/2014/main" id="{EFBBC705-BD9C-3C43-28E9-995B6A1E5630}"/>
              </a:ext>
            </a:extLst>
          </p:cNvPr>
          <p:cNvSpPr/>
          <p:nvPr/>
        </p:nvSpPr>
        <p:spPr>
          <a:xfrm>
            <a:off x="2161351" y="2796107"/>
            <a:ext cx="218440" cy="144145"/>
          </a:xfrm>
          <a:prstGeom prst="downArrow">
            <a:avLst/>
          </a:prstGeom>
        </p:spPr>
        <p:style>
          <a:lnRef idx="0">
            <a:srgbClr val="FFFFFF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20">
            <a:extLst>
              <a:ext uri="{FF2B5EF4-FFF2-40B4-BE49-F238E27FC236}">
                <a16:creationId xmlns:a16="http://schemas.microsoft.com/office/drawing/2014/main" id="{BF7313B0-86BC-0817-F1D6-781E7ECE65DC}"/>
              </a:ext>
            </a:extLst>
          </p:cNvPr>
          <p:cNvSpPr/>
          <p:nvPr/>
        </p:nvSpPr>
        <p:spPr>
          <a:xfrm>
            <a:off x="429644" y="3018889"/>
            <a:ext cx="1151890" cy="288290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accent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响应速度评估</a:t>
            </a:r>
          </a:p>
        </p:txBody>
      </p:sp>
      <p:sp>
        <p:nvSpPr>
          <p:cNvPr id="10" name="圆角矩形 20">
            <a:extLst>
              <a:ext uri="{FF2B5EF4-FFF2-40B4-BE49-F238E27FC236}">
                <a16:creationId xmlns:a16="http://schemas.microsoft.com/office/drawing/2014/main" id="{DA908CA1-D9E8-CEDA-D946-65D48EE91F21}"/>
              </a:ext>
            </a:extLst>
          </p:cNvPr>
          <p:cNvSpPr/>
          <p:nvPr/>
        </p:nvSpPr>
        <p:spPr>
          <a:xfrm>
            <a:off x="1689913" y="3018889"/>
            <a:ext cx="1151890" cy="288290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accent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目标增强效果评估</a:t>
            </a:r>
          </a:p>
        </p:txBody>
      </p:sp>
      <p:sp>
        <p:nvSpPr>
          <p:cNvPr id="11" name="圆角矩形 20">
            <a:extLst>
              <a:ext uri="{FF2B5EF4-FFF2-40B4-BE49-F238E27FC236}">
                <a16:creationId xmlns:a16="http://schemas.microsoft.com/office/drawing/2014/main" id="{E3D1DA20-0716-BE69-D994-F6F1C4C40264}"/>
              </a:ext>
            </a:extLst>
          </p:cNvPr>
          <p:cNvSpPr/>
          <p:nvPr/>
        </p:nvSpPr>
        <p:spPr>
          <a:xfrm>
            <a:off x="2950182" y="3018889"/>
            <a:ext cx="1201268" cy="288290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b="1" dirty="0">
                <a:solidFill>
                  <a:schemeClr val="accent1">
                    <a:lumMod val="50000"/>
                  </a:scheme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后端处理负担降低评估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242" y="202397"/>
            <a:ext cx="3209912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" dirty="0" err="1"/>
              <a:t>创新点一</a:t>
            </a:r>
            <a:r>
              <a:rPr spc="-5" dirty="0"/>
              <a:t>：</a:t>
            </a:r>
            <a:r>
              <a:rPr lang="zh-CN" altLang="en-US" spc="-5" dirty="0">
                <a:latin typeface="微软雅黑" panose="020B0503020204020204" pitchFamily="34" charset="-122"/>
                <a:ea typeface="微软雅黑" panose="020B0503020204020204" pitchFamily="34" charset="-122"/>
              </a:rPr>
              <a:t>落地性与明确应用场景</a:t>
            </a:r>
            <a:endParaRPr spc="-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2AC9C6A-3D8F-4B6D-B977-836EEF833D9D}"/>
              </a:ext>
            </a:extLst>
          </p:cNvPr>
          <p:cNvGrpSpPr/>
          <p:nvPr/>
        </p:nvGrpSpPr>
        <p:grpSpPr>
          <a:xfrm>
            <a:off x="4273" y="1193842"/>
            <a:ext cx="4608004" cy="384523"/>
            <a:chOff x="2096" y="1502208"/>
            <a:chExt cx="4608004" cy="384523"/>
          </a:xfrm>
        </p:grpSpPr>
        <p:sp>
          <p:nvSpPr>
            <p:cNvPr id="6" name="object 4"/>
            <p:cNvSpPr txBox="1"/>
            <p:nvPr/>
          </p:nvSpPr>
          <p:spPr>
            <a:xfrm>
              <a:off x="31242" y="1653975"/>
              <a:ext cx="3305175" cy="232756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>
              <a:lvl1pPr eaLnBrk="1" hangingPunct="1">
                <a:defRPr sz="1400" b="1" i="0">
                  <a:solidFill>
                    <a:schemeClr val="bg1"/>
                  </a:solidFill>
                  <a:latin typeface="微软雅黑" panose="020B0503020204020204" charset="-122"/>
                  <a:ea typeface="+mj-ea"/>
                  <a:cs typeface="微软雅黑" panose="020B0503020204020204" charset="-122"/>
                </a:defRPr>
              </a:lvl1pPr>
            </a:lstStyle>
            <a:p>
              <a:pPr marL="12700">
                <a:spcBef>
                  <a:spcPts val="135"/>
                </a:spcBef>
              </a:pPr>
              <a:r>
                <a:rPr lang="zh-CN" altLang="en-US" dirty="0"/>
                <a:t>创新点二：感内计算</a:t>
              </a: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与前端滤波器</a:t>
              </a:r>
            </a:p>
          </p:txBody>
        </p:sp>
        <p:sp>
          <p:nvSpPr>
            <p:cNvPr id="40" name="object 3"/>
            <p:cNvSpPr/>
            <p:nvPr/>
          </p:nvSpPr>
          <p:spPr>
            <a:xfrm>
              <a:off x="2096" y="1502208"/>
              <a:ext cx="4608004" cy="384523"/>
            </a:xfrm>
            <a:custGeom>
              <a:avLst/>
              <a:gdLst>
                <a:gd name="csX0" fmla="*/ 4608004 w 4608004"/>
                <a:gd name="csY0" fmla="*/ 135788 h 506717"/>
                <a:gd name="csX1" fmla="*/ 4607992 w 4608004"/>
                <a:gd name="csY1" fmla="*/ 0 h 506717"/>
                <a:gd name="csX2" fmla="*/ 2309359 w 4608004"/>
                <a:gd name="csY2" fmla="*/ 131395 h 506717"/>
                <a:gd name="csX3" fmla="*/ 2303996 w 4608004"/>
                <a:gd name="csY3" fmla="*/ 135788 h 506717"/>
                <a:gd name="csX4" fmla="*/ 0 w 4608004"/>
                <a:gd name="csY4" fmla="*/ 135788 h 506717"/>
                <a:gd name="csX5" fmla="*/ 0 w 4608004"/>
                <a:gd name="csY5" fmla="*/ 506717 h 506717"/>
                <a:gd name="csX6" fmla="*/ 4608004 w 4608004"/>
                <a:gd name="csY6" fmla="*/ 506717 h 506717"/>
                <a:gd name="csX7" fmla="*/ 4608004 w 4608004"/>
                <a:gd name="csY7" fmla="*/ 135788 h 506717"/>
                <a:gd name="csX0-1" fmla="*/ 4608004 w 4608004"/>
                <a:gd name="csY0-2" fmla="*/ 13594 h 384523"/>
                <a:gd name="csX1-3" fmla="*/ 4602629 w 4608004"/>
                <a:gd name="csY1-4" fmla="*/ 9201 h 384523"/>
                <a:gd name="csX2-5" fmla="*/ 2309359 w 4608004"/>
                <a:gd name="csY2-6" fmla="*/ 9201 h 384523"/>
                <a:gd name="csX3-7" fmla="*/ 2303996 w 4608004"/>
                <a:gd name="csY3-8" fmla="*/ 13594 h 384523"/>
                <a:gd name="csX4-9" fmla="*/ 0 w 4608004"/>
                <a:gd name="csY4-10" fmla="*/ 13594 h 384523"/>
                <a:gd name="csX5-11" fmla="*/ 0 w 4608004"/>
                <a:gd name="csY5-12" fmla="*/ 384523 h 384523"/>
                <a:gd name="csX6-13" fmla="*/ 4608004 w 4608004"/>
                <a:gd name="csY6-14" fmla="*/ 384523 h 384523"/>
                <a:gd name="csX7-15" fmla="*/ 4608004 w 4608004"/>
                <a:gd name="csY7-16" fmla="*/ 13594 h 384523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  <a:cxn ang="0">
                  <a:pos x="csX5-11" y="csY5-12"/>
                </a:cxn>
                <a:cxn ang="0">
                  <a:pos x="csX6-13" y="csY6-14"/>
                </a:cxn>
                <a:cxn ang="0">
                  <a:pos x="csX7-15" y="csY7-16"/>
                </a:cxn>
              </a:cxnLst>
              <a:rect l="l" t="t" r="r" b="b"/>
              <a:pathLst>
                <a:path w="4608004" h="384523">
                  <a:moveTo>
                    <a:pt x="4608004" y="13594"/>
                  </a:moveTo>
                  <a:cubicBezTo>
                    <a:pt x="4608000" y="-31669"/>
                    <a:pt x="4602633" y="54464"/>
                    <a:pt x="4602629" y="9201"/>
                  </a:cubicBezTo>
                  <a:lnTo>
                    <a:pt x="2309359" y="9201"/>
                  </a:lnTo>
                  <a:lnTo>
                    <a:pt x="2303996" y="13594"/>
                  </a:lnTo>
                  <a:lnTo>
                    <a:pt x="0" y="13594"/>
                  </a:lnTo>
                  <a:lnTo>
                    <a:pt x="0" y="384523"/>
                  </a:lnTo>
                  <a:lnTo>
                    <a:pt x="4608004" y="384523"/>
                  </a:lnTo>
                  <a:lnTo>
                    <a:pt x="4608004" y="13594"/>
                  </a:lnTo>
                  <a:close/>
                </a:path>
              </a:pathLst>
            </a:custGeom>
            <a:solidFill>
              <a:srgbClr val="701A5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1" name="object 4"/>
            <p:cNvSpPr txBox="1"/>
            <p:nvPr/>
          </p:nvSpPr>
          <p:spPr>
            <a:xfrm>
              <a:off x="31242" y="1582336"/>
              <a:ext cx="3305175" cy="232756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>
              <a:lvl1pPr eaLnBrk="1" hangingPunct="1">
                <a:defRPr sz="1400" b="1" i="0">
                  <a:solidFill>
                    <a:schemeClr val="bg1"/>
                  </a:solidFill>
                  <a:latin typeface="微软雅黑" panose="020B0503020204020204" charset="-122"/>
                  <a:ea typeface="+mj-ea"/>
                  <a:cs typeface="微软雅黑" panose="020B0503020204020204" charset="-122"/>
                </a:defRPr>
              </a:lvl1pPr>
            </a:lstStyle>
            <a:p>
              <a:pPr marL="12700">
                <a:spcBef>
                  <a:spcPts val="135"/>
                </a:spcBef>
              </a:pP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创新点二：感内计算与前端处理</a:t>
              </a: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26969" y="497982"/>
            <a:ext cx="4578858" cy="6758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21285" indent="-683260" algn="l">
              <a:lnSpc>
                <a:spcPct val="150000"/>
              </a:lnSpc>
              <a:spcBef>
                <a:spcPts val="95"/>
              </a:spcBef>
            </a:pPr>
            <a:r>
              <a:rPr lang="en-US" altLang="zh-CN" sz="1000" dirty="0"/>
              <a:t>       </a:t>
            </a:r>
            <a:r>
              <a:rPr lang="zh-CN" altLang="zh-CN" sz="1000" dirty="0"/>
              <a:t>二维光电突触研究大多集中在器件响应特性测试</a:t>
            </a:r>
            <a:r>
              <a:rPr lang="zh-CN" altLang="en-US" sz="1000" dirty="0"/>
              <a:t>，</a:t>
            </a:r>
            <a:r>
              <a:rPr lang="zh-CN" altLang="zh-CN" sz="1000" dirty="0"/>
              <a:t>本项目</a:t>
            </a:r>
            <a:r>
              <a:rPr lang="zh-CN" altLang="en-US" sz="1000" dirty="0"/>
              <a:t>则</a:t>
            </a:r>
            <a:r>
              <a:rPr lang="zh-CN" altLang="zh-CN" sz="1000" dirty="0"/>
              <a:t>应用到极端光照条件下的目标增强与检测演示中，验证其作为视觉前端预处理单元的可行性</a:t>
            </a:r>
            <a:r>
              <a:rPr lang="zh-CN" altLang="en-US" sz="1000" dirty="0"/>
              <a:t>与潜力</a:t>
            </a:r>
            <a:endParaRPr lang="zh-CN" altLang="zh-CN" sz="1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9ADB5C-E3BD-1610-C6DE-08CDC35D5945}"/>
              </a:ext>
            </a:extLst>
          </p:cNvPr>
          <p:cNvSpPr txBox="1"/>
          <p:nvPr/>
        </p:nvSpPr>
        <p:spPr>
          <a:xfrm>
            <a:off x="-71214" y="1555937"/>
            <a:ext cx="443614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+mn-ea"/>
              </a:rPr>
              <a:t>       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charset="-122"/>
                <a:ea typeface="+mn-ea"/>
              </a:rPr>
              <a:t>传统视觉系统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+mn-ea"/>
              </a:rPr>
              <a:t>依赖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charset="-122"/>
                <a:ea typeface="+mn-ea"/>
              </a:rPr>
              <a:t>后端算法修复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+mn-ea"/>
              </a:rPr>
              <a:t>图片，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charset="-122"/>
                <a:ea typeface="+mn-ea"/>
              </a:rPr>
              <a:t>本项目将器件作为具有预处理能力的光敏单元，在传感前端实现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+mn-ea"/>
              </a:rPr>
              <a:t>图像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charset="-122"/>
                <a:ea typeface="+mn-ea"/>
              </a:rPr>
              <a:t>背景抑制、亮暗调节或目标增强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+mn-ea"/>
              </a:rPr>
              <a:t>的预处理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charset="-122"/>
                <a:ea typeface="+mn-ea"/>
              </a:rPr>
              <a:t>，减轻后续算法处理压力。</a:t>
            </a:r>
          </a:p>
          <a:p>
            <a:endParaRPr lang="zh-CN" altLang="en-US" sz="1000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8CB8152-A7A9-8A19-6367-B291A26D2A40}"/>
              </a:ext>
            </a:extLst>
          </p:cNvPr>
          <p:cNvGrpSpPr/>
          <p:nvPr/>
        </p:nvGrpSpPr>
        <p:grpSpPr>
          <a:xfrm>
            <a:off x="4273" y="2265427"/>
            <a:ext cx="4608004" cy="384523"/>
            <a:chOff x="2096" y="1502208"/>
            <a:chExt cx="4608004" cy="384523"/>
          </a:xfrm>
        </p:grpSpPr>
        <p:sp>
          <p:nvSpPr>
            <p:cNvPr id="20" name="object 4">
              <a:extLst>
                <a:ext uri="{FF2B5EF4-FFF2-40B4-BE49-F238E27FC236}">
                  <a16:creationId xmlns:a16="http://schemas.microsoft.com/office/drawing/2014/main" id="{11F344C2-8B47-499B-4622-E5F23607A92E}"/>
                </a:ext>
              </a:extLst>
            </p:cNvPr>
            <p:cNvSpPr txBox="1"/>
            <p:nvPr/>
          </p:nvSpPr>
          <p:spPr>
            <a:xfrm>
              <a:off x="31242" y="1653975"/>
              <a:ext cx="3305175" cy="232756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>
              <a:lvl1pPr eaLnBrk="1" hangingPunct="1">
                <a:defRPr sz="1400" b="1" i="0">
                  <a:solidFill>
                    <a:schemeClr val="bg1"/>
                  </a:solidFill>
                  <a:latin typeface="微软雅黑" panose="020B0503020204020204" charset="-122"/>
                  <a:ea typeface="+mj-ea"/>
                  <a:cs typeface="微软雅黑" panose="020B0503020204020204" charset="-122"/>
                </a:defRPr>
              </a:lvl1pPr>
            </a:lstStyle>
            <a:p>
              <a:pPr marL="12700">
                <a:spcBef>
                  <a:spcPts val="135"/>
                </a:spcBef>
              </a:pPr>
              <a:r>
                <a:rPr lang="zh-CN" altLang="en-US" dirty="0"/>
                <a:t>创新点二：感内计算</a:t>
              </a: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与前端滤波器</a:t>
              </a:r>
            </a:p>
          </p:txBody>
        </p:sp>
        <p:sp>
          <p:nvSpPr>
            <p:cNvPr id="21" name="object 3">
              <a:extLst>
                <a:ext uri="{FF2B5EF4-FFF2-40B4-BE49-F238E27FC236}">
                  <a16:creationId xmlns:a16="http://schemas.microsoft.com/office/drawing/2014/main" id="{A136AFDD-8051-3F2C-AC93-6B87E5A82170}"/>
                </a:ext>
              </a:extLst>
            </p:cNvPr>
            <p:cNvSpPr/>
            <p:nvPr/>
          </p:nvSpPr>
          <p:spPr>
            <a:xfrm>
              <a:off x="2096" y="1502208"/>
              <a:ext cx="4608004" cy="384523"/>
            </a:xfrm>
            <a:custGeom>
              <a:avLst/>
              <a:gdLst>
                <a:gd name="csX0" fmla="*/ 4608004 w 4608004"/>
                <a:gd name="csY0" fmla="*/ 135788 h 506717"/>
                <a:gd name="csX1" fmla="*/ 4607992 w 4608004"/>
                <a:gd name="csY1" fmla="*/ 0 h 506717"/>
                <a:gd name="csX2" fmla="*/ 2309359 w 4608004"/>
                <a:gd name="csY2" fmla="*/ 131395 h 506717"/>
                <a:gd name="csX3" fmla="*/ 2303996 w 4608004"/>
                <a:gd name="csY3" fmla="*/ 135788 h 506717"/>
                <a:gd name="csX4" fmla="*/ 0 w 4608004"/>
                <a:gd name="csY4" fmla="*/ 135788 h 506717"/>
                <a:gd name="csX5" fmla="*/ 0 w 4608004"/>
                <a:gd name="csY5" fmla="*/ 506717 h 506717"/>
                <a:gd name="csX6" fmla="*/ 4608004 w 4608004"/>
                <a:gd name="csY6" fmla="*/ 506717 h 506717"/>
                <a:gd name="csX7" fmla="*/ 4608004 w 4608004"/>
                <a:gd name="csY7" fmla="*/ 135788 h 506717"/>
                <a:gd name="csX0-1" fmla="*/ 4608004 w 4608004"/>
                <a:gd name="csY0-2" fmla="*/ 13594 h 384523"/>
                <a:gd name="csX1-3" fmla="*/ 4602629 w 4608004"/>
                <a:gd name="csY1-4" fmla="*/ 9201 h 384523"/>
                <a:gd name="csX2-5" fmla="*/ 2309359 w 4608004"/>
                <a:gd name="csY2-6" fmla="*/ 9201 h 384523"/>
                <a:gd name="csX3-7" fmla="*/ 2303996 w 4608004"/>
                <a:gd name="csY3-8" fmla="*/ 13594 h 384523"/>
                <a:gd name="csX4-9" fmla="*/ 0 w 4608004"/>
                <a:gd name="csY4-10" fmla="*/ 13594 h 384523"/>
                <a:gd name="csX5-11" fmla="*/ 0 w 4608004"/>
                <a:gd name="csY5-12" fmla="*/ 384523 h 384523"/>
                <a:gd name="csX6-13" fmla="*/ 4608004 w 4608004"/>
                <a:gd name="csY6-14" fmla="*/ 384523 h 384523"/>
                <a:gd name="csX7-15" fmla="*/ 4608004 w 4608004"/>
                <a:gd name="csY7-16" fmla="*/ 13594 h 384523"/>
              </a:gdLst>
              <a:ahLst/>
              <a:cxnLst>
                <a:cxn ang="0">
                  <a:pos x="csX0-1" y="csY0-2"/>
                </a:cxn>
                <a:cxn ang="0">
                  <a:pos x="csX1-3" y="csY1-4"/>
                </a:cxn>
                <a:cxn ang="0">
                  <a:pos x="csX2-5" y="csY2-6"/>
                </a:cxn>
                <a:cxn ang="0">
                  <a:pos x="csX3-7" y="csY3-8"/>
                </a:cxn>
                <a:cxn ang="0">
                  <a:pos x="csX4-9" y="csY4-10"/>
                </a:cxn>
                <a:cxn ang="0">
                  <a:pos x="csX5-11" y="csY5-12"/>
                </a:cxn>
                <a:cxn ang="0">
                  <a:pos x="csX6-13" y="csY6-14"/>
                </a:cxn>
                <a:cxn ang="0">
                  <a:pos x="csX7-15" y="csY7-16"/>
                </a:cxn>
              </a:cxnLst>
              <a:rect l="l" t="t" r="r" b="b"/>
              <a:pathLst>
                <a:path w="4608004" h="384523">
                  <a:moveTo>
                    <a:pt x="4608004" y="13594"/>
                  </a:moveTo>
                  <a:cubicBezTo>
                    <a:pt x="4608000" y="-31669"/>
                    <a:pt x="4602633" y="54464"/>
                    <a:pt x="4602629" y="9201"/>
                  </a:cubicBezTo>
                  <a:lnTo>
                    <a:pt x="2309359" y="9201"/>
                  </a:lnTo>
                  <a:lnTo>
                    <a:pt x="2303996" y="13594"/>
                  </a:lnTo>
                  <a:lnTo>
                    <a:pt x="0" y="13594"/>
                  </a:lnTo>
                  <a:lnTo>
                    <a:pt x="0" y="384523"/>
                  </a:lnTo>
                  <a:lnTo>
                    <a:pt x="4608004" y="384523"/>
                  </a:lnTo>
                  <a:lnTo>
                    <a:pt x="4608004" y="13594"/>
                  </a:lnTo>
                  <a:close/>
                </a:path>
              </a:pathLst>
            </a:custGeom>
            <a:solidFill>
              <a:srgbClr val="701A5E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4">
              <a:extLst>
                <a:ext uri="{FF2B5EF4-FFF2-40B4-BE49-F238E27FC236}">
                  <a16:creationId xmlns:a16="http://schemas.microsoft.com/office/drawing/2014/main" id="{3B76BB52-0A37-F85D-0964-6DB0B3090D93}"/>
                </a:ext>
              </a:extLst>
            </p:cNvPr>
            <p:cNvSpPr txBox="1"/>
            <p:nvPr/>
          </p:nvSpPr>
          <p:spPr>
            <a:xfrm>
              <a:off x="31242" y="1582336"/>
              <a:ext cx="3305175" cy="232756"/>
            </a:xfrm>
            <a:prstGeom prst="rect">
              <a:avLst/>
            </a:prstGeom>
          </p:spPr>
          <p:txBody>
            <a:bodyPr vert="horz" wrap="square" lIns="0" tIns="17145" rIns="0" bIns="0" rtlCol="0">
              <a:spAutoFit/>
            </a:bodyPr>
            <a:lstStyle>
              <a:lvl1pPr eaLnBrk="1" hangingPunct="1">
                <a:defRPr sz="1400" b="1" i="0">
                  <a:solidFill>
                    <a:schemeClr val="bg1"/>
                  </a:solidFill>
                  <a:latin typeface="微软雅黑" panose="020B0503020204020204" charset="-122"/>
                  <a:ea typeface="+mj-ea"/>
                  <a:cs typeface="微软雅黑" panose="020B0503020204020204" charset="-122"/>
                </a:defRPr>
              </a:lvl1pPr>
            </a:lstStyle>
            <a:p>
              <a:pPr marL="12700">
                <a:spcBef>
                  <a:spcPts val="135"/>
                </a:spcBef>
              </a:pPr>
              <a:r>
                <a:rPr lang="zh-CN" altLang="en-US" dirty="0">
                  <a:latin typeface="微软雅黑" panose="020B0503020204020204" charset="-122"/>
                  <a:ea typeface="微软雅黑" panose="020B0503020204020204" charset="-122"/>
                </a:rPr>
                <a:t>创新点三：形成小型验证系统</a:t>
              </a: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484110B6-F9C8-EEF8-E518-55015B892F69}"/>
              </a:ext>
            </a:extLst>
          </p:cNvPr>
          <p:cNvSpPr txBox="1"/>
          <p:nvPr/>
        </p:nvSpPr>
        <p:spPr>
          <a:xfrm>
            <a:off x="0" y="2648727"/>
            <a:ext cx="4320480" cy="755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tx1"/>
                </a:solidFill>
                <a:latin typeface="微软雅黑" panose="020B0503020204020204" charset="-122"/>
                <a:ea typeface="+mn-ea"/>
              </a:rPr>
              <a:t>    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charset="-122"/>
                <a:ea typeface="+mn-ea"/>
              </a:rPr>
              <a:t>本项目形成</a:t>
            </a:r>
            <a:r>
              <a:rPr lang="zh-CN" altLang="en-US" sz="1000" dirty="0">
                <a:solidFill>
                  <a:schemeClr val="tx1"/>
                </a:solidFill>
                <a:latin typeface="微软雅黑" panose="020B0503020204020204" charset="-122"/>
                <a:ea typeface="+mn-ea"/>
              </a:rPr>
              <a:t>了</a:t>
            </a:r>
            <a:r>
              <a:rPr lang="zh-CN" altLang="zh-CN" sz="1000" dirty="0">
                <a:solidFill>
                  <a:schemeClr val="tx1"/>
                </a:solidFill>
                <a:latin typeface="微软雅黑" panose="020B0503020204020204" charset="-122"/>
                <a:ea typeface="+mn-ea"/>
              </a:rPr>
              <a:t>器件制备、信号获取、图像预处理到目标检测展示的完整实验流程，能够更直观地验证二维光电突触在实际视觉任务中的作用，使项目具备实用价值。</a:t>
            </a:r>
            <a:endParaRPr lang="zh-CN" altLang="en-US" sz="1000" dirty="0">
              <a:solidFill>
                <a:schemeClr val="tx1"/>
              </a:solidFill>
              <a:latin typeface="微软雅黑" panose="020B0503020204020204" charset="-122"/>
              <a:ea typeface="+mn-e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50"/>
            <a:ext cx="4608195" cy="506730"/>
          </a:xfrm>
          <a:custGeom>
            <a:avLst/>
            <a:gdLst/>
            <a:ahLst/>
            <a:cxnLst/>
            <a:rect l="l" t="t" r="r" b="b"/>
            <a:pathLst>
              <a:path w="4608195" h="506730">
                <a:moveTo>
                  <a:pt x="4608004" y="135788"/>
                </a:moveTo>
                <a:lnTo>
                  <a:pt x="4607992" y="0"/>
                </a:lnTo>
                <a:lnTo>
                  <a:pt x="2303996" y="0"/>
                </a:lnTo>
                <a:lnTo>
                  <a:pt x="2303996" y="135788"/>
                </a:lnTo>
                <a:lnTo>
                  <a:pt x="0" y="135788"/>
                </a:lnTo>
                <a:lnTo>
                  <a:pt x="0" y="506717"/>
                </a:lnTo>
                <a:lnTo>
                  <a:pt x="4608004" y="506717"/>
                </a:lnTo>
                <a:lnTo>
                  <a:pt x="4608004" y="135788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4055" y="203464"/>
            <a:ext cx="22123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" dirty="0"/>
              <a:t>团队基础：互补型人才结构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45478" y="1053871"/>
            <a:ext cx="4317365" cy="280035"/>
            <a:chOff x="145478" y="1053871"/>
            <a:chExt cx="4317365" cy="280035"/>
          </a:xfrm>
        </p:grpSpPr>
        <p:sp>
          <p:nvSpPr>
            <p:cNvPr id="6" name="object 6"/>
            <p:cNvSpPr/>
            <p:nvPr/>
          </p:nvSpPr>
          <p:spPr>
            <a:xfrm>
              <a:off x="151828" y="1060221"/>
              <a:ext cx="4304665" cy="0"/>
            </a:xfrm>
            <a:custGeom>
              <a:avLst/>
              <a:gdLst/>
              <a:ahLst/>
              <a:cxnLst/>
              <a:rect l="l" t="t" r="r" b="b"/>
              <a:pathLst>
                <a:path w="4304665">
                  <a:moveTo>
                    <a:pt x="0" y="0"/>
                  </a:moveTo>
                  <a:lnTo>
                    <a:pt x="4304347" y="0"/>
                  </a:lnTo>
                </a:path>
              </a:pathLst>
            </a:custGeom>
            <a:ln w="12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1828" y="1110106"/>
              <a:ext cx="4304665" cy="224154"/>
            </a:xfrm>
            <a:custGeom>
              <a:avLst/>
              <a:gdLst/>
              <a:ahLst/>
              <a:cxnLst/>
              <a:rect l="l" t="t" r="r" b="b"/>
              <a:pathLst>
                <a:path w="4304665" h="224155">
                  <a:moveTo>
                    <a:pt x="4304347" y="0"/>
                  </a:moveTo>
                  <a:lnTo>
                    <a:pt x="2486520" y="0"/>
                  </a:lnTo>
                  <a:lnTo>
                    <a:pt x="668693" y="0"/>
                  </a:lnTo>
                  <a:lnTo>
                    <a:pt x="0" y="0"/>
                  </a:lnTo>
                  <a:lnTo>
                    <a:pt x="0" y="223697"/>
                  </a:lnTo>
                  <a:lnTo>
                    <a:pt x="668693" y="223697"/>
                  </a:lnTo>
                  <a:lnTo>
                    <a:pt x="2486520" y="223697"/>
                  </a:lnTo>
                  <a:lnTo>
                    <a:pt x="4304347" y="223697"/>
                  </a:lnTo>
                  <a:lnTo>
                    <a:pt x="4304347" y="0"/>
                  </a:lnTo>
                  <a:close/>
                </a:path>
              </a:pathLst>
            </a:custGeom>
            <a:solidFill>
              <a:srgbClr val="F0E8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52166" y="1115452"/>
            <a:ext cx="7181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30" dirty="0">
                <a:latin typeface="微软雅黑" panose="020B0503020204020204" charset="-122"/>
                <a:cs typeface="微软雅黑" panose="020B0503020204020204" charset="-122"/>
              </a:rPr>
              <a:t>本项目职责</a:t>
            </a:r>
            <a:endParaRPr sz="11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1828" y="1364564"/>
            <a:ext cx="4304665" cy="0"/>
          </a:xfrm>
          <a:custGeom>
            <a:avLst/>
            <a:gdLst/>
            <a:ahLst/>
            <a:cxnLst/>
            <a:rect l="l" t="t" r="r" b="b"/>
            <a:pathLst>
              <a:path w="4304665">
                <a:moveTo>
                  <a:pt x="0" y="0"/>
                </a:moveTo>
                <a:lnTo>
                  <a:pt x="4304347" y="0"/>
                </a:lnTo>
              </a:path>
            </a:pathLst>
          </a:custGeom>
          <a:ln w="75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5658" y="1115452"/>
            <a:ext cx="1816735" cy="4911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1915">
              <a:lnSpc>
                <a:spcPct val="100000"/>
              </a:lnSpc>
              <a:spcBef>
                <a:spcPts val="90"/>
              </a:spcBef>
              <a:tabLst>
                <a:tab pos="680720" algn="l"/>
              </a:tabLst>
            </a:pPr>
            <a:r>
              <a:rPr sz="1100" b="1" spc="-20" dirty="0">
                <a:latin typeface="微软雅黑" panose="020B0503020204020204" charset="-122"/>
                <a:cs typeface="微软雅黑" panose="020B0503020204020204" charset="-122"/>
              </a:rPr>
              <a:t>成</a:t>
            </a:r>
            <a:r>
              <a:rPr sz="1100" b="1" spc="-50" dirty="0">
                <a:latin typeface="微软雅黑" panose="020B0503020204020204" charset="-122"/>
                <a:cs typeface="微软雅黑" panose="020B0503020204020204" charset="-122"/>
              </a:rPr>
              <a:t>员</a:t>
            </a:r>
            <a:r>
              <a:rPr sz="1100" b="1" dirty="0"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sz="1100" b="1" spc="-20" dirty="0">
                <a:latin typeface="微软雅黑" panose="020B0503020204020204" charset="-122"/>
                <a:cs typeface="微软雅黑" panose="020B0503020204020204" charset="-122"/>
              </a:rPr>
              <a:t>核心能</a:t>
            </a:r>
            <a:r>
              <a:rPr sz="1100" b="1" spc="-50" dirty="0">
                <a:latin typeface="微软雅黑" panose="020B0503020204020204" charset="-122"/>
                <a:cs typeface="微软雅黑" panose="020B0503020204020204" charset="-122"/>
              </a:rPr>
              <a:t>力</a:t>
            </a:r>
            <a:endParaRPr sz="1100" dirty="0">
              <a:latin typeface="微软雅黑" panose="020B0503020204020204" charset="-122"/>
              <a:cs typeface="微软雅黑" panose="020B0503020204020204" charset="-122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  <a:tabLst>
                <a:tab pos="680720" algn="l"/>
                <a:tab pos="1142365" algn="l"/>
                <a:tab pos="1604010" algn="l"/>
              </a:tabLst>
            </a:pPr>
            <a:r>
              <a:rPr sz="1100" b="1" spc="-20" dirty="0">
                <a:latin typeface="微软雅黑" panose="020B0503020204020204" charset="-122"/>
                <a:cs typeface="微软雅黑" panose="020B0503020204020204" charset="-122"/>
              </a:rPr>
              <a:t>勒方</a:t>
            </a:r>
            <a:r>
              <a:rPr sz="1100" b="1" spc="-50" dirty="0">
                <a:latin typeface="微软雅黑" panose="020B0503020204020204" charset="-122"/>
                <a:cs typeface="微软雅黑" panose="020B0503020204020204" charset="-122"/>
              </a:rPr>
              <a:t>舟</a:t>
            </a:r>
            <a:r>
              <a:rPr sz="1100" b="1" dirty="0"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sz="1100" spc="-10" dirty="0">
                <a:latin typeface="Georgia" panose="02040502050405020303"/>
                <a:cs typeface="Georgia" panose="02040502050405020303"/>
              </a:rPr>
              <a:t>Python/MATLAB</a:t>
            </a:r>
            <a:endParaRPr sz="110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18686" y="1417522"/>
            <a:ext cx="19831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45770" algn="l"/>
              </a:tabLst>
            </a:pPr>
            <a:r>
              <a:rPr lang="en-US" sz="1100" spc="-20" dirty="0">
                <a:latin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sz="1100" spc="-20" dirty="0" err="1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器件表征</a:t>
            </a:r>
            <a:r>
              <a:rPr lang="en-US" sz="1100" spc="-20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</a:t>
            </a:r>
            <a:r>
              <a:rPr sz="1100" spc="-20" dirty="0" err="1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物理机制分</a:t>
            </a:r>
            <a:r>
              <a:rPr sz="1100" spc="-50" dirty="0" err="1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析</a:t>
            </a:r>
            <a:endParaRPr sz="11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7749" y="1654175"/>
            <a:ext cx="4152900" cy="0"/>
          </a:xfrm>
          <a:custGeom>
            <a:avLst/>
            <a:gdLst/>
            <a:ahLst/>
            <a:cxnLst/>
            <a:rect l="l" t="t" r="r" b="b"/>
            <a:pathLst>
              <a:path w="4152900">
                <a:moveTo>
                  <a:pt x="0" y="0"/>
                </a:moveTo>
                <a:lnTo>
                  <a:pt x="4152506" y="0"/>
                </a:lnTo>
              </a:path>
            </a:pathLst>
          </a:custGeom>
          <a:ln w="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65658" y="1704452"/>
            <a:ext cx="21520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0720" algn="l"/>
              </a:tabLst>
            </a:pPr>
            <a:r>
              <a:rPr sz="1100" b="1" spc="-20" dirty="0">
                <a:latin typeface="微软雅黑" panose="020B0503020204020204" charset="-122"/>
                <a:cs typeface="微软雅黑" panose="020B0503020204020204" charset="-122"/>
              </a:rPr>
              <a:t>吕佳</a:t>
            </a:r>
            <a:r>
              <a:rPr sz="1100" b="1" spc="-50" dirty="0">
                <a:latin typeface="微软雅黑" panose="020B0503020204020204" charset="-122"/>
                <a:cs typeface="微软雅黑" panose="020B0503020204020204" charset="-122"/>
              </a:rPr>
              <a:t>霖</a:t>
            </a:r>
            <a:r>
              <a:rPr sz="1100" b="1" dirty="0"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sz="1100" dirty="0">
                <a:latin typeface="Georgia" panose="02040502050405020303"/>
                <a:cs typeface="Georgia" panose="02040502050405020303"/>
              </a:rPr>
              <a:t>STM32/FPGA</a:t>
            </a:r>
            <a:r>
              <a:rPr sz="1100" spc="-20" dirty="0">
                <a:latin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100" spc="-20" dirty="0">
                <a:latin typeface="Georgia" panose="02040502050405020303"/>
                <a:cs typeface="Georgia" panose="02040502050405020303"/>
              </a:rPr>
              <a:t>LaTeX</a:t>
            </a:r>
            <a:endParaRPr sz="110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52166" y="1716165"/>
            <a:ext cx="154940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zh-CN" altLang="en-US" sz="1100" spc="-25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读出</a:t>
            </a:r>
            <a:r>
              <a:rPr sz="1100" spc="-25" dirty="0" err="1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电路设计</a:t>
            </a:r>
            <a:r>
              <a:rPr lang="en-US" sz="1100" spc="-25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</a:t>
            </a:r>
            <a:r>
              <a:rPr sz="1100" spc="-25" dirty="0" err="1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系统集成</a:t>
            </a:r>
            <a:endParaRPr sz="11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17944" y="1958975"/>
            <a:ext cx="4152900" cy="0"/>
          </a:xfrm>
          <a:custGeom>
            <a:avLst/>
            <a:gdLst/>
            <a:ahLst/>
            <a:cxnLst/>
            <a:rect l="l" t="t" r="r" b="b"/>
            <a:pathLst>
              <a:path w="4152900">
                <a:moveTo>
                  <a:pt x="0" y="0"/>
                </a:moveTo>
                <a:lnTo>
                  <a:pt x="4152506" y="0"/>
                </a:lnTo>
              </a:path>
            </a:pathLst>
          </a:custGeom>
          <a:ln w="45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65658" y="2013198"/>
            <a:ext cx="18954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0720" algn="l"/>
              </a:tabLst>
            </a:pPr>
            <a:r>
              <a:rPr sz="1100" b="1" spc="-20" dirty="0">
                <a:latin typeface="微软雅黑" panose="020B0503020204020204" charset="-122"/>
                <a:cs typeface="微软雅黑" panose="020B0503020204020204" charset="-122"/>
              </a:rPr>
              <a:t>黄浩</a:t>
            </a:r>
            <a:r>
              <a:rPr sz="1100" b="1" spc="-50" dirty="0">
                <a:latin typeface="微软雅黑" panose="020B0503020204020204" charset="-122"/>
                <a:cs typeface="微软雅黑" panose="020B0503020204020204" charset="-122"/>
              </a:rPr>
              <a:t>天</a:t>
            </a:r>
            <a:r>
              <a:rPr sz="1100" b="1" dirty="0">
                <a:latin typeface="微软雅黑" panose="020B0503020204020204" charset="-122"/>
                <a:cs typeface="微软雅黑" panose="020B0503020204020204" charset="-122"/>
              </a:rPr>
              <a:t>	</a:t>
            </a:r>
            <a:r>
              <a:rPr sz="1100" dirty="0">
                <a:latin typeface="Georgia" panose="02040502050405020303"/>
                <a:cs typeface="Georgia" panose="02040502050405020303"/>
              </a:rPr>
              <a:t>YOLOv8</a:t>
            </a:r>
            <a:r>
              <a:rPr sz="1100" spc="-20" dirty="0">
                <a:latin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100" spc="-10" dirty="0">
                <a:latin typeface="Georgia" panose="02040502050405020303"/>
                <a:cs typeface="Georgia" panose="02040502050405020303"/>
              </a:rPr>
              <a:t>PyTorch</a:t>
            </a:r>
            <a:endParaRPr sz="1100" dirty="0">
              <a:latin typeface="Georgia" panose="02040502050405020303"/>
              <a:cs typeface="Georgia" panose="02040502050405020303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53767" y="2030042"/>
            <a:ext cx="1590675" cy="1771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sz="1100" spc="-5" dirty="0" err="1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电脑端部署</a:t>
            </a:r>
            <a:r>
              <a:rPr lang="en-US" sz="1100" spc="-5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 </a:t>
            </a:r>
            <a:r>
              <a:rPr sz="1100" spc="-5" dirty="0" err="1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链路搭</a:t>
            </a:r>
            <a:r>
              <a:rPr sz="1100" spc="-50" dirty="0" err="1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建</a:t>
            </a:r>
            <a:endParaRPr sz="1100" dirty="0">
              <a:latin typeface="华文楷体" panose="02010600040101010101" pitchFamily="2" charset="-122"/>
              <a:ea typeface="华文楷体" panose="02010600040101010101" pitchFamily="2" charset="-122"/>
              <a:cs typeface="微软雅黑" panose="020B0503020204020204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6353" y="2263775"/>
            <a:ext cx="4304665" cy="0"/>
          </a:xfrm>
          <a:custGeom>
            <a:avLst/>
            <a:gdLst/>
            <a:ahLst/>
            <a:cxnLst/>
            <a:rect l="l" t="t" r="r" b="b"/>
            <a:pathLst>
              <a:path w="4304665">
                <a:moveTo>
                  <a:pt x="0" y="0"/>
                </a:moveTo>
                <a:lnTo>
                  <a:pt x="4304347" y="0"/>
                </a:lnTo>
              </a:path>
            </a:pathLst>
          </a:custGeom>
          <a:ln w="12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pc="55" dirty="0">
                <a:latin typeface="微软雅黑" panose="020B0503020204020204" charset="-122"/>
                <a:cs typeface="微软雅黑" panose="020B0503020204020204" charset="-122"/>
              </a:rPr>
              <a:t>勒方舟等 </a:t>
            </a:r>
            <a:r>
              <a:rPr spc="75" dirty="0"/>
              <a:t>(NKU)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958835" y="3325230"/>
            <a:ext cx="690880" cy="13398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600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InSe</a:t>
            </a:r>
            <a:r>
              <a:rPr sz="600" spc="305" dirty="0">
                <a:solidFill>
                  <a:srgbClr val="FFFFFF"/>
                </a:solidFill>
                <a:latin typeface="Georgia" panose="02040502050405020303"/>
                <a:cs typeface="Georgia" panose="02040502050405020303"/>
                <a:hlinkClick r:id="rId2" action="ppaction://hlinksldjump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  <a:hlinkClick r:id="rId2" action="ppaction://hlinksldjump"/>
              </a:rPr>
              <a:t>光电突触器件</a:t>
            </a:r>
            <a:endParaRPr sz="600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2026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年 </a:t>
            </a:r>
            <a:r>
              <a:rPr dirty="0"/>
              <a:t>3</a:t>
            </a:r>
            <a:r>
              <a:rPr spc="135" dirty="0"/>
              <a:t> </a:t>
            </a:r>
            <a:r>
              <a:rPr spc="50" dirty="0">
                <a:latin typeface="微软雅黑" panose="020B0503020204020204" charset="-122"/>
                <a:cs typeface="微软雅黑" panose="020B0503020204020204" charset="-122"/>
              </a:rPr>
              <a:t>月 </a:t>
            </a:r>
            <a:r>
              <a:rPr dirty="0"/>
              <a:t>30</a:t>
            </a:r>
            <a:r>
              <a:rPr spc="135" dirty="0"/>
              <a:t> </a:t>
            </a:r>
            <a:r>
              <a:rPr spc="-50" dirty="0">
                <a:latin typeface="微软雅黑" panose="020B0503020204020204" charset="-122"/>
                <a:cs typeface="微软雅黑" panose="020B0503020204020204" charset="-122"/>
              </a:rPr>
              <a:t>日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50" dirty="0"/>
              <a:t>9</a:t>
            </a:fld>
            <a:r>
              <a:rPr spc="-50" dirty="0"/>
              <a:t> </a:t>
            </a:r>
            <a:r>
              <a:rPr spc="75" dirty="0"/>
              <a:t>/</a:t>
            </a:r>
            <a:r>
              <a:rPr spc="-45" dirty="0"/>
              <a:t> </a:t>
            </a:r>
            <a:r>
              <a:rPr spc="35" dirty="0"/>
              <a:t>16</a:t>
            </a:r>
          </a:p>
        </p:txBody>
      </p:sp>
      <p:sp>
        <p:nvSpPr>
          <p:cNvPr id="27" name="object 6"/>
          <p:cNvSpPr/>
          <p:nvPr/>
        </p:nvSpPr>
        <p:spPr>
          <a:xfrm>
            <a:off x="151828" y="2353191"/>
            <a:ext cx="4406265" cy="212090"/>
          </a:xfrm>
          <a:custGeom>
            <a:avLst/>
            <a:gdLst/>
            <a:ahLst/>
            <a:cxnLst/>
            <a:rect l="l" t="t" r="r" b="b"/>
            <a:pathLst>
              <a:path w="4406265" h="212089">
                <a:moveTo>
                  <a:pt x="435519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1827"/>
                </a:lnTo>
                <a:lnTo>
                  <a:pt x="4405996" y="211827"/>
                </a:lnTo>
                <a:lnTo>
                  <a:pt x="4405996" y="50800"/>
                </a:lnTo>
                <a:lnTo>
                  <a:pt x="4401987" y="31075"/>
                </a:lnTo>
                <a:lnTo>
                  <a:pt x="4391073" y="14922"/>
                </a:lnTo>
                <a:lnTo>
                  <a:pt x="4374920" y="4008"/>
                </a:lnTo>
                <a:lnTo>
                  <a:pt x="4355195" y="0"/>
                </a:lnTo>
                <a:close/>
              </a:path>
            </a:pathLst>
          </a:custGeom>
          <a:solidFill>
            <a:srgbClr val="701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7"/>
          <p:cNvSpPr txBox="1"/>
          <p:nvPr/>
        </p:nvSpPr>
        <p:spPr>
          <a:xfrm>
            <a:off x="202629" y="2357346"/>
            <a:ext cx="759460" cy="2006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r>
              <a:rPr sz="1200" b="1" spc="-30" dirty="0">
                <a:solidFill>
                  <a:srgbClr val="FFFFFF"/>
                </a:solidFill>
                <a:latin typeface="微软雅黑" panose="020B0503020204020204" charset="-122"/>
                <a:cs typeface="微软雅黑" panose="020B0503020204020204" charset="-122"/>
              </a:rPr>
              <a:t>实验室支撑</a:t>
            </a:r>
            <a:endParaRPr sz="1200">
              <a:latin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9" name="object 8"/>
          <p:cNvGrpSpPr/>
          <p:nvPr/>
        </p:nvGrpSpPr>
        <p:grpSpPr>
          <a:xfrm>
            <a:off x="151828" y="2552366"/>
            <a:ext cx="4406265" cy="446876"/>
            <a:chOff x="101027" y="2304288"/>
            <a:chExt cx="4406265" cy="446876"/>
          </a:xfrm>
        </p:grpSpPr>
        <p:pic>
          <p:nvPicPr>
            <p:cNvPr id="30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027" y="2304288"/>
              <a:ext cx="4405996" cy="50609"/>
            </a:xfrm>
            <a:prstGeom prst="rect">
              <a:avLst/>
            </a:prstGeom>
          </p:spPr>
        </p:pic>
        <p:sp>
          <p:nvSpPr>
            <p:cNvPr id="31" name="object 11"/>
            <p:cNvSpPr/>
            <p:nvPr/>
          </p:nvSpPr>
          <p:spPr>
            <a:xfrm>
              <a:off x="101027" y="2348574"/>
              <a:ext cx="4406265" cy="402590"/>
            </a:xfrm>
            <a:custGeom>
              <a:avLst/>
              <a:gdLst/>
              <a:ahLst/>
              <a:cxnLst/>
              <a:rect l="l" t="t" r="r" b="b"/>
              <a:pathLst>
                <a:path w="4406265" h="402589">
                  <a:moveTo>
                    <a:pt x="4405996" y="0"/>
                  </a:moveTo>
                  <a:lnTo>
                    <a:pt x="0" y="0"/>
                  </a:lnTo>
                  <a:lnTo>
                    <a:pt x="0" y="351559"/>
                  </a:lnTo>
                  <a:lnTo>
                    <a:pt x="4008" y="371284"/>
                  </a:lnTo>
                  <a:lnTo>
                    <a:pt x="14922" y="387437"/>
                  </a:lnTo>
                  <a:lnTo>
                    <a:pt x="31075" y="398351"/>
                  </a:lnTo>
                  <a:lnTo>
                    <a:pt x="50800" y="402359"/>
                  </a:lnTo>
                  <a:lnTo>
                    <a:pt x="4355195" y="402359"/>
                  </a:lnTo>
                  <a:lnTo>
                    <a:pt x="4374920" y="398351"/>
                  </a:lnTo>
                  <a:lnTo>
                    <a:pt x="4391073" y="387437"/>
                  </a:lnTo>
                  <a:lnTo>
                    <a:pt x="4401987" y="371284"/>
                  </a:lnTo>
                  <a:lnTo>
                    <a:pt x="4405996" y="351559"/>
                  </a:lnTo>
                  <a:lnTo>
                    <a:pt x="4405996" y="0"/>
                  </a:lnTo>
                  <a:close/>
                </a:path>
              </a:pathLst>
            </a:custGeom>
            <a:solidFill>
              <a:srgbClr val="F0E8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12"/>
          <p:cNvSpPr txBox="1"/>
          <p:nvPr/>
        </p:nvSpPr>
        <p:spPr>
          <a:xfrm>
            <a:off x="202629" y="2585612"/>
            <a:ext cx="440626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46685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latin typeface="华文楷体" panose="02010600040101010101" pitchFamily="2" charset="-122"/>
                <a:ea typeface="华文楷体" panose="02010600040101010101" pitchFamily="2" charset="-122"/>
                <a:cs typeface="微软雅黑" panose="020B0503020204020204" charset="-122"/>
              </a:rPr>
              <a:t>依托电光学院超快光电实验室，具备完整的机械剥离、微纳加工及半导体测试分析设备</a:t>
            </a:r>
            <a:r>
              <a:rPr sz="1200" spc="-25" dirty="0">
                <a:latin typeface="微软雅黑" panose="020B0503020204020204" charset="-122"/>
                <a:cs typeface="微软雅黑" panose="020B0503020204020204" charset="-122"/>
              </a:rPr>
              <a:t>。</a:t>
            </a:r>
            <a:endParaRPr sz="1200" dirty="0">
              <a:latin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0312" y="927695"/>
            <a:ext cx="1847850" cy="6045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0665">
              <a:lnSpc>
                <a:spcPts val="2890"/>
              </a:lnSpc>
              <a:spcBef>
                <a:spcPts val="125"/>
              </a:spcBef>
            </a:pPr>
            <a:r>
              <a:rPr sz="2450" spc="-10" dirty="0">
                <a:solidFill>
                  <a:srgbClr val="701A5E"/>
                </a:solidFill>
              </a:rPr>
              <a:t>谢谢大家！</a:t>
            </a:r>
            <a:endParaRPr sz="2450"/>
          </a:p>
          <a:p>
            <a:pPr marL="12700">
              <a:lnSpc>
                <a:spcPts val="1630"/>
              </a:lnSpc>
            </a:pPr>
            <a:r>
              <a:rPr b="0" spc="-5" dirty="0">
                <a:solidFill>
                  <a:srgbClr val="000000"/>
                </a:solidFill>
                <a:latin typeface="微软雅黑" panose="020B0503020204020204" charset="-122"/>
                <a:cs typeface="微软雅黑" panose="020B0503020204020204" charset="-122"/>
              </a:rPr>
              <a:t>敬请各位老师批评指正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1754" y="1730375"/>
            <a:ext cx="1224965" cy="38280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大创 FINAL Version</Template>
  <TotalTime>37</TotalTime>
  <Words>710</Words>
  <Application>Microsoft Office PowerPoint</Application>
  <PresentationFormat>自定义</PresentationFormat>
  <Paragraphs>124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Adobe 宋体 Std L</vt:lpstr>
      <vt:lpstr>等线</vt:lpstr>
      <vt:lpstr>华文楷体</vt:lpstr>
      <vt:lpstr>楷体</vt:lpstr>
      <vt:lpstr>微软雅黑</vt:lpstr>
      <vt:lpstr>微软雅黑</vt:lpstr>
      <vt:lpstr>Arial</vt:lpstr>
      <vt:lpstr>Georgia</vt:lpstr>
      <vt:lpstr>Wingdings</vt:lpstr>
      <vt:lpstr>Office 主题​​</vt:lpstr>
      <vt:lpstr>PowerPoint 演示文稿</vt:lpstr>
      <vt:lpstr>研究背景</vt:lpstr>
      <vt:lpstr>研究背景</vt:lpstr>
      <vt:lpstr>解决方案</vt:lpstr>
      <vt:lpstr>核心机制：InSe突触的光电特性</vt:lpstr>
      <vt:lpstr>实验内容：感内计算算法实现</vt:lpstr>
      <vt:lpstr>结果验证：识别系统的训练与验证</vt:lpstr>
      <vt:lpstr>创新点一：落地性与明确应用场景</vt:lpstr>
      <vt:lpstr>团队基础：互补型人才结构</vt:lpstr>
      <vt:lpstr>谢谢大家！ 敬请各位老师批评指正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fangzhou le</dc:creator>
  <cp:lastModifiedBy>fangzhou le</cp:lastModifiedBy>
  <cp:revision>47</cp:revision>
  <dcterms:created xsi:type="dcterms:W3CDTF">2026-04-09T01:16:00Z</dcterms:created>
  <dcterms:modified xsi:type="dcterms:W3CDTF">2026-04-16T00:05:40Z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2026-04-09T08:00:00Z</vt:filetime>
  </property>
  <property fmtid="{D5CDD505-2E9C-101B-9397-08002B2CF9AE}" pid="3" name="Creator">
    <vt:lpwstr>LaTeX with Beamer class</vt:lpwstr>
  </property>
  <property fmtid="{D5CDD505-2E9C-101B-9397-08002B2CF9AE}" pid="4" name="Producer">
    <vt:lpwstr>xdvipdfmx (20250410)</vt:lpwstr>
  </property>
  <property fmtid="{D5CDD505-2E9C-101B-9397-08002B2CF9AE}" pid="5" name="LastSaved">
    <vt:filetime>2026-04-09T08:00:00Z</vt:filetime>
  </property>
  <property fmtid="{D5CDD505-2E9C-101B-9397-08002B2CF9AE}" pid="6" name="KSOProductBuildVer">
    <vt:lpwstr>2052-12.1.0.25225</vt:lpwstr>
  </property>
  <property fmtid="{D5CDD505-2E9C-101B-9397-08002B2CF9AE}" pid="7" name="ICV">
    <vt:lpwstr>99FE0ECE0678484CA0B0853F22FF5962_13</vt:lpwstr>
  </property>
</Properties>
</file>